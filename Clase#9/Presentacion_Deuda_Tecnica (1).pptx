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W5VE0sYwripzyCR/R5pYNMV8y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532120" y="2148840"/>
            <a:ext cx="5760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Deuda Técnica</a:t>
            </a:r>
            <a:br>
              <a:rPr b="1" i="0" lang="en-US" sz="3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en Proyectos</a:t>
            </a:r>
            <a:br>
              <a:rPr b="1" i="0" lang="en-US" sz="3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de Software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559552" y="3977639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Identificar, medir y gestionar decisiones que mañana pueden convertirse en costo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520440" y="5715000"/>
            <a:ext cx="7315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José Alejandro Valencia - Tomas Marín</a:t>
            </a:r>
            <a:r>
              <a:rPr lang="en-US">
                <a:solidFill>
                  <a:srgbClr val="006139"/>
                </a:solidFill>
              </a:rPr>
              <a:t> </a:t>
            </a:r>
            <a:r>
              <a:rPr b="0" i="0" lang="en-US" sz="1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14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Ingeniería de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1. Introducción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Pregunta central de la exposición</a:t>
            </a:r>
            <a:endParaRPr/>
          </a:p>
        </p:txBody>
      </p:sp>
      <p:pic>
        <p:nvPicPr>
          <p:cNvPr descr="wide_clean_vector_flat_illustration_on_white_back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4118" y="1143000"/>
            <a:ext cx="5036682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822960" y="155448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¿Qué se gana hoy…</a:t>
            </a:r>
            <a:br>
              <a:rPr b="1" i="0" lang="en-US" sz="30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y qué se paga mañana?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914400" y="2971800"/>
            <a:ext cx="42519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1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Velocidad vs. sostenibilidad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1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Costo oculto del retrabajo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1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Calidad técnica como decisión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94944" y="6272784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Idea base: deuda como atajo que facilita el avance, pero exige pago futuro [1], [2].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2. Marco referencial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La metáfora financiera aplicada al software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68680" y="1874519"/>
            <a:ext cx="2788920" cy="914400"/>
          </a:xfrm>
          <a:prstGeom prst="roundRect">
            <a:avLst>
              <a:gd fmla="val 16667" name="adj"/>
            </a:avLst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Atajo técnico</a:t>
            </a:r>
            <a:b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beneficio inmediato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617720" y="1463040"/>
            <a:ext cx="2880360" cy="914400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Principal</a:t>
            </a:r>
            <a:b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esfuerzo para corregir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412480" y="1874519"/>
            <a:ext cx="2743200" cy="914400"/>
          </a:xfrm>
          <a:prstGeom prst="roundRect">
            <a:avLst>
              <a:gd fmla="val 16667" name="adj"/>
            </a:avLst>
          </a:prstGeom>
          <a:solidFill>
            <a:srgbClr val="FFEAE8"/>
          </a:solidFill>
          <a:ln cap="flat" cmpd="sng" w="15225">
            <a:solidFill>
              <a:srgbClr val="C5312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Intereses</a:t>
            </a:r>
            <a:b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fricción acumulada</a:t>
            </a:r>
            <a:endParaRPr/>
          </a:p>
        </p:txBody>
      </p:sp>
      <p:cxnSp>
        <p:nvCxnSpPr>
          <p:cNvPr id="111" name="Google Shape;111;p3"/>
          <p:cNvCxnSpPr/>
          <p:nvPr/>
        </p:nvCxnSpPr>
        <p:spPr>
          <a:xfrm flipH="1" rot="10800000">
            <a:off x="3749039" y="1920240"/>
            <a:ext cx="777241" cy="411480"/>
          </a:xfrm>
          <a:prstGeom prst="straightConnector1">
            <a:avLst/>
          </a:prstGeom>
          <a:noFill/>
          <a:ln cap="flat" cmpd="sng" w="26650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2" name="Google Shape;112;p3"/>
          <p:cNvCxnSpPr/>
          <p:nvPr/>
        </p:nvCxnSpPr>
        <p:spPr>
          <a:xfrm>
            <a:off x="7635240" y="1920240"/>
            <a:ext cx="685800" cy="411480"/>
          </a:xfrm>
          <a:prstGeom prst="straightConnector1">
            <a:avLst/>
          </a:prstGeom>
          <a:noFill/>
          <a:ln cap="flat" cmpd="sng" w="26650">
            <a:solidFill>
              <a:srgbClr val="C5312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3"/>
          <p:cNvSpPr txBox="1"/>
          <p:nvPr/>
        </p:nvSpPr>
        <p:spPr>
          <a:xfrm>
            <a:off x="3840480" y="3474720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Decisión técnica</a:t>
            </a:r>
            <a:br>
              <a:rPr b="1" i="0" lang="en-US" sz="28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con impacto futuro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926080" y="4343400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Puede ser intencional o accidental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No siempre es mala, si se controla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Se vuelve riesgosa cuando no se paga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694944" y="6272784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Marco conceptual basado en Cunningham, Kruchten et al. y Fowler [1]–[4].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3. Tipos de deuda técnica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No todo está en el código</a:t>
            </a:r>
            <a:endParaRPr/>
          </a:p>
        </p:txBody>
      </p:sp>
      <p:cxnSp>
        <p:nvCxnSpPr>
          <p:cNvPr id="124" name="Google Shape;124;p4"/>
          <p:cNvCxnSpPr/>
          <p:nvPr/>
        </p:nvCxnSpPr>
        <p:spPr>
          <a:xfrm rot="10800000">
            <a:off x="3429000" y="2011680"/>
            <a:ext cx="2560320" cy="1234440"/>
          </a:xfrm>
          <a:prstGeom prst="straightConnector1">
            <a:avLst/>
          </a:prstGeom>
          <a:noFill/>
          <a:ln cap="flat" cmpd="sng" w="13950">
            <a:solidFill>
              <a:srgbClr val="AABEB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 flipH="1" rot="10800000">
            <a:off x="5989320" y="1645919"/>
            <a:ext cx="91440" cy="1600201"/>
          </a:xfrm>
          <a:prstGeom prst="straightConnector1">
            <a:avLst/>
          </a:prstGeom>
          <a:noFill/>
          <a:ln cap="flat" cmpd="sng" w="13950">
            <a:solidFill>
              <a:srgbClr val="AABEB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6" name="Google Shape;126;p4"/>
          <p:cNvCxnSpPr/>
          <p:nvPr/>
        </p:nvCxnSpPr>
        <p:spPr>
          <a:xfrm flipH="1" rot="10800000">
            <a:off x="5989320" y="2011680"/>
            <a:ext cx="2834640" cy="1234440"/>
          </a:xfrm>
          <a:prstGeom prst="straightConnector1">
            <a:avLst/>
          </a:prstGeom>
          <a:noFill/>
          <a:ln cap="flat" cmpd="sng" w="13950">
            <a:solidFill>
              <a:srgbClr val="AABEB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5989320" y="3246120"/>
            <a:ext cx="3063240" cy="1325880"/>
          </a:xfrm>
          <a:prstGeom prst="straightConnector1">
            <a:avLst/>
          </a:prstGeom>
          <a:noFill/>
          <a:ln cap="flat" cmpd="sng" w="13950">
            <a:solidFill>
              <a:srgbClr val="AABEB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8" name="Google Shape;128;p4"/>
          <p:cNvCxnSpPr/>
          <p:nvPr/>
        </p:nvCxnSpPr>
        <p:spPr>
          <a:xfrm>
            <a:off x="5989320" y="3246120"/>
            <a:ext cx="137160" cy="1965960"/>
          </a:xfrm>
          <a:prstGeom prst="straightConnector1">
            <a:avLst/>
          </a:prstGeom>
          <a:noFill/>
          <a:ln cap="flat" cmpd="sng" w="13950">
            <a:solidFill>
              <a:srgbClr val="AABEB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9" name="Google Shape;129;p4"/>
          <p:cNvCxnSpPr/>
          <p:nvPr/>
        </p:nvCxnSpPr>
        <p:spPr>
          <a:xfrm flipH="1">
            <a:off x="3337560" y="3246120"/>
            <a:ext cx="2651760" cy="1325880"/>
          </a:xfrm>
          <a:prstGeom prst="straightConnector1">
            <a:avLst/>
          </a:prstGeom>
          <a:noFill/>
          <a:ln cap="flat" cmpd="sng" w="13950">
            <a:solidFill>
              <a:srgbClr val="AABEB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0" name="Google Shape;130;p4"/>
          <p:cNvSpPr/>
          <p:nvPr/>
        </p:nvSpPr>
        <p:spPr>
          <a:xfrm>
            <a:off x="5230368" y="2514600"/>
            <a:ext cx="1508760" cy="1508760"/>
          </a:xfrm>
          <a:prstGeom prst="ellipse">
            <a:avLst/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Deuda</a:t>
            </a:r>
            <a:b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834640" y="1417320"/>
            <a:ext cx="1298448" cy="1298448"/>
          </a:xfrm>
          <a:prstGeom prst="ellipse">
            <a:avLst/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486400" y="1051560"/>
            <a:ext cx="1298448" cy="1298448"/>
          </a:xfrm>
          <a:prstGeom prst="ellipse">
            <a:avLst/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Arquitect.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229600" y="1417320"/>
            <a:ext cx="1298448" cy="1298448"/>
          </a:xfrm>
          <a:prstGeom prst="ellipse">
            <a:avLst/>
          </a:prstGeom>
          <a:solidFill>
            <a:srgbClr val="E7EFF9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8458200" y="3977639"/>
            <a:ext cx="1298448" cy="1298448"/>
          </a:xfrm>
          <a:prstGeom prst="ellipse">
            <a:avLst/>
          </a:prstGeom>
          <a:solidFill>
            <a:srgbClr val="FFF6E0"/>
          </a:solidFill>
          <a:ln cap="flat" cmpd="sng" w="15225">
            <a:solidFill>
              <a:srgbClr val="C5312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532120" y="4617720"/>
            <a:ext cx="1298448" cy="1298448"/>
          </a:xfrm>
          <a:prstGeom prst="ellipse">
            <a:avLst/>
          </a:prstGeom>
          <a:solidFill>
            <a:srgbClr val="E7EFF9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Docs.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2743200" y="3977639"/>
            <a:ext cx="1298448" cy="1298448"/>
          </a:xfrm>
          <a:prstGeom prst="ellipse">
            <a:avLst/>
          </a:prstGeom>
          <a:solidFill>
            <a:srgbClr val="FFF6E0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Infra.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188720" y="5532120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Ejemplos: duplicidad, dependencias obsoletas, pruebas frágiles, configuraciones manuales.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4. Causas comunes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Por qué aparece en un proyecto real</a:t>
            </a:r>
            <a:endParaRPr/>
          </a:p>
        </p:txBody>
      </p:sp>
      <p:cxnSp>
        <p:nvCxnSpPr>
          <p:cNvPr id="146" name="Google Shape;146;p5"/>
          <p:cNvCxnSpPr/>
          <p:nvPr/>
        </p:nvCxnSpPr>
        <p:spPr>
          <a:xfrm>
            <a:off x="1828800" y="3337560"/>
            <a:ext cx="8138160" cy="0"/>
          </a:xfrm>
          <a:prstGeom prst="straightConnector1">
            <a:avLst/>
          </a:prstGeom>
          <a:noFill/>
          <a:ln cap="flat" cmpd="sng" w="2540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7" name="Google Shape;147;p5"/>
          <p:cNvCxnSpPr/>
          <p:nvPr/>
        </p:nvCxnSpPr>
        <p:spPr>
          <a:xfrm>
            <a:off x="9966960" y="333756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8" name="Google Shape;148;p5"/>
          <p:cNvSpPr txBox="1"/>
          <p:nvPr/>
        </p:nvSpPr>
        <p:spPr>
          <a:xfrm>
            <a:off x="9601200" y="356616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53126"/>
                </a:solidFill>
                <a:latin typeface="Arial"/>
                <a:ea typeface="Arial"/>
                <a:cs typeface="Arial"/>
                <a:sym typeface="Arial"/>
              </a:rPr>
              <a:t>DEUDA</a:t>
            </a:r>
            <a:br>
              <a:rPr b="1" i="0" lang="en-US" sz="1500" u="none" cap="none" strike="noStrike">
                <a:solidFill>
                  <a:srgbClr val="C531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C53126"/>
                </a:solidFill>
                <a:latin typeface="Arial"/>
                <a:ea typeface="Arial"/>
                <a:cs typeface="Arial"/>
                <a:sym typeface="Arial"/>
              </a:rPr>
              <a:t>ACUMULADA</a:t>
            </a:r>
            <a:endParaRPr/>
          </a:p>
        </p:txBody>
      </p:sp>
      <p:cxnSp>
        <p:nvCxnSpPr>
          <p:cNvPr id="149" name="Google Shape;149;p5"/>
          <p:cNvCxnSpPr/>
          <p:nvPr/>
        </p:nvCxnSpPr>
        <p:spPr>
          <a:xfrm>
            <a:off x="2011680" y="1874519"/>
            <a:ext cx="731520" cy="822961"/>
          </a:xfrm>
          <a:prstGeom prst="straightConnector1">
            <a:avLst/>
          </a:prstGeom>
          <a:noFill/>
          <a:ln cap="flat" cmpd="sng" w="17775">
            <a:solidFill>
              <a:srgbClr val="A8B8A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0" name="Google Shape;150;p5"/>
          <p:cNvSpPr/>
          <p:nvPr/>
        </p:nvSpPr>
        <p:spPr>
          <a:xfrm>
            <a:off x="2194560" y="2423160"/>
            <a:ext cx="1600200" cy="530352"/>
          </a:xfrm>
          <a:prstGeom prst="roundRect">
            <a:avLst>
              <a:gd fmla="val 16667" name="adj"/>
            </a:avLst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Presión por entregar</a:t>
            </a:r>
            <a:endParaRPr/>
          </a:p>
        </p:txBody>
      </p:sp>
      <p:cxnSp>
        <p:nvCxnSpPr>
          <p:cNvPr id="151" name="Google Shape;151;p5"/>
          <p:cNvCxnSpPr/>
          <p:nvPr/>
        </p:nvCxnSpPr>
        <p:spPr>
          <a:xfrm flipH="1" rot="10800000">
            <a:off x="3931920" y="3749039"/>
            <a:ext cx="640080" cy="822961"/>
          </a:xfrm>
          <a:prstGeom prst="straightConnector1">
            <a:avLst/>
          </a:prstGeom>
          <a:noFill/>
          <a:ln cap="flat" cmpd="sng" w="17775">
            <a:solidFill>
              <a:srgbClr val="A8B8A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2" name="Google Shape;152;p5"/>
          <p:cNvSpPr/>
          <p:nvPr/>
        </p:nvSpPr>
        <p:spPr>
          <a:xfrm>
            <a:off x="3611880" y="3454171"/>
            <a:ext cx="1600200" cy="530352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Requisitos cambiantes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5943600" y="1874519"/>
            <a:ext cx="548640" cy="822961"/>
          </a:xfrm>
          <a:prstGeom prst="straightConnector1">
            <a:avLst/>
          </a:prstGeom>
          <a:noFill/>
          <a:ln cap="flat" cmpd="sng" w="17775">
            <a:solidFill>
              <a:srgbClr val="A8B8A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4" name="Google Shape;154;p5"/>
          <p:cNvSpPr/>
          <p:nvPr/>
        </p:nvSpPr>
        <p:spPr>
          <a:xfrm>
            <a:off x="5943600" y="2423160"/>
            <a:ext cx="1600200" cy="530352"/>
          </a:xfrm>
          <a:prstGeom prst="roundRect">
            <a:avLst>
              <a:gd fmla="val 16667" name="adj"/>
            </a:avLst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Baja cobertura</a:t>
            </a:r>
            <a:endParaRPr/>
          </a:p>
        </p:txBody>
      </p:sp>
      <p:cxnSp>
        <p:nvCxnSpPr>
          <p:cNvPr id="155" name="Google Shape;155;p5"/>
          <p:cNvCxnSpPr/>
          <p:nvPr/>
        </p:nvCxnSpPr>
        <p:spPr>
          <a:xfrm flipH="1" rot="10800000">
            <a:off x="7863840" y="3749039"/>
            <a:ext cx="548640" cy="822961"/>
          </a:xfrm>
          <a:prstGeom prst="straightConnector1">
            <a:avLst/>
          </a:prstGeom>
          <a:noFill/>
          <a:ln cap="flat" cmpd="sng" w="17775">
            <a:solidFill>
              <a:srgbClr val="A8B8A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7543800" y="3461938"/>
            <a:ext cx="1600200" cy="530352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Sin automatización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5"/>
          <p:cNvCxnSpPr/>
          <p:nvPr/>
        </p:nvCxnSpPr>
        <p:spPr>
          <a:xfrm>
            <a:off x="3840480" y="1874519"/>
            <a:ext cx="548640" cy="822961"/>
          </a:xfrm>
          <a:prstGeom prst="straightConnector1">
            <a:avLst/>
          </a:prstGeom>
          <a:noFill/>
          <a:ln cap="flat" cmpd="sng" w="17775">
            <a:solidFill>
              <a:srgbClr val="A8B8A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3840480" y="2423160"/>
            <a:ext cx="1600200" cy="530352"/>
          </a:xfrm>
          <a:prstGeom prst="roundRect">
            <a:avLst>
              <a:gd fmla="val 16667" name="adj"/>
            </a:avLst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Poco diseño</a:t>
            </a:r>
            <a:endParaRPr/>
          </a:p>
        </p:txBody>
      </p:sp>
      <p:cxnSp>
        <p:nvCxnSpPr>
          <p:cNvPr id="159" name="Google Shape;159;p5"/>
          <p:cNvCxnSpPr/>
          <p:nvPr/>
        </p:nvCxnSpPr>
        <p:spPr>
          <a:xfrm flipH="1" rot="10800000">
            <a:off x="6080268" y="3767328"/>
            <a:ext cx="548640" cy="822961"/>
          </a:xfrm>
          <a:prstGeom prst="straightConnector1">
            <a:avLst/>
          </a:prstGeom>
          <a:noFill/>
          <a:ln cap="flat" cmpd="sng" w="17775">
            <a:solidFill>
              <a:srgbClr val="A8B8A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5661659" y="3461938"/>
            <a:ext cx="1600200" cy="530352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Stack obsoleto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280160" y="53949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La deuda no nace de “mal código” solamente: también nace de decisiones, tiempos y prioridades.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5. Caso de análisis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Sistema de domicilios · caso simulado</a:t>
            </a:r>
            <a:endParaRPr/>
          </a:p>
        </p:txBody>
      </p:sp>
      <p:pic>
        <p:nvPicPr>
          <p:cNvPr descr="wide_clean_vector_illustration_on_white_backgroun.png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359349"/>
            <a:ext cx="5486400" cy="30877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822960" y="1600200"/>
            <a:ext cx="3383280" cy="502920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Problema observado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960120" y="2423160"/>
            <a:ext cx="3931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Entrega rápida del MVP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Módulos muy acoplados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Pocas pruebas automáticas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2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Cambios lentos y riesgosos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914400" y="4709160"/>
            <a:ext cx="4206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Decisión inicial: “lanzar rápido”.</a:t>
            </a:r>
            <a:br>
              <a:rPr b="1" i="0" lang="en-US" sz="19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9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Consecuencia: retrabajo crece con cada cambio.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179" name="Google Shape;1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6. Cómo se detecta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Señales técnicas + señales del proceso</a:t>
            </a:r>
            <a:endParaRPr/>
          </a:p>
        </p:txBody>
      </p:sp>
      <p:cxnSp>
        <p:nvCxnSpPr>
          <p:cNvPr id="182" name="Google Shape;182;p7"/>
          <p:cNvCxnSpPr/>
          <p:nvPr/>
        </p:nvCxnSpPr>
        <p:spPr>
          <a:xfrm>
            <a:off x="2194560" y="283464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3" name="Google Shape;183;p7"/>
          <p:cNvCxnSpPr/>
          <p:nvPr/>
        </p:nvCxnSpPr>
        <p:spPr>
          <a:xfrm>
            <a:off x="4297680" y="283464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4" name="Google Shape;184;p7"/>
          <p:cNvCxnSpPr/>
          <p:nvPr/>
        </p:nvCxnSpPr>
        <p:spPr>
          <a:xfrm>
            <a:off x="6400800" y="283464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5" name="Google Shape;185;p7"/>
          <p:cNvCxnSpPr/>
          <p:nvPr/>
        </p:nvCxnSpPr>
        <p:spPr>
          <a:xfrm>
            <a:off x="8503920" y="283464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6" name="Google Shape;186;p7"/>
          <p:cNvSpPr/>
          <p:nvPr/>
        </p:nvSpPr>
        <p:spPr>
          <a:xfrm>
            <a:off x="960120" y="2240280"/>
            <a:ext cx="1417320" cy="1143000"/>
          </a:xfrm>
          <a:prstGeom prst="roundRect">
            <a:avLst>
              <a:gd fmla="val 16667" name="adj"/>
            </a:avLst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b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fuente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063240" y="2240280"/>
            <a:ext cx="1417320" cy="1143000"/>
          </a:xfrm>
          <a:prstGeom prst="roundRect">
            <a:avLst>
              <a:gd fmla="val 16667" name="adj"/>
            </a:avLst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b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estático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166360" y="2240280"/>
            <a:ext cx="1417320" cy="1143000"/>
          </a:xfrm>
          <a:prstGeom prst="roundRect">
            <a:avLst>
              <a:gd fmla="val 16667" name="adj"/>
            </a:avLst>
          </a:prstGeom>
          <a:solidFill>
            <a:srgbClr val="E7EFF9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Métricas</a:t>
            </a:r>
            <a:b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y pruebas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7269480" y="2240280"/>
            <a:ext cx="1417320" cy="1143000"/>
          </a:xfrm>
          <a:prstGeom prst="roundRect">
            <a:avLst>
              <a:gd fmla="val 16667" name="adj"/>
            </a:avLst>
          </a:prstGeom>
          <a:solidFill>
            <a:srgbClr val="E7EFF9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Hotspots</a:t>
            </a:r>
            <a:b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de cambio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9372600" y="2240280"/>
            <a:ext cx="1417320" cy="1143000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Backlog</a:t>
            </a:r>
            <a:b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de deuda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1188720" y="4160520"/>
            <a:ext cx="4846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Code smells, duplicidad y complejidad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Cobertura baja y pruebas frágiles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Incidentes repetidos y cambios lentos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Dependencias desactualizadas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6355080" y="4187952"/>
            <a:ext cx="4343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La deuda aparece donde el equipo evita tocar código por miedo a romperlo.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694944" y="6272784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Métricas alineadas con gestión de deuda técnica y herramientas de análisis estático [3], [5], [6].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7. Cómo se mide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Pasar de opinión a evidencia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822960" y="1508760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Ratio de deuda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932688" y="2240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esfuerzo para corregir</a:t>
            </a:r>
            <a:endParaRPr/>
          </a:p>
        </p:txBody>
      </p:sp>
      <p:cxnSp>
        <p:nvCxnSpPr>
          <p:cNvPr id="204" name="Google Shape;204;p8"/>
          <p:cNvCxnSpPr/>
          <p:nvPr/>
        </p:nvCxnSpPr>
        <p:spPr>
          <a:xfrm>
            <a:off x="932688" y="2651760"/>
            <a:ext cx="3090672" cy="0"/>
          </a:xfrm>
          <a:prstGeom prst="straightConnector1">
            <a:avLst/>
          </a:prstGeom>
          <a:noFill/>
          <a:ln cap="flat" cmpd="sng" w="25400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5" name="Google Shape;205;p8"/>
          <p:cNvSpPr txBox="1"/>
          <p:nvPr/>
        </p:nvSpPr>
        <p:spPr>
          <a:xfrm>
            <a:off x="932688" y="27889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costo estimado de construir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1051560" y="370332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53126"/>
                </a:solidFill>
                <a:latin typeface="Arial"/>
                <a:ea typeface="Arial"/>
                <a:cs typeface="Arial"/>
                <a:sym typeface="Arial"/>
              </a:rPr>
              <a:t>Ejemplo simulado:</a:t>
            </a:r>
            <a:br>
              <a:rPr b="1" i="0" lang="en-US" sz="2400" u="none" cap="none" strike="noStrike">
                <a:solidFill>
                  <a:srgbClr val="C531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C53126"/>
                </a:solidFill>
                <a:latin typeface="Arial"/>
                <a:ea typeface="Arial"/>
                <a:cs typeface="Arial"/>
                <a:sym typeface="Arial"/>
              </a:rPr>
              <a:t>18% = alerta alta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5212080" y="15087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Cobertura de pruebas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212080" y="1810512"/>
            <a:ext cx="4114800" cy="164592"/>
          </a:xfrm>
          <a:prstGeom prst="roundRect">
            <a:avLst>
              <a:gd fmla="val 16667" name="adj"/>
            </a:avLst>
          </a:prstGeom>
          <a:solidFill>
            <a:srgbClr val="E3E7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212080" y="1810512"/>
            <a:ext cx="1440180" cy="164592"/>
          </a:xfrm>
          <a:prstGeom prst="roundRect">
            <a:avLst>
              <a:gd fmla="val 16667" name="adj"/>
            </a:avLst>
          </a:prstGeom>
          <a:solidFill>
            <a:srgbClr val="C531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5212080" y="21945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Duplicidad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212080" y="2496312"/>
            <a:ext cx="4114800" cy="164592"/>
          </a:xfrm>
          <a:prstGeom prst="roundRect">
            <a:avLst>
              <a:gd fmla="val 16667" name="adj"/>
            </a:avLst>
          </a:prstGeom>
          <a:solidFill>
            <a:srgbClr val="E3E7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212080" y="2496312"/>
            <a:ext cx="576072" cy="164592"/>
          </a:xfrm>
          <a:prstGeom prst="roundRect">
            <a:avLst>
              <a:gd fmla="val 16667" name="adj"/>
            </a:avLst>
          </a:prstGeom>
          <a:solidFill>
            <a:srgbClr val="DBA3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5212080" y="28803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Complejidad ciclomática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212080" y="3182112"/>
            <a:ext cx="4114800" cy="164592"/>
          </a:xfrm>
          <a:prstGeom prst="roundRect">
            <a:avLst>
              <a:gd fmla="val 16667" name="adj"/>
            </a:avLst>
          </a:prstGeom>
          <a:solidFill>
            <a:srgbClr val="E3E7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212080" y="3182112"/>
            <a:ext cx="2798064" cy="164592"/>
          </a:xfrm>
          <a:prstGeom prst="roundRect">
            <a:avLst>
              <a:gd fmla="val 16667" name="adj"/>
            </a:avLst>
          </a:prstGeom>
          <a:solidFill>
            <a:srgbClr val="E26C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5212080" y="35661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Deuda en nuevo código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212080" y="3867912"/>
            <a:ext cx="4114800" cy="164592"/>
          </a:xfrm>
          <a:prstGeom prst="roundRect">
            <a:avLst>
              <a:gd fmla="val 16667" name="adj"/>
            </a:avLst>
          </a:prstGeom>
          <a:solidFill>
            <a:srgbClr val="E3E7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212080" y="3867912"/>
            <a:ext cx="1975104" cy="164592"/>
          </a:xfrm>
          <a:prstGeom prst="roundRect">
            <a:avLst>
              <a:gd fmla="val 16667" name="adj"/>
            </a:avLst>
          </a:prstGeom>
          <a:solidFill>
            <a:srgbClr val="0061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9555480" y="1737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9555480" y="24231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9555480" y="31089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9555480" y="37947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251960" y="4892040"/>
            <a:ext cx="6263640" cy="530352"/>
          </a:xfrm>
          <a:prstGeom prst="roundRect">
            <a:avLst>
              <a:gd fmla="val 16667" name="adj"/>
            </a:avLst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Medición útil = tendencia + umbrales + responsable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694944" y="6272784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SonarQube define deuda como esfuerzo de remediación y ratio respecto al costo de desarrollo [5].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230" name="Google Shape;2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8. Consecuencias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La deuda técnica se paga con tiempo, riesgo y calidad</a:t>
            </a:r>
            <a:endParaRPr/>
          </a:p>
        </p:txBody>
      </p:sp>
      <p:cxnSp>
        <p:nvCxnSpPr>
          <p:cNvPr id="233" name="Google Shape;233;p9"/>
          <p:cNvCxnSpPr/>
          <p:nvPr/>
        </p:nvCxnSpPr>
        <p:spPr>
          <a:xfrm>
            <a:off x="2240280" y="3017520"/>
            <a:ext cx="685800" cy="0"/>
          </a:xfrm>
          <a:prstGeom prst="straightConnector1">
            <a:avLst/>
          </a:prstGeom>
          <a:noFill/>
          <a:ln cap="flat" cmpd="sng" w="22850">
            <a:solidFill>
              <a:srgbClr val="A5AEAC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4297680" y="3017520"/>
            <a:ext cx="685800" cy="0"/>
          </a:xfrm>
          <a:prstGeom prst="straightConnector1">
            <a:avLst/>
          </a:prstGeom>
          <a:noFill/>
          <a:ln cap="flat" cmpd="sng" w="22850">
            <a:solidFill>
              <a:srgbClr val="A5AEAC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5" name="Google Shape;235;p9"/>
          <p:cNvCxnSpPr/>
          <p:nvPr/>
        </p:nvCxnSpPr>
        <p:spPr>
          <a:xfrm>
            <a:off x="6355080" y="3017520"/>
            <a:ext cx="685800" cy="0"/>
          </a:xfrm>
          <a:prstGeom prst="straightConnector1">
            <a:avLst/>
          </a:prstGeom>
          <a:noFill/>
          <a:ln cap="flat" cmpd="sng" w="22850">
            <a:solidFill>
              <a:srgbClr val="A5AEAC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6" name="Google Shape;236;p9"/>
          <p:cNvCxnSpPr/>
          <p:nvPr/>
        </p:nvCxnSpPr>
        <p:spPr>
          <a:xfrm>
            <a:off x="8412480" y="3017520"/>
            <a:ext cx="685800" cy="0"/>
          </a:xfrm>
          <a:prstGeom prst="straightConnector1">
            <a:avLst/>
          </a:prstGeom>
          <a:noFill/>
          <a:ln cap="flat" cmpd="sng" w="22850">
            <a:solidFill>
              <a:srgbClr val="A5AEA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7" name="Google Shape;237;p9"/>
          <p:cNvSpPr/>
          <p:nvPr/>
        </p:nvSpPr>
        <p:spPr>
          <a:xfrm>
            <a:off x="914400" y="2423160"/>
            <a:ext cx="1371600" cy="1188720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Cambios</a:t>
            </a:r>
            <a:b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lentos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2971800" y="2423160"/>
            <a:ext cx="1371600" cy="1188720"/>
          </a:xfrm>
          <a:prstGeom prst="roundRect">
            <a:avLst>
              <a:gd fmla="val 16667" name="adj"/>
            </a:avLst>
          </a:prstGeom>
          <a:solidFill>
            <a:srgbClr val="FFEAE8"/>
          </a:solidFill>
          <a:ln cap="flat" cmpd="sng" w="15225">
            <a:solidFill>
              <a:srgbClr val="C5312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b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defectos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5029200" y="2423160"/>
            <a:ext cx="1371600" cy="1188720"/>
          </a:xfrm>
          <a:prstGeom prst="roundRect">
            <a:avLst>
              <a:gd fmla="val 16667" name="adj"/>
            </a:avLst>
          </a:prstGeom>
          <a:solidFill>
            <a:srgbClr val="FFEAE8"/>
          </a:solidFill>
          <a:ln cap="flat" cmpd="sng" w="15225">
            <a:solidFill>
              <a:srgbClr val="C5312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b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incidentes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086600" y="2423160"/>
            <a:ext cx="1371600" cy="1188720"/>
          </a:xfrm>
          <a:prstGeom prst="roundRect">
            <a:avLst>
              <a:gd fmla="val 16667" name="adj"/>
            </a:avLst>
          </a:prstGeom>
          <a:solidFill>
            <a:srgbClr val="E7EFF9"/>
          </a:solidFill>
          <a:ln cap="flat" cmpd="sng" w="15225">
            <a:solidFill>
              <a:srgbClr val="0F2A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b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fatigado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144000" y="2423160"/>
            <a:ext cx="1371600" cy="1188720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b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futuro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1188720" y="466344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Efecto más peligroso: el equipo empieza a evitar mejoras necesarias porque “todo se puede romper”.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694944" y="6272784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La deuda no gestionada aumenta el costo de mantenimiento y reduce la capacidad de evolución [2], [3].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249" name="Google Shape;2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9. Propuesta de gestión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Pagar, controlar y prevenir</a:t>
            </a:r>
            <a:endParaRPr/>
          </a:p>
        </p:txBody>
      </p:sp>
      <p:pic>
        <p:nvPicPr>
          <p:cNvPr descr="wide_clean_vector_illustration_of_a_team_planning.png" id="252" name="Google Shape;2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1470887"/>
            <a:ext cx="4846320" cy="2727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10"/>
          <p:cNvCxnSpPr/>
          <p:nvPr/>
        </p:nvCxnSpPr>
        <p:spPr>
          <a:xfrm flipH="1" rot="10800000">
            <a:off x="1993392" y="1856231"/>
            <a:ext cx="768096" cy="356617"/>
          </a:xfrm>
          <a:prstGeom prst="straightConnector1">
            <a:avLst/>
          </a:prstGeom>
          <a:noFill/>
          <a:ln cap="flat" cmpd="sng" w="2285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4" name="Google Shape;254;p10"/>
          <p:cNvCxnSpPr/>
          <p:nvPr/>
        </p:nvCxnSpPr>
        <p:spPr>
          <a:xfrm>
            <a:off x="3977639" y="1828800"/>
            <a:ext cx="640081" cy="320040"/>
          </a:xfrm>
          <a:prstGeom prst="straightConnector1">
            <a:avLst/>
          </a:prstGeom>
          <a:noFill/>
          <a:ln cap="flat" cmpd="sng" w="2285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5" name="Google Shape;255;p10"/>
          <p:cNvCxnSpPr/>
          <p:nvPr/>
        </p:nvCxnSpPr>
        <p:spPr>
          <a:xfrm flipH="1">
            <a:off x="3840480" y="3063240"/>
            <a:ext cx="1280160" cy="914399"/>
          </a:xfrm>
          <a:prstGeom prst="straightConnector1">
            <a:avLst/>
          </a:prstGeom>
          <a:noFill/>
          <a:ln cap="flat" cmpd="sng" w="2285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6" name="Google Shape;256;p10"/>
          <p:cNvCxnSpPr/>
          <p:nvPr/>
        </p:nvCxnSpPr>
        <p:spPr>
          <a:xfrm rot="10800000">
            <a:off x="1691640" y="3035808"/>
            <a:ext cx="1005840" cy="1124712"/>
          </a:xfrm>
          <a:prstGeom prst="straightConnector1">
            <a:avLst/>
          </a:prstGeom>
          <a:noFill/>
          <a:ln cap="flat" cmpd="sng" w="2285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7" name="Google Shape;257;p10"/>
          <p:cNvSpPr/>
          <p:nvPr/>
        </p:nvSpPr>
        <p:spPr>
          <a:xfrm>
            <a:off x="822960" y="1874519"/>
            <a:ext cx="1234440" cy="1234440"/>
          </a:xfrm>
          <a:prstGeom prst="ellipse">
            <a:avLst/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b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Detectar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2697480" y="1325880"/>
            <a:ext cx="1234440" cy="1234440"/>
          </a:xfrm>
          <a:prstGeom prst="ellipse">
            <a:avLst/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Priorizar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617720" y="1874519"/>
            <a:ext cx="1234440" cy="1234440"/>
          </a:xfrm>
          <a:prstGeom prst="ellipse">
            <a:avLst/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b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Pagar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2697480" y="3749039"/>
            <a:ext cx="1234440" cy="1234440"/>
          </a:xfrm>
          <a:prstGeom prst="ellipse">
            <a:avLst/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b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Prevenir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868680" y="4754880"/>
            <a:ext cx="5166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7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20% de capacidad para refactor + pruebas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7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Quality gate antes de integrar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7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Backlog visible con dueño y fecha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0" i="0" lang="en-US" sz="17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Arquitectura revisada por riesgo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10. Conclusiones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Reflexión final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1188720" y="1874519"/>
            <a:ext cx="1508760" cy="1508760"/>
          </a:xfrm>
          <a:prstGeom prst="ellipse">
            <a:avLst/>
          </a:prstGeom>
          <a:solidFill>
            <a:srgbClr val="E8F4EE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b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la deuda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349240" y="1874519"/>
            <a:ext cx="1508760" cy="1508760"/>
          </a:xfrm>
          <a:prstGeom prst="ellipse">
            <a:avLst/>
          </a:prstGeom>
          <a:solidFill>
            <a:srgbClr val="FFF6E0"/>
          </a:solidFill>
          <a:ln cap="flat" cmpd="sng" w="15225">
            <a:solidFill>
              <a:srgbClr val="DBA3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Medir</a:t>
            </a:r>
            <a:b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con datos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9418320" y="1874519"/>
            <a:ext cx="1508760" cy="1508760"/>
          </a:xfrm>
          <a:prstGeom prst="ellipse">
            <a:avLst/>
          </a:prstGeom>
          <a:solidFill>
            <a:srgbClr val="E7EFF9"/>
          </a:solidFill>
          <a:ln cap="flat" cmpd="sng" w="15225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Pagar</a:t>
            </a:r>
            <a:b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con plan</a:t>
            </a:r>
            <a:endParaRPr/>
          </a:p>
        </p:txBody>
      </p:sp>
      <p:cxnSp>
        <p:nvCxnSpPr>
          <p:cNvPr id="273" name="Google Shape;273;p11"/>
          <p:cNvCxnSpPr/>
          <p:nvPr/>
        </p:nvCxnSpPr>
        <p:spPr>
          <a:xfrm>
            <a:off x="2788920" y="2606040"/>
            <a:ext cx="2468880" cy="0"/>
          </a:xfrm>
          <a:prstGeom prst="straightConnector1">
            <a:avLst/>
          </a:prstGeom>
          <a:noFill/>
          <a:ln cap="flat" cmpd="sng" w="2665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4" name="Google Shape;274;p11"/>
          <p:cNvCxnSpPr/>
          <p:nvPr/>
        </p:nvCxnSpPr>
        <p:spPr>
          <a:xfrm>
            <a:off x="6903720" y="2606040"/>
            <a:ext cx="2423160" cy="0"/>
          </a:xfrm>
          <a:prstGeom prst="straightConnector1">
            <a:avLst/>
          </a:prstGeom>
          <a:noFill/>
          <a:ln cap="flat" cmpd="sng" w="26650">
            <a:solidFill>
              <a:srgbClr val="00613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5" name="Google Shape;275;p11"/>
          <p:cNvSpPr txBox="1"/>
          <p:nvPr/>
        </p:nvSpPr>
        <p:spPr>
          <a:xfrm>
            <a:off x="1920240" y="4114800"/>
            <a:ext cx="8595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No se elimina de golpe: se gobierna.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1874519" y="480060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La mejor gestión es evitar que la deuda nueva entre sin ser visible.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2.png" id="282" name="Google Shape;2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2"/>
          <p:cNvSpPr txBox="1"/>
          <p:nvPr/>
        </p:nvSpPr>
        <p:spPr>
          <a:xfrm>
            <a:off x="658368" y="438912"/>
            <a:ext cx="7955279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694944" y="1024128"/>
            <a:ext cx="79552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26F7A"/>
                </a:solidFill>
                <a:latin typeface="Arial"/>
                <a:ea typeface="Arial"/>
                <a:cs typeface="Arial"/>
                <a:sym typeface="Arial"/>
              </a:rPr>
              <a:t>Formato IEEE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777240" y="1417320"/>
            <a:ext cx="102870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[1] W. Cunningham, “The WyCash Portfolio Management System,” OOPSLA Experience Report, 1992.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[2] P. Kruchten, R. L. Nord, and I. Ozkaya, “Technical Debt: From Metaphor to Theory and Practice,” IEEE Software, vol. 29, no. 6, pp. 18–21, 2012, doi: 10.1109/MS.2012.167.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[3] Z. Li, P. Avgeriou, and P. Liang, “A systematic mapping study on technical debt and its management,” Journal of Systems and Software, vol. 101, pp. 193–220, 2015, doi: 10.1016/j.jss.2014.12.027.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[4] M. Fowler, “Technical Debt Quadrant,” martinfowler.com, 2009. [Online].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[5] SonarSource, “Metric definitions: technical debt, remediation effort and debt ratio,” SonarQube Server Docs, 2025. [Online].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2A52"/>
                </a:solidFill>
                <a:latin typeface="Arial"/>
                <a:ea typeface="Arial"/>
                <a:cs typeface="Arial"/>
                <a:sym typeface="Arial"/>
              </a:rPr>
              <a:t>[6] CISQ, “Technical Debt Standard: Estimating the Cost of Corrective Maintenance,” Consortium for IT Software Quality, 2025. [Online].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4389120" y="56235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139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11064240" y="62453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2026-01-14T13:42:52Z</dcterms:created>
  <dc:creator>Mariana Correa Ramirez</dc:creator>
</cp:coreProperties>
</file>