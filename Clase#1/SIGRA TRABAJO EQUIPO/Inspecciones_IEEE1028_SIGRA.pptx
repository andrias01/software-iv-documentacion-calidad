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846320"/>
            <a:ext cx="2926080" cy="292608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212080"/>
            <a:ext cx="1463040" cy="146304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SIGRA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Inspecciones de Software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el estándar IEEE Std 1028-2008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claro por el proceso formal de inspección de pares y su aplicación práctica en el Software Integral de Gestión de Resultados de Aprendizaje (SIGRA).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50292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·  Calidad de 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187452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relación con SIGRA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74520" y="2313432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una inspección según IEEE 1028 y cómo se conecta con el proyecto SIGRA.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75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74520" y="347472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inspección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4520" y="3913632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7 etapas del estándar, los roles del equipo y su aplicación práctica en SIGRA.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2760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2760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74520" y="507492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paso a paso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74520" y="5513832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operativa general y un caso de estudio real: el módulo de Niveles de Logro.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Inspección?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463040" y="2148840"/>
            <a:ext cx="9418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 examen visual, formal y sistemático realizado por un equipo de pares sobre un producto de software, con el objetivo principal de detectar e identificar anomalías: errores, omisiones, inconsistencias y desviaciones respecto a los estándares, regulaciones y especificaciones técnicas.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6304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— Cláusulas 3.3 y 6.1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técnica de revisión más formal después de las Auditorías, y la única que exige recolectar métricas para mejorar el proceso.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Fundamentales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Imparcial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Guiada por un facilitador capacitado (Líder de Inspección) que nunca es el autor del producto.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Definidos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3 a 6 integrantes, cada uno con responsabilidades específicas y complementarias.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Gerencial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gerencia NO participa en las sesiones, evitando presión o evaluación de desempeño individual.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Obligatorias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92240" y="47091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Recolectar datos de anomalías y esfuerzo es mandatorio, y alimenta la mejora continua del proceso.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Clave de la Inspección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25880" y="1618488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1618488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el producto cumple exactamente con sus especificaciones.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25880" y="2532888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00200" y="2532888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satisface los atributos de calidad especificados (seguridad, fiabilidad, mantenibilidad, etc.).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25880" y="3447288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00200" y="3447288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la conformidad con normas, guías, planes y procedimientos aplicables.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25880" y="4361688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00200" y="4361688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desviaciones y registrar anomalías para su posterior corrección (rework).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25880" y="5276088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00200" y="5276088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Recolectar datos cuantitativos de ingeniería de software para optimizar el proceso de desarrollo.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SIGRA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0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Integral de Gestión de Resultados de Aprendizaje: una plataforma web responsive para evaluar el logro académico de los estudiantes.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5351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797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9067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(Backend) · Angular (Frontend) · PostgreSQL (Base de Datos)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1363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398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05079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Levantados bajo la norma IEEE 830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87375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000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01091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Requisitos Funcionales (RF-01 a RF-22) y Requisitos No Funcionales (RNF-01 a RNF-20)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1600200"/>
            <a:ext cx="5120640" cy="4206240"/>
          </a:xfrm>
          <a:prstGeom prst="roundRect">
            <a:avLst>
              <a:gd name="adj" fmla="val 1522"/>
            </a:avLst>
          </a:prstGeom>
          <a:solidFill>
            <a:srgbClr val="EEF1FA"/>
          </a:solidFill>
          <a:ln w="19050">
            <a:solidFill>
              <a:srgbClr val="B7C2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812280" y="160020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88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IMAGEN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pantalla o logo de SIGRA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entre IEEE 1028 y SIGRA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019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durante la construcción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606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de Requisitos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916936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completitud de los 22 RF y RNF de la SRS.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749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de Código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059936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con sal, protección contra SQLi, expiración del JWT (60 min) y control de acceso RBAC.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892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del Modelo de Datos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5202936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lógica (soft delete) e historial de auditoría.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6002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0" y="19019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 conceptual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2606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IEEE 1028 se examina un producto, se detectan anomalías y se aplican acciones correctivas.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4290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SIGRA, los profesores evalúan los Resultados de Aprendizaje, detectan deficiencias (si más del 40% obtiene nivel Bajo/Medio) y formulan Acciones de Mejora, que se convierten en nuevas evaluaciones de refuerzo.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5074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 ciclo continuo de evaluación y mejora.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de Inspección: 7 Etapas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73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71800" y="23317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64408" y="18745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673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5848" y="2148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87568" y="23317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80176" y="18745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673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144768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71616" y="2148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(Visión General)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03336" y="23317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695944" y="18745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0536" y="1673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860536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87384" y="2148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3959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971800" y="46177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264408" y="41605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3959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55848" y="4434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Retrabajo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(Rework)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87568" y="46177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980176" y="41605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44768" y="3959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144768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071616" y="4434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Cierre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403336" y="46177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695944" y="41605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860536" y="3959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860536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787384" y="44348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Mejora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32461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4864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IEEE Std 1028-2008, Cláusula 6.5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del Equipo de Inspección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 según IEEE 1028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Líder de Inspección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Planifica, asigna roles, modera la reunión y verifica el retrabajo. No puede ser el autor.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 el producto, resuelve dudas puntuales y ejecuta las correcciones (rework).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al equipo, parafraseando el producto en fragmentos pequeños y estructurados.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 oficialmente cada anomalía: ubicación, tipo y severidad.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Revisan desde perspectivas específicas: seguridad, rendimiento, requisitos, usabilidad.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de Inspección Asignado en SIGRA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Persona(s) Asignada(s)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Líder de Inspección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Simón Tabares Arias / Andrés Felipe Vélez Alcaraz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Juan Camilo Bernal Carmona (Backend / Arquitecto)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Santiago Torres Castaño / Jean Paul Ortiz Restrepo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Juan José Narváez Marín / José Alejandro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el equipo evaluador, con enfoques específicos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Aplica el Proceso en SIGRA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8288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(SRS)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la coherencia de las reglas de negocio, p. ej. que cada asignatura tenga entre 5 y 7 Resultados de Aprendizaje (RF-03, RF-06).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1363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36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0175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Seguridad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38328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inspecciona el hash con sal, la expiración del JWT a los 60 minutos y el bloqueo tras 5 intentos fallidos (RF-04, RNF-10, RNF-12, RNF-15).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251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25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2062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Niveles de Logro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45720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 que los porcentajes de evaluación no superen el 100% y que las notas (0.0–5.0) se clasifiquen correctamente (RF-11, RF-12, RF-14).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5138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513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5394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Auditoría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57607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inspecciona que cada acción quede registrada con usuario, fecha, hora, acción y resultado (RF-13, RF-19, RNF-16).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Instructivo General — Pasos 1 a 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69164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17830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Criterios de Entrada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está libre de errores básicos, existe documento fuente y la gerencia autorizó tiempos y recursos.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78892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0" y="2880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Conformación del Equipo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45920" y="32461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designa Líder, Autor, Lector, Registrador e Inspectores con enfoques temáticos específicos.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05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388620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45920" y="39776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Entrega del Paquete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45920" y="43434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el material (2–3 págs/hora en requisitos, 100–200 líneas/hora en código) y se envía con 48h de anticipación.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02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49834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45920" y="50749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Individual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45920" y="5440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inspector estudia el material, aplica el checklist y registra su tiempo de preparación.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Instructivo General — Pasos 5 a 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69164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17830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Inspección (máx. 2 horas)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Apertura, revisión general y examen detallado guiado por el Lector; se registra la Lista Oficial de Anomalías.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78892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0" y="2880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Retrabajo (Rework)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45920" y="32461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Autor recibe la lista y corrige cada anomalía registrada en el producto de software.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05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388620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45920" y="39776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y Cierre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45920" y="43434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Líder verifica que las correcciones se hicieron correctamente, sin afectar otras áreas, y firma el cierre.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02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49834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45920" y="50749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Métricas e Historias de Mejora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45920" y="5440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archivan los datos de tiempo, volumen y anomalías para enriquecer los checklists futuros.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 · CASO PRÁCTICO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Estudio: Niveles de Logro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del cálculo y clasificación del nivel de logro, estadísticas y generación de conclusiones (RF-14, RF-15, RF-16).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669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957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a Inspeccionar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AchievementService.java (Backend)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achievement-report.component.ts (Angular)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5669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0416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Fuente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7083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SIGRA.pdf — Páginas 24 y 25, numerales 3.2.14, 3.2.15 y 3.2.16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Reglas de Negocio y Calidad de Código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1417320"/>
            <a:ext cx="5120640" cy="3977640"/>
          </a:xfrm>
          <a:prstGeom prst="roundRect">
            <a:avLst>
              <a:gd name="adj" fmla="val 1609"/>
            </a:avLst>
          </a:prstGeom>
          <a:solidFill>
            <a:srgbClr val="EEF1FA"/>
          </a:solidFill>
          <a:ln w="19050">
            <a:solidFill>
              <a:srgbClr val="B7C2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812280" y="1417320"/>
            <a:ext cx="448056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88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IMAGEN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del código AchievementService.java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Inspección Aplicado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691640"/>
            <a:ext cx="104698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17647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Nivel de Logro (RF-14)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Rangos: Bajo 0.0–2.9 · Medio 3.0–3.9 · Alto 4.0–4.5 · Sobresaliente 4.6–5.0.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8072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2761488"/>
            <a:ext cx="104698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17320" y="2834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Descriptivas (RF-15)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2004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y distribuciones por evaluación, RA, asignatura y semestre; mensaje "sin datos suficientes" si no hay notas.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87705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3831336"/>
            <a:ext cx="104698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17320" y="390448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Conclusiones (RF-16)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27024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más del 40% obtiene nivel bajo/medio, se genera la conclusión de acción de mejora — sin uso de IA.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94690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946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3000" y="4901184"/>
            <a:ext cx="104698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17320" y="497433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Control de Acceso (RF-05, RNF-14)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34009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 y verificación de rol: HTTP 403 Forbidden para un Estudiante.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 ·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Anomalías Detectadas en la Inspección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5577840"/>
                <a:gridCol w="1737360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de la Anomalía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ANO-SIG-01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AchievementService.java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(Línea 45)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"&lt;= 4.5" para "alto": una nota de 4.55 se clasifica mal (debería ser "sobresaliente").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ANO-SIG-02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AchievementService.java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(Línea 88)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Retorna Double.NaN en vez del mensaje textual "sin datos suficientes para calcular".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E2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ANO-SIG-03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AchievementController.java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(Línea 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valida el rol del usuario: un Estudiante puede consultar conclusiones generales.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de Salida y Cierre del Caso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del equipo: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previa verificación de retrabajo (Rework Verification)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Retrabajo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Camilo Bernal corrige las 3 anomalías en el Backend de SIGRA.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4206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43400" y="32918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3566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4206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17720" y="4617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Simón Tabares (Líder) revisa el commit y ejecuta la suite de pruebas unitarias (RNF-20).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4206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38160" y="32918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0" y="3566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4206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Trazabilidad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12480" y="4617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se guarda con respaldo en el historial de auditoría de SIGRA (RF-19, RNF-16).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IEEE 1028 y SIGRA: Cuadro Comparativo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9768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Std 1028-2008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 en SIGRA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formal de anomalías y recolección de métricas de calidad.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Garantizar que SIGRA cumpla sus 22 RF y RNF sin fallos de seguridad ni errores de cálculo.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 de Formalidad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alto (el segundo más formal después de las Auditorías).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Riguroso en artefactos críticos: SRS, Autenticación, Niveles de Logro y Auditoría.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Participación Gerencial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Prohibida en la sesión de inspección.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roles administrativos participan como usuarios del sistema, no en las inspecciones.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y Mejora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Mandatorio recolectar datos de anomalías y esfuerzo (Cláusula 6.8 y 6.9).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hallazgos alimentan la mejora continua y se reflejan en la trazabilidad del sistema.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1028-2008 · Proyecto SIGRA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846320"/>
            <a:ext cx="2926080" cy="292608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212080"/>
            <a:ext cx="1463040" cy="146304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 o comentarios?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4114800"/>
            <a:ext cx="50292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de Software · IEEE Std 1028-2008 · Proyecto SIGRA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2026-08-12T01:29:32Z</dcterms:created>
  <dcterms:modified xsi:type="dcterms:W3CDTF">2026-08-12T01:29:32Z</dcterms:modified>
</cp:coreProperties>
</file>