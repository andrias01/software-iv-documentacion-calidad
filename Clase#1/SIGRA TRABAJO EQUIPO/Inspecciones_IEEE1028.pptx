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62" r:id="rId16"/>
    <p:sldId id="263" r:id="rId17"/>
    <p:sldId id="260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01EDA-9250-C23D-5CFD-F97D80A96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199DD9-DAA8-B70A-2854-6B9849E2D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345F78-CED0-86D9-32A1-4980F40D1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CFB6A0-E163-44E9-A669-3FD81EA3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9D8411-93DC-13CA-6D54-C5180271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1071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FD3D4-F69E-8690-98D2-2EFA2545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7F097F-85A9-F0AF-832B-833D484D4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E81A7F-2E63-EDFF-F7EE-87FC2C1D7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7AF8D1-D04B-B39F-67DA-97F2528A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426A32-3E82-F024-00A7-F65FBDB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673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B3687-FBF5-223F-340F-EB50B84AB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B6D0EE-0AAC-7A24-F2C8-56727F9E6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A01708-20FD-D40D-9DB1-C128CF53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AA5491-0C2A-CA0D-865B-BDA11809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ADBD47-F468-27DA-0FC1-9A2F1B9F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4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0D4E7-CB80-17A4-27C3-360DF577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95E631-F124-B6C9-37B5-6A7051A62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740038-230F-124E-B1EB-A6165A280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695AB2-EF76-6C67-5740-FB4185FF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FC0028-DCE1-E4D6-5D86-262F59CD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502604-58DC-A6BB-75AB-AFF7BA33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108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0B0DC-6FDC-703C-0CAC-5E8A0330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5585C-EFEE-260D-7B5C-0A0353607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872BB5-4F9D-4CB1-BAF0-407D4053A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673C914-4999-14DF-E754-87537AC95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1E6602-FC3A-BAD3-6B34-E69CF956A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E48B55-8CF1-CDF3-DB13-7C290C96C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2968FC-D7A9-F974-D726-66580A72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B2E9B80-B36B-DC60-C4B9-28DF1DF2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037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06873-7990-2EDF-C1FA-849B65BB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B6985D-8FC5-3E29-CC06-27F68A4B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2F1872-0719-8FD6-1E15-68052F4F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2DE6CC-D379-10F3-8EEE-B28B04C0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697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093637C-5145-3DE4-2B39-87617C4E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DDD4D08-09DA-4101-05C3-E35C660D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EE8DE7-1A09-8F08-E347-8CECE339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111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BE023-C328-9670-F966-891E24D7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9846BF-74B3-22B0-42B8-0470E32AC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EA61A4-8CEA-534F-388B-B520E4A51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410FE1-C70B-ADB2-6A9A-BB548ED08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ACDD7C-17A9-93AF-E412-DE7ABA17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27711B-340A-D9F4-ABA5-4C2BD713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637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4AA7C-C849-221D-BE87-C18F2FE5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9351B01-9F14-F6AE-369A-95C6F1844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EF0E56-8F2B-52FE-439B-B28544B71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D0F6F5-F040-F030-7D19-D7ADAB00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8A27B0-8F38-3E26-2C1F-E3985598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CC6CD1-4C69-6BCC-E249-69856604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643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4656D-6AAB-47EF-4400-5A5C4E08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44B045-025F-B94E-F1B5-129B4EB12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4D8F6F-DE67-EA86-605D-2773A907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F01ED9-93EA-E511-9B7D-7B07D314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BDA730-3D19-1B28-E75F-DE4AB5F1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677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12E5D3-BEC7-957E-60F5-6464FFB61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3F4B02-A13A-8C10-F69B-12510A363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DA3917-29E4-1753-13D4-82EE2D21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001D7-2FC2-439F-ED36-281E7DC6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790522-F56D-3555-1DC5-C7224F3A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866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2ADB93-5F1C-4923-1CE2-CC989C8A8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CFA3A0-E64A-7B00-868A-2E135E5D3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C0354F-7668-DFB8-081C-3B6EF35AC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F86E3-241F-4532-90E2-66B6C0497645}" type="datetimeFigureOut">
              <a:rPr lang="es-CO" smtClean="0"/>
              <a:t>11/08/2026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D634FB-FD45-AEFF-FA15-98FB8E8B5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C4081-B57E-F736-12E7-AA50AAC46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5265D-11E0-48C2-848C-4793F5C58F9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974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486CD91-14DB-F020-6E21-1D0D50E89223}"/>
              </a:ext>
            </a:extLst>
          </p:cNvPr>
          <p:cNvSpPr txBox="1"/>
          <p:nvPr/>
        </p:nvSpPr>
        <p:spPr>
          <a:xfrm>
            <a:off x="1534724" y="2029332"/>
            <a:ext cx="8500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4000" b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Proceso de Inspección de Software</a:t>
            </a:r>
            <a:br>
              <a:rPr lang="es-CO" sz="4000" b="1">
                <a:solidFill>
                  <a:schemeClr val="accent6">
                    <a:lumMod val="50000"/>
                  </a:schemeClr>
                </a:solidFill>
                <a:latin typeface="Arial" pitchFamily="34" charset="0"/>
              </a:rPr>
            </a:br>
            <a:r>
              <a:rPr lang="es-CO" sz="2400" b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Según el estándar IEEE Std 1028-2008</a:t>
            </a:r>
            <a:endParaRPr lang="es-CO" sz="44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E61581-D611-3242-423D-B2E18400DE40}"/>
              </a:ext>
            </a:extLst>
          </p:cNvPr>
          <p:cNvSpPr txBox="1"/>
          <p:nvPr/>
        </p:nvSpPr>
        <p:spPr>
          <a:xfrm>
            <a:off x="1736110" y="3894280"/>
            <a:ext cx="3048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</a:t>
            </a:r>
          </a:p>
          <a:p>
            <a:endParaRPr lang="es-CO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F6D8FD-C80F-8565-3246-9C2DE3529970}"/>
              </a:ext>
            </a:extLst>
          </p:cNvPr>
          <p:cNvSpPr txBox="1"/>
          <p:nvPr/>
        </p:nvSpPr>
        <p:spPr>
          <a:xfrm>
            <a:off x="1736110" y="6300000"/>
            <a:ext cx="65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de Software / Calidad de Software</a:t>
            </a:r>
            <a:endParaRPr lang="es-CO" i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57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Agenda</a:t>
            </a:r>
          </a:p>
        </p:txBody>
      </p:sp>
      <p:sp>
        <p:nvSpPr>
          <p:cNvPr id="201" name="Oval201"/>
          <p:cNvSpPr/>
          <p:nvPr/>
        </p:nvSpPr>
        <p:spPr>
          <a:xfrm>
            <a:off x="890649" y="161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2" name="Lbl202"/>
          <p:cNvSpPr txBox="1"/>
          <p:nvPr/>
        </p:nvSpPr>
        <p:spPr>
          <a:xfrm>
            <a:off x="890649" y="161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800" b="1" dirty="0">
                <a:solidFill>
                  <a:srgbClr val="FFFF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203" name="Texto203"/>
          <p:cNvSpPr txBox="1"/>
          <p:nvPr/>
        </p:nvSpPr>
        <p:spPr>
          <a:xfrm>
            <a:off x="1660649" y="1640000"/>
            <a:ext cx="9640702" cy="5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Definición de la Inspección de Software</a:t>
            </a:r>
          </a:p>
        </p:txBody>
      </p:sp>
      <p:sp>
        <p:nvSpPr>
          <p:cNvPr id="204" name="Oval204"/>
          <p:cNvSpPr/>
          <p:nvPr/>
        </p:nvSpPr>
        <p:spPr>
          <a:xfrm>
            <a:off x="890649" y="238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5" name="Lbl205"/>
          <p:cNvSpPr txBox="1"/>
          <p:nvPr/>
        </p:nvSpPr>
        <p:spPr>
          <a:xfrm>
            <a:off x="890649" y="238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800" b="1" dirty="0">
                <a:solidFill>
                  <a:srgbClr val="FFFFFF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206" name="Texto206"/>
          <p:cNvSpPr txBox="1"/>
          <p:nvPr/>
        </p:nvSpPr>
        <p:spPr>
          <a:xfrm>
            <a:off x="1660649" y="2410000"/>
            <a:ext cx="9640702" cy="5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Principios y reglas fundamentales</a:t>
            </a:r>
          </a:p>
        </p:txBody>
      </p:sp>
      <p:sp>
        <p:nvSpPr>
          <p:cNvPr id="207" name="Oval207"/>
          <p:cNvSpPr/>
          <p:nvPr/>
        </p:nvSpPr>
        <p:spPr>
          <a:xfrm>
            <a:off x="890649" y="315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8" name="Lbl208"/>
          <p:cNvSpPr txBox="1"/>
          <p:nvPr/>
        </p:nvSpPr>
        <p:spPr>
          <a:xfrm>
            <a:off x="890649" y="315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800" b="1" dirty="0">
                <a:solidFill>
                  <a:srgbClr val="FFFFFF"/>
                </a:solidFill>
                <a:latin typeface="Arial" pitchFamily="34" charset="0"/>
              </a:rPr>
              <a:t>3</a:t>
            </a:r>
          </a:p>
        </p:txBody>
      </p:sp>
      <p:sp>
        <p:nvSpPr>
          <p:cNvPr id="209" name="Texto209"/>
          <p:cNvSpPr txBox="1"/>
          <p:nvPr/>
        </p:nvSpPr>
        <p:spPr>
          <a:xfrm>
            <a:off x="1660649" y="3180000"/>
            <a:ext cx="9640702" cy="5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Roles del equipo de inspección</a:t>
            </a:r>
          </a:p>
        </p:txBody>
      </p:sp>
      <p:sp>
        <p:nvSpPr>
          <p:cNvPr id="210" name="Oval210"/>
          <p:cNvSpPr/>
          <p:nvPr/>
        </p:nvSpPr>
        <p:spPr>
          <a:xfrm>
            <a:off x="890649" y="392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1" name="Lbl211"/>
          <p:cNvSpPr txBox="1"/>
          <p:nvPr/>
        </p:nvSpPr>
        <p:spPr>
          <a:xfrm>
            <a:off x="890649" y="392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800" b="1" dirty="0">
                <a:solidFill>
                  <a:srgbClr val="FFFFFF"/>
                </a:solidFill>
                <a:latin typeface="Arial" pitchFamily="34" charset="0"/>
              </a:rPr>
              <a:t>4</a:t>
            </a:r>
          </a:p>
        </p:txBody>
      </p:sp>
      <p:sp>
        <p:nvSpPr>
          <p:cNvPr id="212" name="Texto212"/>
          <p:cNvSpPr txBox="1"/>
          <p:nvPr/>
        </p:nvSpPr>
        <p:spPr>
          <a:xfrm>
            <a:off x="1660649" y="3950000"/>
            <a:ext cx="9640702" cy="5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El proceso: etapas según IEEE 1028</a:t>
            </a:r>
          </a:p>
        </p:txBody>
      </p:sp>
      <p:sp>
        <p:nvSpPr>
          <p:cNvPr id="213" name="Oval213"/>
          <p:cNvSpPr/>
          <p:nvPr/>
        </p:nvSpPr>
        <p:spPr>
          <a:xfrm>
            <a:off x="890649" y="469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4" name="Lbl214"/>
          <p:cNvSpPr txBox="1"/>
          <p:nvPr/>
        </p:nvSpPr>
        <p:spPr>
          <a:xfrm>
            <a:off x="890649" y="469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800" b="1" dirty="0">
                <a:solidFill>
                  <a:srgbClr val="FFFFFF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215" name="Texto215"/>
          <p:cNvSpPr txBox="1"/>
          <p:nvPr/>
        </p:nvSpPr>
        <p:spPr>
          <a:xfrm>
            <a:off x="1660649" y="4720000"/>
            <a:ext cx="9640702" cy="5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Guía paso a paso de aplicación</a:t>
            </a:r>
          </a:p>
        </p:txBody>
      </p:sp>
      <p:sp>
        <p:nvSpPr>
          <p:cNvPr id="216" name="Oval216"/>
          <p:cNvSpPr/>
          <p:nvPr/>
        </p:nvSpPr>
        <p:spPr>
          <a:xfrm>
            <a:off x="890649" y="546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7" name="Lbl217"/>
          <p:cNvSpPr txBox="1"/>
          <p:nvPr/>
        </p:nvSpPr>
        <p:spPr>
          <a:xfrm>
            <a:off x="890649" y="546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800" b="1" dirty="0">
                <a:solidFill>
                  <a:srgbClr val="FFFFFF"/>
                </a:solidFill>
                <a:latin typeface="Arial" pitchFamily="34" charset="0"/>
              </a:rPr>
              <a:t>6</a:t>
            </a:r>
          </a:p>
        </p:txBody>
      </p:sp>
      <p:sp>
        <p:nvSpPr>
          <p:cNvPr id="218" name="Texto218"/>
          <p:cNvSpPr txBox="1"/>
          <p:nvPr/>
        </p:nvSpPr>
        <p:spPr>
          <a:xfrm>
            <a:off x="1660649" y="5490000"/>
            <a:ext cx="9640702" cy="5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Discusión y conclusiones</a:t>
            </a:r>
          </a:p>
        </p:txBody>
      </p:sp>
    </p:spTree>
    <p:extLst>
      <p:ext uri="{BB962C8B-B14F-4D97-AF65-F5344CB8AC3E}">
        <p14:creationId xmlns:p14="http://schemas.microsoft.com/office/powerpoint/2010/main" val="3704876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Introducción: ¿Qué es una Inspección?</a:t>
            </a:r>
          </a:p>
        </p:txBody>
      </p:sp>
      <p:sp>
        <p:nvSpPr>
          <p:cNvPr id="201" name="Texto201"/>
          <p:cNvSpPr txBox="1"/>
          <p:nvPr/>
        </p:nvSpPr>
        <p:spPr>
          <a:xfrm>
            <a:off x="890649" y="1550000"/>
            <a:ext cx="6246421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300" b="1" i="0" dirty="0">
                <a:solidFill>
                  <a:srgbClr val="4EA72E"/>
                </a:solidFill>
                <a:latin typeface="Arial" pitchFamily="34" charset="0"/>
                <a:cs typeface="Arial" pitchFamily="34" charset="0"/>
              </a:rPr>
              <a:t>Definición (IEEE Std 1028-2008, Cláusula 3.3 y 6.1)</a:t>
            </a:r>
          </a:p>
        </p:txBody>
      </p:sp>
      <p:sp>
        <p:nvSpPr>
          <p:cNvPr id="202" name="Texto202"/>
          <p:cNvSpPr txBox="1"/>
          <p:nvPr/>
        </p:nvSpPr>
        <p:spPr>
          <a:xfrm>
            <a:off x="890649" y="2030000"/>
            <a:ext cx="6246421" cy="1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4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Una inspección es un examen visual, formal y riguroso que un equipo de pares realiza sobre un artefacto de software —requisitos, arquitectura, diseño, código o planes de prueba— con el objetivo principal de detectar e identificar anomalías: errores, inconsistencias, omisiones y desviaciones frente a los estándares.</a:t>
            </a:r>
          </a:p>
        </p:txBody>
      </p:sp>
      <p:sp>
        <p:nvSpPr>
          <p:cNvPr id="203" name="Texto203"/>
          <p:cNvSpPr txBox="1"/>
          <p:nvPr/>
        </p:nvSpPr>
        <p:spPr>
          <a:xfrm>
            <a:off x="890649" y="3700000"/>
            <a:ext cx="6246421" cy="1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s-CO" sz="14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Es una de las técnicas más rigurosas y formales de la ingeniería de software, solo superada por las auditorías.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s-CO" sz="14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Se aplica sobre cualquier artefacto tangible del desarrollo, no solo sobre código fuente.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s-CO" sz="14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Su fortaleza está en la formalidad del proceso: roles fijos, checklists y métricas obligatorias.</a:t>
            </a:r>
          </a:p>
        </p:txBody>
      </p:sp>
      <p:sp>
        <p:nvSpPr>
          <p:cNvPr id="204" name="Rect204"/>
          <p:cNvSpPr/>
          <p:nvPr/>
        </p:nvSpPr>
        <p:spPr>
          <a:xfrm>
            <a:off x="7437070" y="1750000"/>
            <a:ext cx="3864281" cy="3400000"/>
          </a:xfrm>
          <a:prstGeom prst="roundRect">
            <a:avLst>
              <a:gd name="adj" fmla="val 4000"/>
            </a:avLst>
          </a:prstGeom>
          <a:solidFill>
            <a:srgbClr val="F4F7F2"/>
          </a:solidFill>
          <a:ln w="12700">
            <a:solidFill>
              <a:srgbClr val="9BB894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05" name="Lbl205"/>
          <p:cNvSpPr txBox="1"/>
          <p:nvPr/>
        </p:nvSpPr>
        <p:spPr>
          <a:xfrm>
            <a:off x="7437070" y="1870000"/>
            <a:ext cx="3864281" cy="4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0" dirty="0">
                <a:solidFill>
                  <a:srgbClr val="9BB894"/>
                </a:solidFill>
                <a:latin typeface="Arial" pitchFamily="34" charset="0"/>
              </a:rPr>
              <a:t>🖼</a:t>
            </a:r>
          </a:p>
        </p:txBody>
      </p:sp>
      <p:sp>
        <p:nvSpPr>
          <p:cNvPr id="206" name="Texto206"/>
          <p:cNvSpPr txBox="1"/>
          <p:nvPr/>
        </p:nvSpPr>
        <p:spPr>
          <a:xfrm>
            <a:off x="7587069" y="5165000"/>
            <a:ext cx="3564281" cy="9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CO" sz="1050" b="0" i="1" dirty="0">
                <a:solidFill>
                  <a:srgbClr val="5C7A55"/>
                </a:solidFill>
                <a:latin typeface="Arial" pitchFamily="34" charset="0"/>
                <a:cs typeface="Arial" pitchFamily="34" charset="0"/>
              </a:rPr>
              <a:t>Equipo de pares revisando un documento o código fuente en una sesión formal de inspección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7CF82D-0D43-F693-FA38-D2326682E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987" y="1757312"/>
            <a:ext cx="4310444" cy="33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Principios Fundamentales del Método</a:t>
            </a:r>
          </a:p>
        </p:txBody>
      </p:sp>
      <p:sp>
        <p:nvSpPr>
          <p:cNvPr id="207" name="Oval207"/>
          <p:cNvSpPr/>
          <p:nvPr/>
        </p:nvSpPr>
        <p:spPr>
          <a:xfrm>
            <a:off x="890649" y="1570000"/>
            <a:ext cx="620000" cy="6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8" name="Lbl208"/>
          <p:cNvSpPr txBox="1"/>
          <p:nvPr/>
        </p:nvSpPr>
        <p:spPr>
          <a:xfrm>
            <a:off x="890649" y="1570000"/>
            <a:ext cx="6200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209" name="Texto209"/>
          <p:cNvSpPr txBox="1"/>
          <p:nvPr/>
        </p:nvSpPr>
        <p:spPr>
          <a:xfrm>
            <a:off x="1790649" y="1550000"/>
            <a:ext cx="9510702" cy="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5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Liderazgo imparcial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Coordinada por un Líder de Inspección capacitado, que no puede ser el autor del producto.</a:t>
            </a:r>
          </a:p>
        </p:txBody>
      </p:sp>
      <p:sp>
        <p:nvSpPr>
          <p:cNvPr id="210" name="Oval210"/>
          <p:cNvSpPr/>
          <p:nvPr/>
        </p:nvSpPr>
        <p:spPr>
          <a:xfrm>
            <a:off x="890649" y="2520000"/>
            <a:ext cx="620000" cy="6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1" name="Lbl211"/>
          <p:cNvSpPr txBox="1"/>
          <p:nvPr/>
        </p:nvSpPr>
        <p:spPr>
          <a:xfrm>
            <a:off x="890649" y="2520000"/>
            <a:ext cx="6200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212" name="Texto212"/>
          <p:cNvSpPr txBox="1"/>
          <p:nvPr/>
        </p:nvSpPr>
        <p:spPr>
          <a:xfrm>
            <a:off x="1790649" y="2500000"/>
            <a:ext cx="9510702" cy="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5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Roles estructurados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Participa un equipo multidisciplinario de 3 a 6 integrantes, cada uno con responsabilidades explícitas.</a:t>
            </a:r>
          </a:p>
        </p:txBody>
      </p:sp>
      <p:sp>
        <p:nvSpPr>
          <p:cNvPr id="213" name="Oval213"/>
          <p:cNvSpPr/>
          <p:nvPr/>
        </p:nvSpPr>
        <p:spPr>
          <a:xfrm>
            <a:off x="890649" y="3470000"/>
            <a:ext cx="620000" cy="6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4" name="Lbl214"/>
          <p:cNvSpPr txBox="1"/>
          <p:nvPr/>
        </p:nvSpPr>
        <p:spPr>
          <a:xfrm>
            <a:off x="890649" y="3470000"/>
            <a:ext cx="6200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3</a:t>
            </a:r>
          </a:p>
        </p:txBody>
      </p:sp>
      <p:sp>
        <p:nvSpPr>
          <p:cNvPr id="215" name="Texto215"/>
          <p:cNvSpPr txBox="1"/>
          <p:nvPr/>
        </p:nvSpPr>
        <p:spPr>
          <a:xfrm>
            <a:off x="1790649" y="3450000"/>
            <a:ext cx="9510702" cy="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5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Sin participación gerencial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La gerencia no participa en las sesiones: el foco permanece en la calidad del producto, no en evaluar al desarrollador.</a:t>
            </a:r>
          </a:p>
        </p:txBody>
      </p:sp>
      <p:sp>
        <p:nvSpPr>
          <p:cNvPr id="216" name="Oval216"/>
          <p:cNvSpPr/>
          <p:nvPr/>
        </p:nvSpPr>
        <p:spPr>
          <a:xfrm>
            <a:off x="890649" y="4420000"/>
            <a:ext cx="620000" cy="6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7" name="Lbl217"/>
          <p:cNvSpPr txBox="1"/>
          <p:nvPr/>
        </p:nvSpPr>
        <p:spPr>
          <a:xfrm>
            <a:off x="890649" y="4420000"/>
            <a:ext cx="6200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4</a:t>
            </a:r>
          </a:p>
        </p:txBody>
      </p:sp>
      <p:sp>
        <p:nvSpPr>
          <p:cNvPr id="218" name="Texto218"/>
          <p:cNvSpPr txBox="1"/>
          <p:nvPr/>
        </p:nvSpPr>
        <p:spPr>
          <a:xfrm>
            <a:off x="1790649" y="4400000"/>
            <a:ext cx="9510702" cy="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5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Uso obligatorio de checklists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Es obligatorio usar guías y listas de chequeo preparadas previamente según el tipo de artefacto.</a:t>
            </a:r>
          </a:p>
        </p:txBody>
      </p:sp>
      <p:sp>
        <p:nvSpPr>
          <p:cNvPr id="219" name="Oval219"/>
          <p:cNvSpPr/>
          <p:nvPr/>
        </p:nvSpPr>
        <p:spPr>
          <a:xfrm>
            <a:off x="890649" y="5370000"/>
            <a:ext cx="620000" cy="6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0" name="Lbl220"/>
          <p:cNvSpPr txBox="1"/>
          <p:nvPr/>
        </p:nvSpPr>
        <p:spPr>
          <a:xfrm>
            <a:off x="890649" y="5370000"/>
            <a:ext cx="6200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221" name="Texto221"/>
          <p:cNvSpPr txBox="1"/>
          <p:nvPr/>
        </p:nvSpPr>
        <p:spPr>
          <a:xfrm>
            <a:off x="1790649" y="5350000"/>
            <a:ext cx="9510702" cy="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5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Recolección mandatoria de métricas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Se registran tiempo de preparación, tasa de lectura y anomalías encontradas, para alimentar la mejora continua.</a:t>
            </a:r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Objetivos Principales de la Inspección</a:t>
            </a:r>
          </a:p>
        </p:txBody>
      </p:sp>
      <p:sp>
        <p:nvSpPr>
          <p:cNvPr id="201" name="Rect201"/>
          <p:cNvSpPr/>
          <p:nvPr/>
        </p:nvSpPr>
        <p:spPr>
          <a:xfrm>
            <a:off x="890649" y="1550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EAF4E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2" name="Rect202"/>
          <p:cNvSpPr/>
          <p:nvPr/>
        </p:nvSpPr>
        <p:spPr>
          <a:xfrm>
            <a:off x="1170649" y="1810000"/>
            <a:ext cx="90000" cy="90000"/>
          </a:xfrm>
          <a:prstGeom prst="roundRect">
            <a:avLst>
              <a:gd name="adj" fmla="val 50000"/>
            </a:avLst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3" name="Texto203"/>
          <p:cNvSpPr txBox="1"/>
          <p:nvPr/>
        </p:nvSpPr>
        <p:spPr>
          <a:xfrm>
            <a:off x="1170649" y="1980000"/>
            <a:ext cx="4515351" cy="16350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0" indent="0" algn="l">
              <a:spcBef>
                <a:spcPts val="800"/>
              </a:spcBef>
              <a:buNone/>
            </a:pPr>
            <a:r>
              <a:rPr lang="es-CO" sz="24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Verificar la calidad del producto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20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Comprobar que el artefacto cumple los requisitos y las especificaciones de entrada.</a:t>
            </a:r>
          </a:p>
        </p:txBody>
      </p:sp>
      <p:sp>
        <p:nvSpPr>
          <p:cNvPr id="204" name="Rect204"/>
          <p:cNvSpPr/>
          <p:nvPr/>
        </p:nvSpPr>
        <p:spPr>
          <a:xfrm>
            <a:off x="6226000" y="1550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EAF4E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5" name="Rect205"/>
          <p:cNvSpPr/>
          <p:nvPr/>
        </p:nvSpPr>
        <p:spPr>
          <a:xfrm>
            <a:off x="6506000" y="1810000"/>
            <a:ext cx="90000" cy="90000"/>
          </a:xfrm>
          <a:prstGeom prst="roundRect">
            <a:avLst>
              <a:gd name="adj" fmla="val 50000"/>
            </a:avLst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6" name="Texto206"/>
          <p:cNvSpPr txBox="1"/>
          <p:nvPr/>
        </p:nvSpPr>
        <p:spPr>
          <a:xfrm>
            <a:off x="6506000" y="1980000"/>
            <a:ext cx="4515351" cy="163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800"/>
              </a:spcBef>
              <a:buNone/>
            </a:pPr>
            <a:r>
              <a:rPr lang="es-CO" sz="20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Garantizar la conformidad con estándares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Asegurar que se respeten las normas de arquitectura, estilo de código y normativa legal o de seguridad.</a:t>
            </a:r>
          </a:p>
        </p:txBody>
      </p:sp>
      <p:sp>
        <p:nvSpPr>
          <p:cNvPr id="207" name="Rect207"/>
          <p:cNvSpPr/>
          <p:nvPr/>
        </p:nvSpPr>
        <p:spPr>
          <a:xfrm>
            <a:off x="890649" y="4045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EAF4E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8" name="Rect208"/>
          <p:cNvSpPr/>
          <p:nvPr/>
        </p:nvSpPr>
        <p:spPr>
          <a:xfrm>
            <a:off x="1170649" y="4305000"/>
            <a:ext cx="90000" cy="90000"/>
          </a:xfrm>
          <a:prstGeom prst="roundRect">
            <a:avLst>
              <a:gd name="adj" fmla="val 50000"/>
            </a:avLst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9" name="Texto209"/>
          <p:cNvSpPr txBox="1"/>
          <p:nvPr/>
        </p:nvSpPr>
        <p:spPr>
          <a:xfrm>
            <a:off x="1170649" y="4475000"/>
            <a:ext cx="4515351" cy="16350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0" indent="0" algn="l">
              <a:spcBef>
                <a:spcPts val="800"/>
              </a:spcBef>
              <a:buNone/>
            </a:pPr>
            <a:r>
              <a:rPr lang="es-CO" sz="24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Detección temprana de errores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20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Encontrar fallos en etapas iniciales, lo cual cuesta hasta 100 veces menos que corregirlos en producción.</a:t>
            </a:r>
          </a:p>
        </p:txBody>
      </p:sp>
      <p:sp>
        <p:nvSpPr>
          <p:cNvPr id="210" name="Rect210"/>
          <p:cNvSpPr/>
          <p:nvPr/>
        </p:nvSpPr>
        <p:spPr>
          <a:xfrm>
            <a:off x="6226000" y="4045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EAF4E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1" name="Rect211"/>
          <p:cNvSpPr/>
          <p:nvPr/>
        </p:nvSpPr>
        <p:spPr>
          <a:xfrm>
            <a:off x="6506000" y="4305000"/>
            <a:ext cx="90000" cy="90000"/>
          </a:xfrm>
          <a:prstGeom prst="roundRect">
            <a:avLst>
              <a:gd name="adj" fmla="val 50000"/>
            </a:avLst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2" name="Texto212"/>
          <p:cNvSpPr txBox="1"/>
          <p:nvPr/>
        </p:nvSpPr>
        <p:spPr>
          <a:xfrm>
            <a:off x="6506000" y="4475000"/>
            <a:ext cx="4515351" cy="163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800"/>
              </a:spcBef>
              <a:buNone/>
            </a:pPr>
            <a:r>
              <a:rPr lang="es-CO" sz="24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Mejora continua del proceso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20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Usar los datos recolectados para perfeccionar las listas de chequeo y evitar errores repetidos.</a:t>
            </a:r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Diagrama del Proceso de Inspección</a:t>
            </a:r>
          </a:p>
        </p:txBody>
      </p:sp>
      <p:sp>
        <p:nvSpPr>
          <p:cNvPr id="213" name="Rect213"/>
          <p:cNvSpPr/>
          <p:nvPr/>
        </p:nvSpPr>
        <p:spPr>
          <a:xfrm>
            <a:off x="1068649" y="1910000"/>
            <a:ext cx="24000" cy="4010000"/>
          </a:xfrm>
          <a:prstGeom prst="roundRect">
            <a:avLst>
              <a:gd name="adj" fmla="val 50000"/>
            </a:avLst>
          </a:prstGeom>
          <a:solidFill>
            <a:srgbClr val="BFE0A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4" name="Oval214"/>
          <p:cNvSpPr/>
          <p:nvPr/>
        </p:nvSpPr>
        <p:spPr>
          <a:xfrm>
            <a:off x="890649" y="1720000"/>
            <a:ext cx="380000" cy="3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5" name="Lbl215"/>
          <p:cNvSpPr txBox="1"/>
          <p:nvPr/>
        </p:nvSpPr>
        <p:spPr>
          <a:xfrm>
            <a:off x="890649" y="1720000"/>
            <a:ext cx="380000" cy="3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216" name="Texto216"/>
          <p:cNvSpPr txBox="1"/>
          <p:nvPr/>
        </p:nvSpPr>
        <p:spPr>
          <a:xfrm>
            <a:off x="1550649" y="1680000"/>
            <a:ext cx="9750702" cy="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100"/>
              </a:spcBef>
              <a:buNone/>
            </a:pPr>
            <a:r>
              <a:rPr lang="es-CO" sz="12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Preparación de la Administración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0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Autorización de recursos y tiempo.</a:t>
            </a:r>
          </a:p>
        </p:txBody>
      </p:sp>
      <p:sp>
        <p:nvSpPr>
          <p:cNvPr id="217" name="Oval217"/>
          <p:cNvSpPr/>
          <p:nvPr/>
        </p:nvSpPr>
        <p:spPr>
          <a:xfrm>
            <a:off x="890649" y="2280000"/>
            <a:ext cx="380000" cy="3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8" name="Lbl218"/>
          <p:cNvSpPr txBox="1"/>
          <p:nvPr/>
        </p:nvSpPr>
        <p:spPr>
          <a:xfrm>
            <a:off x="890649" y="2280000"/>
            <a:ext cx="380000" cy="3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219" name="Texto219"/>
          <p:cNvSpPr txBox="1"/>
          <p:nvPr/>
        </p:nvSpPr>
        <p:spPr>
          <a:xfrm>
            <a:off x="1550649" y="2240000"/>
            <a:ext cx="9750702" cy="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100"/>
              </a:spcBef>
              <a:buNone/>
            </a:pPr>
            <a:r>
              <a:rPr lang="es-CO" sz="12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Planificación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0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Asignación de roles, fechas y paquete de inspección.</a:t>
            </a:r>
          </a:p>
        </p:txBody>
      </p:sp>
      <p:sp>
        <p:nvSpPr>
          <p:cNvPr id="220" name="Oval220"/>
          <p:cNvSpPr/>
          <p:nvPr/>
        </p:nvSpPr>
        <p:spPr>
          <a:xfrm>
            <a:off x="890649" y="2840000"/>
            <a:ext cx="380000" cy="3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1" name="Lbl221"/>
          <p:cNvSpPr txBox="1"/>
          <p:nvPr/>
        </p:nvSpPr>
        <p:spPr>
          <a:xfrm>
            <a:off x="890649" y="2840000"/>
            <a:ext cx="380000" cy="3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Arial" pitchFamily="34" charset="0"/>
              </a:rPr>
              <a:t>3</a:t>
            </a:r>
          </a:p>
        </p:txBody>
      </p:sp>
      <p:sp>
        <p:nvSpPr>
          <p:cNvPr id="222" name="Texto222"/>
          <p:cNvSpPr txBox="1"/>
          <p:nvPr/>
        </p:nvSpPr>
        <p:spPr>
          <a:xfrm>
            <a:off x="1550649" y="2800000"/>
            <a:ext cx="9750702" cy="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100"/>
              </a:spcBef>
              <a:buNone/>
            </a:pPr>
            <a:r>
              <a:rPr lang="es-CO" sz="12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Visión General (Overview)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0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Presentación opcional del producto por el autor.</a:t>
            </a:r>
          </a:p>
        </p:txBody>
      </p:sp>
      <p:sp>
        <p:nvSpPr>
          <p:cNvPr id="223" name="Oval223"/>
          <p:cNvSpPr/>
          <p:nvPr/>
        </p:nvSpPr>
        <p:spPr>
          <a:xfrm>
            <a:off x="890649" y="3400000"/>
            <a:ext cx="380000" cy="3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4" name="Lbl224"/>
          <p:cNvSpPr txBox="1"/>
          <p:nvPr/>
        </p:nvSpPr>
        <p:spPr>
          <a:xfrm>
            <a:off x="890649" y="3400000"/>
            <a:ext cx="380000" cy="3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Arial" pitchFamily="34" charset="0"/>
              </a:rPr>
              <a:t>4</a:t>
            </a:r>
          </a:p>
        </p:txBody>
      </p:sp>
      <p:sp>
        <p:nvSpPr>
          <p:cNvPr id="225" name="Texto225"/>
          <p:cNvSpPr txBox="1"/>
          <p:nvPr/>
        </p:nvSpPr>
        <p:spPr>
          <a:xfrm>
            <a:off x="1550649" y="3360000"/>
            <a:ext cx="9750702" cy="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100"/>
              </a:spcBef>
              <a:buNone/>
            </a:pPr>
            <a:r>
              <a:rPr lang="es-CO" sz="12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Preparación Individual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0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Revisión autónoma usando listas de chequeo.</a:t>
            </a:r>
          </a:p>
        </p:txBody>
      </p:sp>
      <p:sp>
        <p:nvSpPr>
          <p:cNvPr id="226" name="Oval226"/>
          <p:cNvSpPr/>
          <p:nvPr/>
        </p:nvSpPr>
        <p:spPr>
          <a:xfrm>
            <a:off x="890649" y="3960000"/>
            <a:ext cx="380000" cy="3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7" name="Lbl227"/>
          <p:cNvSpPr txBox="1"/>
          <p:nvPr/>
        </p:nvSpPr>
        <p:spPr>
          <a:xfrm>
            <a:off x="890649" y="3960000"/>
            <a:ext cx="380000" cy="3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228" name="Texto228"/>
          <p:cNvSpPr txBox="1"/>
          <p:nvPr/>
        </p:nvSpPr>
        <p:spPr>
          <a:xfrm>
            <a:off x="1550649" y="3920000"/>
            <a:ext cx="9750702" cy="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100"/>
              </a:spcBef>
              <a:buNone/>
            </a:pPr>
            <a:r>
              <a:rPr lang="es-CO" sz="12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Reunión de Inspección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0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Detección formal, lectura y registro de anomalías.</a:t>
            </a:r>
          </a:p>
        </p:txBody>
      </p:sp>
      <p:sp>
        <p:nvSpPr>
          <p:cNvPr id="229" name="Oval229"/>
          <p:cNvSpPr/>
          <p:nvPr/>
        </p:nvSpPr>
        <p:spPr>
          <a:xfrm>
            <a:off x="890649" y="4520000"/>
            <a:ext cx="380000" cy="3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30" name="Lbl230"/>
          <p:cNvSpPr txBox="1"/>
          <p:nvPr/>
        </p:nvSpPr>
        <p:spPr>
          <a:xfrm>
            <a:off x="890649" y="4520000"/>
            <a:ext cx="380000" cy="3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Arial" pitchFamily="34" charset="0"/>
              </a:rPr>
              <a:t>6</a:t>
            </a:r>
          </a:p>
        </p:txBody>
      </p:sp>
      <p:sp>
        <p:nvSpPr>
          <p:cNvPr id="231" name="Texto231"/>
          <p:cNvSpPr txBox="1"/>
          <p:nvPr/>
        </p:nvSpPr>
        <p:spPr>
          <a:xfrm>
            <a:off x="1550649" y="4480000"/>
            <a:ext cx="9750702" cy="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100"/>
              </a:spcBef>
              <a:buNone/>
            </a:pPr>
            <a:r>
              <a:rPr lang="es-CO" sz="12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Retrabajo (Rework)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0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autor corrige las anomalías halladas.</a:t>
            </a:r>
          </a:p>
        </p:txBody>
      </p:sp>
      <p:sp>
        <p:nvSpPr>
          <p:cNvPr id="232" name="Oval232"/>
          <p:cNvSpPr/>
          <p:nvPr/>
        </p:nvSpPr>
        <p:spPr>
          <a:xfrm>
            <a:off x="890649" y="5080000"/>
            <a:ext cx="380000" cy="3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33" name="Lbl233"/>
          <p:cNvSpPr txBox="1"/>
          <p:nvPr/>
        </p:nvSpPr>
        <p:spPr>
          <a:xfrm>
            <a:off x="890649" y="5080000"/>
            <a:ext cx="380000" cy="3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Arial" pitchFamily="34" charset="0"/>
              </a:rPr>
              <a:t>7</a:t>
            </a:r>
          </a:p>
        </p:txBody>
      </p:sp>
      <p:sp>
        <p:nvSpPr>
          <p:cNvPr id="234" name="Texto234"/>
          <p:cNvSpPr txBox="1"/>
          <p:nvPr/>
        </p:nvSpPr>
        <p:spPr>
          <a:xfrm>
            <a:off x="1550649" y="5040000"/>
            <a:ext cx="9750702" cy="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100"/>
              </a:spcBef>
              <a:buNone/>
            </a:pPr>
            <a:r>
              <a:rPr lang="es-CO" sz="12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Seguimiento y Cierre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0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líder verifica la corrección de los fallos.</a:t>
            </a:r>
          </a:p>
        </p:txBody>
      </p:sp>
      <p:sp>
        <p:nvSpPr>
          <p:cNvPr id="235" name="Oval235"/>
          <p:cNvSpPr/>
          <p:nvPr/>
        </p:nvSpPr>
        <p:spPr>
          <a:xfrm>
            <a:off x="890649" y="5640000"/>
            <a:ext cx="380000" cy="3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36" name="Lbl236"/>
          <p:cNvSpPr txBox="1"/>
          <p:nvPr/>
        </p:nvSpPr>
        <p:spPr>
          <a:xfrm>
            <a:off x="890649" y="5640000"/>
            <a:ext cx="380000" cy="3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Arial" pitchFamily="34" charset="0"/>
              </a:rPr>
              <a:t>8</a:t>
            </a:r>
          </a:p>
        </p:txBody>
      </p:sp>
      <p:sp>
        <p:nvSpPr>
          <p:cNvPr id="237" name="Texto237"/>
          <p:cNvSpPr txBox="1"/>
          <p:nvPr/>
        </p:nvSpPr>
        <p:spPr>
          <a:xfrm>
            <a:off x="1550649" y="5600000"/>
            <a:ext cx="9750702" cy="5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100"/>
              </a:spcBef>
              <a:buNone/>
            </a:pPr>
            <a:r>
              <a:rPr lang="es-CO" sz="12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Recolección de Datos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0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Archivo de métricas para la mejora del proceso.</a:t>
            </a:r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Roles del Equipo de Inspección</a:t>
            </a:r>
          </a:p>
        </p:txBody>
      </p:sp>
      <p:graphicFrame>
        <p:nvGraphicFramePr>
          <p:cNvPr id="238" name="Tabla238"/>
          <p:cNvGraphicFramePr>
            <a:graphicFrameLocks noGrp="1"/>
          </p:cNvGraphicFramePr>
          <p:nvPr/>
        </p:nvGraphicFramePr>
        <p:xfrm>
          <a:off x="890649" y="1700000"/>
          <a:ext cx="10410702" cy="4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2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s-CO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Rol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Función Principal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0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¿Autor?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Líder de Inspección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Modera la reunión, planifica la logística, vela por el cumplimiento del estándar y verifica el retrabajo final.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Autor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Proporciona el artefacto, aclara dudas específicas y corrige las anomalías durante el retrabajo.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SÍ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Lector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Guía la lectura del producto fragmento a fragmento para orientar al equipo durante la reunión.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Registrador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Anota detalladamente cada anomalía en la Lista Oficial de Hallazgos (ubicación, tipo, severidad).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Inspectores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Revisan el producto desde distintas perspectivas: seguridad, rendimiento, requisitos, usabilidad.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201"/>
          <p:cNvSpPr/>
          <p:nvPr/>
        </p:nvSpPr>
        <p:spPr>
          <a:xfrm>
            <a:off x="890649" y="1650000"/>
            <a:ext cx="3270234" cy="4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2" name="Rect202"/>
          <p:cNvSpPr/>
          <p:nvPr/>
        </p:nvSpPr>
        <p:spPr>
          <a:xfrm>
            <a:off x="890649" y="1650000"/>
            <a:ext cx="3270234" cy="90000"/>
          </a:xfrm>
          <a:prstGeom prst="roundRect">
            <a:avLst>
              <a:gd name="adj" fmla="val 90000"/>
            </a:avLst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3" name="Texto203"/>
          <p:cNvSpPr txBox="1"/>
          <p:nvPr/>
        </p:nvSpPr>
        <p:spPr>
          <a:xfrm>
            <a:off x="1150649" y="1970000"/>
            <a:ext cx="2750234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20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Aceptar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150" b="0" i="1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Accept</a:t>
            </a:r>
          </a:p>
        </p:txBody>
      </p:sp>
      <p:sp>
        <p:nvSpPr>
          <p:cNvPr id="204" name="Texto204"/>
          <p:cNvSpPr txBox="1"/>
          <p:nvPr/>
        </p:nvSpPr>
        <p:spPr>
          <a:xfrm>
            <a:off x="1150649" y="2800000"/>
            <a:ext cx="2750234" cy="31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3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producto se aprueba sin cambios, o con correcciones muy menores que no requieren revisión.</a:t>
            </a:r>
          </a:p>
        </p:txBody>
      </p:sp>
      <p:sp>
        <p:nvSpPr>
          <p:cNvPr id="205" name="Rect205"/>
          <p:cNvSpPr/>
          <p:nvPr/>
        </p:nvSpPr>
        <p:spPr>
          <a:xfrm>
            <a:off x="4460883" y="1650000"/>
            <a:ext cx="3270234" cy="4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6" name="Rect206"/>
          <p:cNvSpPr/>
          <p:nvPr/>
        </p:nvSpPr>
        <p:spPr>
          <a:xfrm>
            <a:off x="4460883" y="1650000"/>
            <a:ext cx="3270234" cy="90000"/>
          </a:xfrm>
          <a:prstGeom prst="roundRect">
            <a:avLst>
              <a:gd name="adj" fmla="val 90000"/>
            </a:avLst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7" name="Texto207"/>
          <p:cNvSpPr txBox="1"/>
          <p:nvPr/>
        </p:nvSpPr>
        <p:spPr>
          <a:xfrm>
            <a:off x="4720883" y="1970000"/>
            <a:ext cx="2750234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20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Aceptar con verificación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150" b="0" i="1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Rework Verification</a:t>
            </a:r>
          </a:p>
        </p:txBody>
      </p:sp>
      <p:sp>
        <p:nvSpPr>
          <p:cNvPr id="208" name="Texto208"/>
          <p:cNvSpPr txBox="1"/>
          <p:nvPr/>
        </p:nvSpPr>
        <p:spPr>
          <a:xfrm>
            <a:off x="4720883" y="2800000"/>
            <a:ext cx="2750234" cy="31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3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Se aprueba con la condición de que el Líder u otro integrante verifique que el Autor corrigió las anomalías.</a:t>
            </a:r>
          </a:p>
        </p:txBody>
      </p:sp>
      <p:sp>
        <p:nvSpPr>
          <p:cNvPr id="209" name="Rect209"/>
          <p:cNvSpPr/>
          <p:nvPr/>
        </p:nvSpPr>
        <p:spPr>
          <a:xfrm>
            <a:off x="8031117" y="1650000"/>
            <a:ext cx="3270234" cy="4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10" name="Rect210"/>
          <p:cNvSpPr/>
          <p:nvPr/>
        </p:nvSpPr>
        <p:spPr>
          <a:xfrm>
            <a:off x="8031117" y="1650000"/>
            <a:ext cx="3270234" cy="90000"/>
          </a:xfrm>
          <a:prstGeom prst="roundRect">
            <a:avLst>
              <a:gd name="adj" fmla="val 90000"/>
            </a:avLst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1" name="Texto211"/>
          <p:cNvSpPr txBox="1"/>
          <p:nvPr/>
        </p:nvSpPr>
        <p:spPr>
          <a:xfrm>
            <a:off x="8291117" y="1970000"/>
            <a:ext cx="2750234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20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Re-inspeccionar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150" b="0" i="1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Reinspect</a:t>
            </a:r>
          </a:p>
        </p:txBody>
      </p:sp>
      <p:sp>
        <p:nvSpPr>
          <p:cNvPr id="212" name="Texto212"/>
          <p:cNvSpPr txBox="1"/>
          <p:nvPr/>
        </p:nvSpPr>
        <p:spPr>
          <a:xfrm>
            <a:off x="8291117" y="2800000"/>
            <a:ext cx="2750234" cy="31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3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Demasiadas anomalías o fallos críticos: se exige corregir y convocar una nueva reunión completa.</a:t>
            </a:r>
          </a:p>
        </p:txBody>
      </p:sp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Decisiones de Salida (Exit Decision)</a:t>
            </a:r>
          </a:p>
        </p:txBody>
      </p:sp>
      <p:sp>
        <p:nvSpPr>
          <p:cNvPr id="2" name="Rect201"/>
          <p:cNvSpPr/>
          <p:nvPr/>
        </p:nvSpPr>
        <p:spPr>
          <a:xfrm>
            <a:off x="890649" y="1650000"/>
            <a:ext cx="3270234" cy="4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" name="Oval202"/>
          <p:cNvSpPr/>
          <p:nvPr/>
        </p:nvSpPr>
        <p:spPr>
          <a:xfrm>
            <a:off x="1150649" y="1890000"/>
            <a:ext cx="130000" cy="13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o203"/>
          <p:cNvSpPr txBox="1"/>
          <p:nvPr/>
        </p:nvSpPr>
        <p:spPr>
          <a:xfrm>
            <a:off x="1150649" y="2110000"/>
            <a:ext cx="2750234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20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Aceptar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150" b="0" i="1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Accept</a:t>
            </a:r>
          </a:p>
        </p:txBody>
      </p:sp>
      <p:sp>
        <p:nvSpPr>
          <p:cNvPr id="5" name="Texto204"/>
          <p:cNvSpPr txBox="1"/>
          <p:nvPr/>
        </p:nvSpPr>
        <p:spPr>
          <a:xfrm>
            <a:off x="1150649" y="2950000"/>
            <a:ext cx="2750234" cy="303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20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producto se aprueba sin cambios, o con correcciones muy menores que no requieren revisión.</a:t>
            </a:r>
          </a:p>
        </p:txBody>
      </p:sp>
      <p:sp>
        <p:nvSpPr>
          <p:cNvPr id="6" name="Rect205"/>
          <p:cNvSpPr/>
          <p:nvPr/>
        </p:nvSpPr>
        <p:spPr>
          <a:xfrm>
            <a:off x="4460883" y="1650000"/>
            <a:ext cx="3270234" cy="4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" name="Oval206"/>
          <p:cNvSpPr/>
          <p:nvPr/>
        </p:nvSpPr>
        <p:spPr>
          <a:xfrm>
            <a:off x="4720883" y="1890000"/>
            <a:ext cx="130000" cy="13000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o207"/>
          <p:cNvSpPr txBox="1"/>
          <p:nvPr/>
        </p:nvSpPr>
        <p:spPr>
          <a:xfrm>
            <a:off x="4720883" y="2110000"/>
            <a:ext cx="2750234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20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Aceptar con verificación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150" b="0" i="1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Rework Verification</a:t>
            </a:r>
          </a:p>
        </p:txBody>
      </p:sp>
      <p:sp>
        <p:nvSpPr>
          <p:cNvPr id="9" name="Texto208"/>
          <p:cNvSpPr txBox="1"/>
          <p:nvPr/>
        </p:nvSpPr>
        <p:spPr>
          <a:xfrm>
            <a:off x="4720883" y="2950000"/>
            <a:ext cx="2750234" cy="303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20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Se aprueba con la condición de que el Líder u otro integrante verifique que el Autor corrigió las anomalías.</a:t>
            </a:r>
          </a:p>
        </p:txBody>
      </p:sp>
      <p:sp>
        <p:nvSpPr>
          <p:cNvPr id="10" name="Rect209"/>
          <p:cNvSpPr/>
          <p:nvPr/>
        </p:nvSpPr>
        <p:spPr>
          <a:xfrm>
            <a:off x="8031117" y="1650000"/>
            <a:ext cx="3270234" cy="4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" name="Oval210"/>
          <p:cNvSpPr/>
          <p:nvPr/>
        </p:nvSpPr>
        <p:spPr>
          <a:xfrm>
            <a:off x="8291117" y="1890000"/>
            <a:ext cx="130000" cy="13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o211"/>
          <p:cNvSpPr txBox="1"/>
          <p:nvPr/>
        </p:nvSpPr>
        <p:spPr>
          <a:xfrm>
            <a:off x="8291117" y="2110000"/>
            <a:ext cx="2750234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200"/>
              </a:spcBef>
              <a:buNone/>
            </a:pPr>
            <a:r>
              <a:rPr lang="es-CO" sz="17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Re-inspeccionar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150" b="0" i="1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Reinspect</a:t>
            </a:r>
          </a:p>
        </p:txBody>
      </p:sp>
      <p:sp>
        <p:nvSpPr>
          <p:cNvPr id="13" name="Texto212"/>
          <p:cNvSpPr txBox="1"/>
          <p:nvPr/>
        </p:nvSpPr>
        <p:spPr>
          <a:xfrm>
            <a:off x="8291117" y="2950000"/>
            <a:ext cx="2750234" cy="303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20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Demasiadas anomalías o fallos críticos: se exige corregir y convocar una nueva reunión completa.</a:t>
            </a:r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Criterios de Entrada y Planificación</a:t>
            </a:r>
          </a:p>
        </p:txBody>
      </p:sp>
      <p:sp>
        <p:nvSpPr>
          <p:cNvPr id="213" name="Texto213"/>
          <p:cNvSpPr txBox="1"/>
          <p:nvPr/>
        </p:nvSpPr>
        <p:spPr>
          <a:xfrm>
            <a:off x="890649" y="1550000"/>
            <a:ext cx="4893029" cy="4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500" b="1" i="0" dirty="0">
                <a:solidFill>
                  <a:srgbClr val="4EA72E"/>
                </a:solidFill>
                <a:latin typeface="Arial" pitchFamily="34" charset="0"/>
                <a:cs typeface="Arial" pitchFamily="34" charset="0"/>
              </a:rPr>
              <a:t>Paso 1 · Criterios de Entrada</a:t>
            </a:r>
          </a:p>
        </p:txBody>
      </p:sp>
      <p:sp>
        <p:nvSpPr>
          <p:cNvPr id="214" name="Texto214"/>
          <p:cNvSpPr txBox="1"/>
          <p:nvPr/>
        </p:nvSpPr>
        <p:spPr>
          <a:xfrm>
            <a:off x="890649" y="2070000"/>
            <a:ext cx="4893029" cy="2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600"/>
              </a:spcBef>
              <a:buNone/>
            </a:pPr>
            <a:r>
              <a:rPr lang="es-CO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☐  El artefacto está terminado (no en borrador) y pasó controles sintácticos básicos.</a:t>
            </a:r>
          </a:p>
          <a:p>
            <a:pPr marL="0" indent="0" algn="l">
              <a:spcBef>
                <a:spcPts val="1600"/>
              </a:spcBef>
              <a:buNone/>
            </a:pPr>
            <a:r>
              <a:rPr lang="es-CO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☐  Se dispone de los documentos fuente de referencia (requisitos, estándar de código, etc.).</a:t>
            </a:r>
          </a:p>
          <a:p>
            <a:pPr marL="0" indent="0" algn="l">
              <a:spcBef>
                <a:spcPts val="1600"/>
              </a:spcBef>
              <a:buNone/>
            </a:pPr>
            <a:r>
              <a:rPr lang="es-CO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☐  La gerencia ha asignado las horas necesarias al equipo para participar.</a:t>
            </a:r>
          </a:p>
        </p:txBody>
      </p:sp>
      <p:sp>
        <p:nvSpPr>
          <p:cNvPr id="215" name="Texto215"/>
          <p:cNvSpPr txBox="1"/>
          <p:nvPr/>
        </p:nvSpPr>
        <p:spPr>
          <a:xfrm>
            <a:off x="6133678" y="1550000"/>
            <a:ext cx="5167673" cy="4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500" b="1" i="0" dirty="0">
                <a:solidFill>
                  <a:srgbClr val="4EA72E"/>
                </a:solidFill>
                <a:latin typeface="Arial" pitchFamily="34" charset="0"/>
                <a:cs typeface="Arial" pitchFamily="34" charset="0"/>
              </a:rPr>
              <a:t>Paso 2 · Planificación</a:t>
            </a:r>
          </a:p>
        </p:txBody>
      </p:sp>
      <p:sp>
        <p:nvSpPr>
          <p:cNvPr id="216" name="Texto216"/>
          <p:cNvSpPr txBox="1"/>
          <p:nvPr/>
        </p:nvSpPr>
        <p:spPr>
          <a:xfrm>
            <a:off x="6133678" y="2070000"/>
            <a:ext cx="5167673" cy="3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28600" indent="-228600" algn="l">
              <a:spcBef>
                <a:spcPts val="1600"/>
              </a:spcBef>
              <a:buFont typeface="Arial"/>
              <a:buChar char="•"/>
            </a:pPr>
            <a:r>
              <a:rPr lang="es-CO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Se seleccionan de 3 a 6 participantes y se asignan los roles del equipo.</a:t>
            </a:r>
          </a:p>
          <a:p>
            <a:pPr marL="228600" indent="-228600" algn="l">
              <a:spcBef>
                <a:spcPts val="1600"/>
              </a:spcBef>
              <a:buFont typeface="Arial"/>
              <a:buChar char="•"/>
            </a:pPr>
            <a:r>
              <a:rPr lang="es-CO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Tasas recomendadas: 2-3 páginas/hora (requisitos/arquitectura); 100-200 líneas/hora (código fuente).</a:t>
            </a:r>
          </a:p>
          <a:p>
            <a:pPr marL="228600" indent="-228600" algn="l">
              <a:spcBef>
                <a:spcPts val="1600"/>
              </a:spcBef>
              <a:buFont typeface="Arial"/>
              <a:buChar char="•"/>
            </a:pPr>
            <a:r>
              <a:rPr lang="es-CO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Paquete de Inspección se distribuye mínimo 48 horas antes: artefacto, documentos de soporte, checklist y plantilla de anotación.</a:t>
            </a:r>
          </a:p>
        </p:txBody>
      </p:sp>
      <p:sp>
        <p:nvSpPr>
          <p:cNvPr id="217" name="Rect217"/>
          <p:cNvSpPr/>
          <p:nvPr/>
        </p:nvSpPr>
        <p:spPr>
          <a:xfrm>
            <a:off x="5913678" y="1550000"/>
            <a:ext cx="18000" cy="4530000"/>
          </a:xfrm>
          <a:prstGeom prst="roundRect">
            <a:avLst>
              <a:gd name="adj" fmla="val 50000"/>
            </a:avLst>
          </a:prstGeom>
          <a:solidFill>
            <a:srgbClr val="C9C9C9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Preparación Individual</a:t>
            </a:r>
          </a:p>
        </p:txBody>
      </p:sp>
      <p:sp>
        <p:nvSpPr>
          <p:cNvPr id="218" name="Texto218"/>
          <p:cNvSpPr txBox="1"/>
          <p:nvPr/>
        </p:nvSpPr>
        <p:spPr>
          <a:xfrm>
            <a:off x="890649" y="1550000"/>
            <a:ext cx="4893029" cy="3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s-CO" b="1" i="0" dirty="0">
                <a:solidFill>
                  <a:srgbClr val="4EA72E"/>
                </a:solidFill>
                <a:latin typeface="Arial" pitchFamily="34" charset="0"/>
                <a:cs typeface="Arial" pitchFamily="34" charset="0"/>
              </a:rPr>
              <a:t>Trabajo autónomo</a:t>
            </a:r>
          </a:p>
          <a:p>
            <a:pPr marL="228600" indent="-228600" algn="l">
              <a:spcBef>
                <a:spcPts val="1400"/>
              </a:spcBef>
              <a:buFont typeface="Arial"/>
              <a:buChar char="•"/>
            </a:pPr>
            <a:r>
              <a:rPr lang="es-CO" sz="16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Cada participante analiza el artefacto individualmente, sin interactuar con los demás.</a:t>
            </a:r>
          </a:p>
          <a:p>
            <a:pPr marL="228600" indent="-228600" algn="l">
              <a:spcBef>
                <a:spcPts val="1400"/>
              </a:spcBef>
              <a:buFont typeface="Arial"/>
              <a:buChar char="•"/>
            </a:pPr>
            <a:r>
              <a:rPr lang="es-CO" sz="16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Utiliza la lista de chequeo (checklist) para encontrar anomalías.</a:t>
            </a:r>
          </a:p>
          <a:p>
            <a:pPr marL="228600" indent="-228600" algn="l">
              <a:spcBef>
                <a:spcPts val="1400"/>
              </a:spcBef>
              <a:buFont typeface="Arial"/>
              <a:buChar char="•"/>
            </a:pPr>
            <a:r>
              <a:rPr lang="es-CO" sz="16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Registra ubicación, descripción y el tiempo invertido en la preparación.</a:t>
            </a:r>
          </a:p>
          <a:p>
            <a:pPr marL="228600" indent="-228600" algn="l">
              <a:spcBef>
                <a:spcPts val="1400"/>
              </a:spcBef>
              <a:buFont typeface="Arial"/>
              <a:buChar char="•"/>
            </a:pPr>
            <a:r>
              <a:rPr lang="es-CO" sz="16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Filtro de calidad: si los inspectores no se prepararon, el Líder debe suspender la sesión.</a:t>
            </a:r>
          </a:p>
        </p:txBody>
      </p:sp>
      <p:sp>
        <p:nvSpPr>
          <p:cNvPr id="219" name="Rect219"/>
          <p:cNvSpPr/>
          <p:nvPr/>
        </p:nvSpPr>
        <p:spPr>
          <a:xfrm>
            <a:off x="6133678" y="1550000"/>
            <a:ext cx="5167673" cy="4530000"/>
          </a:xfrm>
          <a:prstGeom prst="roundRect">
            <a:avLst>
              <a:gd name="adj" fmla="val 4000"/>
            </a:avLst>
          </a:prstGeom>
          <a:solidFill>
            <a:srgbClr val="F7F9F5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 sz="3600"/>
          </a:p>
        </p:txBody>
      </p:sp>
      <p:sp>
        <p:nvSpPr>
          <p:cNvPr id="220" name="Texto220"/>
          <p:cNvSpPr txBox="1"/>
          <p:nvPr/>
        </p:nvSpPr>
        <p:spPr>
          <a:xfrm>
            <a:off x="6393678" y="1770000"/>
            <a:ext cx="4667673" cy="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3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Ejemplo · Checklist de código fuente</a:t>
            </a:r>
          </a:p>
        </p:txBody>
      </p:sp>
      <p:sp>
        <p:nvSpPr>
          <p:cNvPr id="221" name="Texto221"/>
          <p:cNvSpPr txBox="1"/>
          <p:nvPr/>
        </p:nvSpPr>
        <p:spPr>
          <a:xfrm>
            <a:off x="6393678" y="2350000"/>
            <a:ext cx="4667673" cy="2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80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☐  ¿El código cumple la especificación sin omitir casos de borde?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☐  ¿Variables y funciones tienen nombres claros y descriptivos?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☐  ¿Se validan las entradas para evitar errores de nulos?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☐  ¿Existen vulnerabilidades de seguridad (SQL, datos sensibles)?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☐  ¿Se gestionan adecuadamente las excepciones (try/catch)?</a:t>
            </a:r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Reunión de Inspección (máx. 2 horas)</a:t>
            </a:r>
          </a:p>
        </p:txBody>
      </p:sp>
      <p:sp>
        <p:nvSpPr>
          <p:cNvPr id="201" name="Rect201"/>
          <p:cNvSpPr/>
          <p:nvPr/>
        </p:nvSpPr>
        <p:spPr>
          <a:xfrm>
            <a:off x="890649" y="1550000"/>
            <a:ext cx="10410702" cy="950000"/>
          </a:xfrm>
          <a:prstGeom prst="roundRect">
            <a:avLst>
              <a:gd name="adj" fmla="val 8000"/>
            </a:avLst>
          </a:prstGeom>
          <a:solidFill>
            <a:srgbClr val="EAF4E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2" name="Oval202"/>
          <p:cNvSpPr/>
          <p:nvPr/>
        </p:nvSpPr>
        <p:spPr>
          <a:xfrm>
            <a:off x="1110649" y="1745000"/>
            <a:ext cx="560000" cy="56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3" name="Lbl203"/>
          <p:cNvSpPr txBox="1"/>
          <p:nvPr/>
        </p:nvSpPr>
        <p:spPr>
          <a:xfrm>
            <a:off x="1110649" y="1745000"/>
            <a:ext cx="560000" cy="5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900" b="1" dirty="0">
                <a:solidFill>
                  <a:srgbClr val="FFFF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204" name="Texto204"/>
          <p:cNvSpPr txBox="1"/>
          <p:nvPr/>
        </p:nvSpPr>
        <p:spPr>
          <a:xfrm>
            <a:off x="1950649" y="1680000"/>
            <a:ext cx="9010702" cy="69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5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Apertura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líder recuerda las reglas: buscar anomalías, no criticar personas; no se diseñan soluciones en esta reunión.</a:t>
            </a:r>
          </a:p>
        </p:txBody>
      </p:sp>
      <p:sp>
        <p:nvSpPr>
          <p:cNvPr id="205" name="Texto205"/>
          <p:cNvSpPr txBox="1"/>
          <p:nvPr/>
        </p:nvSpPr>
        <p:spPr>
          <a:xfrm>
            <a:off x="10251351" y="1550000"/>
            <a:ext cx="1050000" cy="9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s-CO" sz="1300" b="1" i="0" dirty="0">
                <a:solidFill>
                  <a:srgbClr val="4EA72E"/>
                </a:solidFill>
                <a:latin typeface="Arial" pitchFamily="34" charset="0"/>
                <a:cs typeface="Arial" pitchFamily="34" charset="0"/>
              </a:rPr>
              <a:t>5 min</a:t>
            </a:r>
          </a:p>
        </p:txBody>
      </p:sp>
      <p:sp>
        <p:nvSpPr>
          <p:cNvPr id="206" name="Rect206"/>
          <p:cNvSpPr/>
          <p:nvPr/>
        </p:nvSpPr>
        <p:spPr>
          <a:xfrm>
            <a:off x="890649" y="2630000"/>
            <a:ext cx="10410702" cy="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7" name="Oval207"/>
          <p:cNvSpPr/>
          <p:nvPr/>
        </p:nvSpPr>
        <p:spPr>
          <a:xfrm>
            <a:off x="1110649" y="2825000"/>
            <a:ext cx="560000" cy="56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8" name="Lbl208"/>
          <p:cNvSpPr txBox="1"/>
          <p:nvPr/>
        </p:nvSpPr>
        <p:spPr>
          <a:xfrm>
            <a:off x="1110649" y="2825000"/>
            <a:ext cx="560000" cy="5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900" b="1" dirty="0">
                <a:solidFill>
                  <a:srgbClr val="FFFFFF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209" name="Texto209"/>
          <p:cNvSpPr txBox="1"/>
          <p:nvPr/>
        </p:nvSpPr>
        <p:spPr>
          <a:xfrm>
            <a:off x="1950649" y="2760000"/>
            <a:ext cx="9010702" cy="69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5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Examen detallado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lector guía la lectura en fragmentos pequeños; los inspectores señalan anomalías; el registrador las documenta.</a:t>
            </a:r>
          </a:p>
        </p:txBody>
      </p:sp>
      <p:sp>
        <p:nvSpPr>
          <p:cNvPr id="210" name="Texto210"/>
          <p:cNvSpPr txBox="1"/>
          <p:nvPr/>
        </p:nvSpPr>
        <p:spPr>
          <a:xfrm>
            <a:off x="10251351" y="2630000"/>
            <a:ext cx="1050000" cy="9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s-CO" sz="1300" b="1" i="0" dirty="0">
                <a:solidFill>
                  <a:srgbClr val="4EA72E"/>
                </a:solidFill>
                <a:latin typeface="Arial" pitchFamily="34" charset="0"/>
                <a:cs typeface="Arial" pitchFamily="34" charset="0"/>
              </a:rPr>
              <a:t>60-80 min</a:t>
            </a:r>
          </a:p>
        </p:txBody>
      </p:sp>
      <p:sp>
        <p:nvSpPr>
          <p:cNvPr id="211" name="Rect211"/>
          <p:cNvSpPr/>
          <p:nvPr/>
        </p:nvSpPr>
        <p:spPr>
          <a:xfrm>
            <a:off x="890649" y="3710000"/>
            <a:ext cx="10410702" cy="950000"/>
          </a:xfrm>
          <a:prstGeom prst="roundRect">
            <a:avLst>
              <a:gd name="adj" fmla="val 8000"/>
            </a:avLst>
          </a:prstGeom>
          <a:solidFill>
            <a:srgbClr val="EAF4E6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2" name="Oval212"/>
          <p:cNvSpPr/>
          <p:nvPr/>
        </p:nvSpPr>
        <p:spPr>
          <a:xfrm>
            <a:off x="1110649" y="3905000"/>
            <a:ext cx="560000" cy="56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3" name="Lbl213"/>
          <p:cNvSpPr txBox="1"/>
          <p:nvPr/>
        </p:nvSpPr>
        <p:spPr>
          <a:xfrm>
            <a:off x="1110649" y="3905000"/>
            <a:ext cx="560000" cy="5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900" b="1" dirty="0">
                <a:solidFill>
                  <a:srgbClr val="FFFFFF"/>
                </a:solidFill>
                <a:latin typeface="Arial" pitchFamily="34" charset="0"/>
              </a:rPr>
              <a:t>3</a:t>
            </a:r>
          </a:p>
        </p:txBody>
      </p:sp>
      <p:sp>
        <p:nvSpPr>
          <p:cNvPr id="214" name="Texto214"/>
          <p:cNvSpPr txBox="1"/>
          <p:nvPr/>
        </p:nvSpPr>
        <p:spPr>
          <a:xfrm>
            <a:off x="1950649" y="3840000"/>
            <a:ext cx="9010702" cy="69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5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Consolidación de la lista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Se revisan los hallazgos para asegurar una redacción precisa y clara.</a:t>
            </a:r>
          </a:p>
        </p:txBody>
      </p:sp>
      <p:sp>
        <p:nvSpPr>
          <p:cNvPr id="215" name="Texto215"/>
          <p:cNvSpPr txBox="1"/>
          <p:nvPr/>
        </p:nvSpPr>
        <p:spPr>
          <a:xfrm>
            <a:off x="10251351" y="3710000"/>
            <a:ext cx="1050000" cy="9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s-CO" sz="1300" b="1" i="0" dirty="0">
                <a:solidFill>
                  <a:srgbClr val="4EA72E"/>
                </a:solidFill>
                <a:latin typeface="Arial" pitchFamily="34" charset="0"/>
                <a:cs typeface="Arial" pitchFamily="34" charset="0"/>
              </a:rPr>
              <a:t>10 min</a:t>
            </a:r>
          </a:p>
        </p:txBody>
      </p:sp>
      <p:sp>
        <p:nvSpPr>
          <p:cNvPr id="216" name="Rect216"/>
          <p:cNvSpPr/>
          <p:nvPr/>
        </p:nvSpPr>
        <p:spPr>
          <a:xfrm>
            <a:off x="890649" y="4790000"/>
            <a:ext cx="10410702" cy="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17" name="Oval217"/>
          <p:cNvSpPr/>
          <p:nvPr/>
        </p:nvSpPr>
        <p:spPr>
          <a:xfrm>
            <a:off x="1110649" y="4985000"/>
            <a:ext cx="560000" cy="56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8" name="Lbl218"/>
          <p:cNvSpPr txBox="1"/>
          <p:nvPr/>
        </p:nvSpPr>
        <p:spPr>
          <a:xfrm>
            <a:off x="1110649" y="4985000"/>
            <a:ext cx="560000" cy="5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1900" b="1" dirty="0">
                <a:solidFill>
                  <a:srgbClr val="FFFFFF"/>
                </a:solidFill>
                <a:latin typeface="Arial" pitchFamily="34" charset="0"/>
              </a:rPr>
              <a:t>4</a:t>
            </a:r>
          </a:p>
        </p:txBody>
      </p:sp>
      <p:sp>
        <p:nvSpPr>
          <p:cNvPr id="219" name="Texto219"/>
          <p:cNvSpPr txBox="1"/>
          <p:nvPr/>
        </p:nvSpPr>
        <p:spPr>
          <a:xfrm>
            <a:off x="1950649" y="4920000"/>
            <a:ext cx="9010702" cy="69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5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Votación de la decisión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equipo acuerda si el producto es Aceptado, Aceptado con Retrabajo o Re-inspeccionado.</a:t>
            </a:r>
          </a:p>
        </p:txBody>
      </p:sp>
      <p:sp>
        <p:nvSpPr>
          <p:cNvPr id="220" name="Texto220"/>
          <p:cNvSpPr txBox="1"/>
          <p:nvPr/>
        </p:nvSpPr>
        <p:spPr>
          <a:xfrm>
            <a:off x="10251351" y="4790000"/>
            <a:ext cx="1050000" cy="9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s-CO" sz="1300" b="1" i="0" dirty="0">
                <a:solidFill>
                  <a:srgbClr val="4EA72E"/>
                </a:solidFill>
                <a:latin typeface="Arial" pitchFamily="34" charset="0"/>
                <a:cs typeface="Arial" pitchFamily="34" charset="0"/>
              </a:rPr>
              <a:t>5 min</a:t>
            </a:r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Formato de Registro de Anomalías</a:t>
            </a:r>
          </a:p>
        </p:txBody>
      </p:sp>
      <p:sp>
        <p:nvSpPr>
          <p:cNvPr id="221" name="Texto221"/>
          <p:cNvSpPr txBox="1"/>
          <p:nvPr/>
        </p:nvSpPr>
        <p:spPr>
          <a:xfrm>
            <a:off x="890649" y="1550000"/>
            <a:ext cx="10410702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s-CO" sz="1250" b="0" i="1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Cada hallazgo se registra según el formato oficial de IEEE Std 1044</a:t>
            </a:r>
          </a:p>
        </p:txBody>
      </p:sp>
      <p:graphicFrame>
        <p:nvGraphicFramePr>
          <p:cNvPr id="222" name="Tabla222"/>
          <p:cNvGraphicFramePr>
            <a:graphicFrameLocks noGrp="1"/>
          </p:cNvGraphicFramePr>
          <p:nvPr/>
        </p:nvGraphicFramePr>
        <p:xfrm>
          <a:off x="890649" y="2050000"/>
          <a:ext cx="10410702" cy="25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3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9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1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50000">
                <a:tc>
                  <a:txBody>
                    <a:bodyPr/>
                    <a:lstStyle/>
                    <a:p>
                      <a:pPr algn="l"/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ID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Ubicación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Descripción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Categoría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Severidad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1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Responsable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000"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ANO-01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AuthService.js, línea 42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La contraseña se almacena en texto plano en la base de datos.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Seguridad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Crítica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Autor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000"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ANO-02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Requisitos, Sección 3.1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No se define qué ocurre cuando el usuario olvida su clave.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Omisión/Ambigüedad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Marginal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05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Autor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Retrabajo, Seguimiento y Cierre</a:t>
            </a:r>
          </a:p>
        </p:txBody>
      </p:sp>
      <p:sp>
        <p:nvSpPr>
          <p:cNvPr id="223" name="Oval223"/>
          <p:cNvSpPr/>
          <p:nvPr/>
        </p:nvSpPr>
        <p:spPr>
          <a:xfrm>
            <a:off x="890649" y="1875000"/>
            <a:ext cx="700000" cy="70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4" name="Lbl224"/>
          <p:cNvSpPr txBox="1"/>
          <p:nvPr/>
        </p:nvSpPr>
        <p:spPr>
          <a:xfrm>
            <a:off x="890649" y="1875000"/>
            <a:ext cx="700000" cy="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400" b="1" dirty="0">
                <a:solidFill>
                  <a:srgbClr val="FFFFFF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225" name="Texto225"/>
          <p:cNvSpPr txBox="1"/>
          <p:nvPr/>
        </p:nvSpPr>
        <p:spPr>
          <a:xfrm>
            <a:off x="1910649" y="1600000"/>
            <a:ext cx="9390702" cy="12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s-CO" sz="16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Retrabajo (Rework)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3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Autor recibe la Lista Oficial de Anomalías y modifica el artefacto resolviendo cada punto registrado.</a:t>
            </a:r>
          </a:p>
        </p:txBody>
      </p:sp>
      <p:sp>
        <p:nvSpPr>
          <p:cNvPr id="226" name="Oval226"/>
          <p:cNvSpPr/>
          <p:nvPr/>
        </p:nvSpPr>
        <p:spPr>
          <a:xfrm>
            <a:off x="890649" y="3325000"/>
            <a:ext cx="700000" cy="70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7" name="Lbl227"/>
          <p:cNvSpPr txBox="1"/>
          <p:nvPr/>
        </p:nvSpPr>
        <p:spPr>
          <a:xfrm>
            <a:off x="890649" y="3325000"/>
            <a:ext cx="700000" cy="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400" b="1" dirty="0">
                <a:solidFill>
                  <a:srgbClr val="FFFFFF"/>
                </a:solidFill>
                <a:latin typeface="Arial" pitchFamily="34" charset="0"/>
              </a:rPr>
              <a:t>6</a:t>
            </a:r>
          </a:p>
        </p:txBody>
      </p:sp>
      <p:sp>
        <p:nvSpPr>
          <p:cNvPr id="228" name="Texto228"/>
          <p:cNvSpPr txBox="1"/>
          <p:nvPr/>
        </p:nvSpPr>
        <p:spPr>
          <a:xfrm>
            <a:off x="1910649" y="3050000"/>
            <a:ext cx="9390702" cy="12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s-CO" sz="16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Seguimiento y Cierre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3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Líder revisa la versión corregida, verifica que no se hayan introducido nuevos errores y firma el cierre de la inspección.</a:t>
            </a:r>
          </a:p>
        </p:txBody>
      </p:sp>
      <p:sp>
        <p:nvSpPr>
          <p:cNvPr id="229" name="Oval229"/>
          <p:cNvSpPr/>
          <p:nvPr/>
        </p:nvSpPr>
        <p:spPr>
          <a:xfrm>
            <a:off x="890649" y="4775000"/>
            <a:ext cx="700000" cy="70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30" name="Lbl230"/>
          <p:cNvSpPr txBox="1"/>
          <p:nvPr/>
        </p:nvSpPr>
        <p:spPr>
          <a:xfrm>
            <a:off x="890649" y="4775000"/>
            <a:ext cx="700000" cy="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400" b="1" dirty="0">
                <a:solidFill>
                  <a:srgbClr val="FFFFFF"/>
                </a:solidFill>
                <a:latin typeface="Arial" pitchFamily="34" charset="0"/>
              </a:rPr>
              <a:t>7</a:t>
            </a:r>
          </a:p>
        </p:txBody>
      </p:sp>
      <p:sp>
        <p:nvSpPr>
          <p:cNvPr id="231" name="Texto231"/>
          <p:cNvSpPr txBox="1"/>
          <p:nvPr/>
        </p:nvSpPr>
        <p:spPr>
          <a:xfrm>
            <a:off x="1910649" y="4500000"/>
            <a:ext cx="9390702" cy="125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s-CO" sz="160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Recolección de Datos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3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Se registran tiempo total invertido, líneas/páginas inspeccionadas, y número y severidad de anomalías, para mejorar checklists futuros.</a:t>
            </a:r>
          </a:p>
        </p:txBody>
      </p:sp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4B0D1-A52C-807B-B8B1-60684245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Cuadro Resumen General</a:t>
            </a:r>
          </a:p>
        </p:txBody>
      </p:sp>
      <p:graphicFrame>
        <p:nvGraphicFramePr>
          <p:cNvPr id="232" name="Tabla232"/>
          <p:cNvGraphicFramePr>
            <a:graphicFrameLocks noGrp="1"/>
          </p:cNvGraphicFramePr>
          <p:nvPr/>
        </p:nvGraphicFramePr>
        <p:xfrm>
          <a:off x="890649" y="1700000"/>
          <a:ext cx="10410702" cy="4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O" sz="12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Aspecto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Descripción</a:t>
                      </a:r>
                    </a:p>
                  </a:txBody>
                  <a:tcPr marL="45720" marR="45720" marT="22860" marB="22860" anchor="ctr">
                    <a:solidFill>
                      <a:srgbClr val="4EA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Estándar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IEEE Std 1028-2008 (Cláusula 6)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Grado de formalidad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Muy alto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Participantes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3 a 6 integrantes (Líder, Autor, Lector, Registrador, Inspectores)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Participación de gerencia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Estrictamente prohibida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Métricas y mejora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Mandatorio recolectar datos de esfuerzo y anomalías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Uso de checklists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Obligatorio</a:t>
                      </a:r>
                    </a:p>
                  </a:txBody>
                  <a:tcPr marL="45720" marR="45720" marT="22860" marB="22860" anchor="ctr">
                    <a:solidFill>
                      <a:srgbClr val="F3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Resultado final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200" b="0" dirty="0">
                          <a:solidFill>
                            <a:srgbClr val="3B3B3B"/>
                          </a:solidFill>
                          <a:latin typeface="Arial" pitchFamily="34" charset="0"/>
                        </a:rPr>
                        <a:t>Lista Oficial de Anomalías + Decisión de Salida (Accept / Rework / Reinspect)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999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4B89E7-BF84-D220-F58D-186B1540E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201"/>
          <p:cNvSpPr/>
          <p:nvPr/>
        </p:nvSpPr>
        <p:spPr>
          <a:xfrm>
            <a:off x="890649" y="1550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2" name="Rect202"/>
          <p:cNvSpPr/>
          <p:nvPr/>
        </p:nvSpPr>
        <p:spPr>
          <a:xfrm>
            <a:off x="890649" y="1550000"/>
            <a:ext cx="90000" cy="2235000"/>
          </a:xfrm>
          <a:prstGeom prst="roundRect">
            <a:avLst>
              <a:gd name="adj" fmla="val 0"/>
            </a:avLst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3" name="Texto203"/>
          <p:cNvSpPr txBox="1"/>
          <p:nvPr/>
        </p:nvSpPr>
        <p:spPr>
          <a:xfrm>
            <a:off x="1210649" y="1810000"/>
            <a:ext cx="4515351" cy="173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❓  ¿Por qué un proceso tan formal?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Un error hallado en producción puede costar hasta 100 veces más que corregirlo en etapas tempranas: la formalidad se justifica por ese ahorro.</a:t>
            </a:r>
          </a:p>
        </p:txBody>
      </p:sp>
      <p:sp>
        <p:nvSpPr>
          <p:cNvPr id="204" name="Rect204"/>
          <p:cNvSpPr/>
          <p:nvPr/>
        </p:nvSpPr>
        <p:spPr>
          <a:xfrm>
            <a:off x="6226000" y="1550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5" name="Rect205"/>
          <p:cNvSpPr/>
          <p:nvPr/>
        </p:nvSpPr>
        <p:spPr>
          <a:xfrm>
            <a:off x="6226000" y="1550000"/>
            <a:ext cx="90000" cy="2235000"/>
          </a:xfrm>
          <a:prstGeom prst="roundRect">
            <a:avLst>
              <a:gd name="adj" fmla="val 0"/>
            </a:avLst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6" name="Texto206"/>
          <p:cNvSpPr txBox="1"/>
          <p:nvPr/>
        </p:nvSpPr>
        <p:spPr>
          <a:xfrm>
            <a:off x="6546000" y="1810000"/>
            <a:ext cx="4515351" cy="173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❓  Formalidad vs. agilidad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La inspección IEEE 1028 es más rigurosa que un code review informal. ¿En qué proyectos se justifica ese esfuerzo adicional?</a:t>
            </a:r>
          </a:p>
        </p:txBody>
      </p:sp>
      <p:sp>
        <p:nvSpPr>
          <p:cNvPr id="207" name="Rect207"/>
          <p:cNvSpPr/>
          <p:nvPr/>
        </p:nvSpPr>
        <p:spPr>
          <a:xfrm>
            <a:off x="890649" y="4045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8" name="Rect208"/>
          <p:cNvSpPr/>
          <p:nvPr/>
        </p:nvSpPr>
        <p:spPr>
          <a:xfrm>
            <a:off x="890649" y="4045000"/>
            <a:ext cx="90000" cy="2235000"/>
          </a:xfrm>
          <a:prstGeom prst="roundRect">
            <a:avLst>
              <a:gd name="adj" fmla="val 0"/>
            </a:avLst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09" name="Texto209"/>
          <p:cNvSpPr txBox="1"/>
          <p:nvPr/>
        </p:nvSpPr>
        <p:spPr>
          <a:xfrm>
            <a:off x="1210649" y="4305000"/>
            <a:ext cx="4515351" cy="173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❓  El rol de las métricas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Los datos recolectados no buscan evaluar personas, sino mejorar los checklists y el proceso de desarrollo del equipo.</a:t>
            </a:r>
          </a:p>
        </p:txBody>
      </p:sp>
      <p:sp>
        <p:nvSpPr>
          <p:cNvPr id="210" name="Rect210"/>
          <p:cNvSpPr/>
          <p:nvPr/>
        </p:nvSpPr>
        <p:spPr>
          <a:xfrm>
            <a:off x="6226000" y="4045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11" name="Rect211"/>
          <p:cNvSpPr/>
          <p:nvPr/>
        </p:nvSpPr>
        <p:spPr>
          <a:xfrm>
            <a:off x="6226000" y="4045000"/>
            <a:ext cx="90000" cy="2235000"/>
          </a:xfrm>
          <a:prstGeom prst="roundRect">
            <a:avLst>
              <a:gd name="adj" fmla="val 0"/>
            </a:avLst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2" name="Texto212"/>
          <p:cNvSpPr txBox="1"/>
          <p:nvPr/>
        </p:nvSpPr>
        <p:spPr>
          <a:xfrm>
            <a:off x="6546000" y="4305000"/>
            <a:ext cx="4515351" cy="173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❓  Aplicación práctica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¿En qué tipo de proyectos —críticos en seguridad, financieros, alta concurrencia— sería indispensable aplicar este método?</a:t>
            </a:r>
          </a:p>
        </p:txBody>
      </p:sp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Discusión</a:t>
            </a:r>
          </a:p>
        </p:txBody>
      </p:sp>
      <p:sp>
        <p:nvSpPr>
          <p:cNvPr id="2" name="Rect201"/>
          <p:cNvSpPr/>
          <p:nvPr/>
        </p:nvSpPr>
        <p:spPr>
          <a:xfrm>
            <a:off x="890649" y="1550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" name="Oval202"/>
          <p:cNvSpPr/>
          <p:nvPr/>
        </p:nvSpPr>
        <p:spPr>
          <a:xfrm>
            <a:off x="1190649" y="1810000"/>
            <a:ext cx="480000" cy="4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" name="Lbl203"/>
          <p:cNvSpPr txBox="1"/>
          <p:nvPr/>
        </p:nvSpPr>
        <p:spPr>
          <a:xfrm>
            <a:off x="1190649" y="1810000"/>
            <a:ext cx="4800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?</a:t>
            </a:r>
          </a:p>
        </p:txBody>
      </p:sp>
      <p:sp>
        <p:nvSpPr>
          <p:cNvPr id="5" name="Texto204"/>
          <p:cNvSpPr txBox="1"/>
          <p:nvPr/>
        </p:nvSpPr>
        <p:spPr>
          <a:xfrm>
            <a:off x="1190649" y="2410000"/>
            <a:ext cx="4475351" cy="118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¿Por qué un proceso tan formal?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Un error hallado en producción puede costar hasta 100 veces más que corregirlo en etapas tempranas: la formalidad se justifica por ese ahorro.</a:t>
            </a:r>
          </a:p>
        </p:txBody>
      </p:sp>
      <p:sp>
        <p:nvSpPr>
          <p:cNvPr id="6" name="Rect205"/>
          <p:cNvSpPr/>
          <p:nvPr/>
        </p:nvSpPr>
        <p:spPr>
          <a:xfrm>
            <a:off x="6226000" y="1550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" name="Oval206"/>
          <p:cNvSpPr/>
          <p:nvPr/>
        </p:nvSpPr>
        <p:spPr>
          <a:xfrm>
            <a:off x="6526000" y="1810000"/>
            <a:ext cx="480000" cy="4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" name="Lbl207"/>
          <p:cNvSpPr txBox="1"/>
          <p:nvPr/>
        </p:nvSpPr>
        <p:spPr>
          <a:xfrm>
            <a:off x="6526000" y="1810000"/>
            <a:ext cx="4800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?</a:t>
            </a:r>
          </a:p>
        </p:txBody>
      </p:sp>
      <p:sp>
        <p:nvSpPr>
          <p:cNvPr id="9" name="Texto208"/>
          <p:cNvSpPr txBox="1"/>
          <p:nvPr/>
        </p:nvSpPr>
        <p:spPr>
          <a:xfrm>
            <a:off x="6526000" y="2410000"/>
            <a:ext cx="4475351" cy="118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Formalidad vs. agilidad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La inspección IEEE 1028 es más rigurosa que un code review informal. ¿En qué proyectos se justifica ese esfuerzo adicional?</a:t>
            </a:r>
          </a:p>
        </p:txBody>
      </p:sp>
      <p:sp>
        <p:nvSpPr>
          <p:cNvPr id="10" name="Rect209"/>
          <p:cNvSpPr/>
          <p:nvPr/>
        </p:nvSpPr>
        <p:spPr>
          <a:xfrm>
            <a:off x="890649" y="4045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" name="Oval210"/>
          <p:cNvSpPr/>
          <p:nvPr/>
        </p:nvSpPr>
        <p:spPr>
          <a:xfrm>
            <a:off x="1190649" y="4305000"/>
            <a:ext cx="480000" cy="4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" name="Lbl211"/>
          <p:cNvSpPr txBox="1"/>
          <p:nvPr/>
        </p:nvSpPr>
        <p:spPr>
          <a:xfrm>
            <a:off x="1190649" y="4305000"/>
            <a:ext cx="4800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?</a:t>
            </a:r>
          </a:p>
        </p:txBody>
      </p:sp>
      <p:sp>
        <p:nvSpPr>
          <p:cNvPr id="13" name="Texto212"/>
          <p:cNvSpPr txBox="1"/>
          <p:nvPr/>
        </p:nvSpPr>
        <p:spPr>
          <a:xfrm>
            <a:off x="1190649" y="4905000"/>
            <a:ext cx="4475351" cy="118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El rol de las métricas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Los datos recolectados no buscan evaluar personas, sino mejorar los checklists y el proceso de desarrollo del equipo.</a:t>
            </a:r>
          </a:p>
        </p:txBody>
      </p:sp>
      <p:sp>
        <p:nvSpPr>
          <p:cNvPr id="213" name="Rect213"/>
          <p:cNvSpPr/>
          <p:nvPr/>
        </p:nvSpPr>
        <p:spPr>
          <a:xfrm>
            <a:off x="6226000" y="4045000"/>
            <a:ext cx="5075351" cy="22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14" name="Oval214"/>
          <p:cNvSpPr/>
          <p:nvPr/>
        </p:nvSpPr>
        <p:spPr>
          <a:xfrm>
            <a:off x="6526000" y="4305000"/>
            <a:ext cx="480000" cy="48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5" name="Lbl215"/>
          <p:cNvSpPr txBox="1"/>
          <p:nvPr/>
        </p:nvSpPr>
        <p:spPr>
          <a:xfrm>
            <a:off x="6526000" y="4305000"/>
            <a:ext cx="4800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?</a:t>
            </a:r>
          </a:p>
        </p:txBody>
      </p:sp>
      <p:sp>
        <p:nvSpPr>
          <p:cNvPr id="216" name="Texto216"/>
          <p:cNvSpPr txBox="1"/>
          <p:nvPr/>
        </p:nvSpPr>
        <p:spPr>
          <a:xfrm>
            <a:off x="6526000" y="4905000"/>
            <a:ext cx="4475351" cy="1185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Aplicación práctica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5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¿En qué tipo de proyectos —críticos en seguridad, financieros, alta concurrencia— sería indispensable aplicar este método?</a:t>
            </a:r>
          </a:p>
        </p:txBody>
      </p:sp>
    </p:spTree>
    <p:extLst>
      <p:ext uri="{BB962C8B-B14F-4D97-AF65-F5344CB8AC3E}">
        <p14:creationId xmlns:p14="http://schemas.microsoft.com/office/powerpoint/2010/main" val="2661823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41F98-A0F1-7679-5E1A-51AB2E049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ulo"/>
          <p:cNvSpPr txBox="1"/>
          <p:nvPr/>
        </p:nvSpPr>
        <p:spPr>
          <a:xfrm>
            <a:off x="890649" y="890649"/>
            <a:ext cx="10410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Conclusiones</a:t>
            </a:r>
          </a:p>
        </p:txBody>
      </p:sp>
      <p:sp>
        <p:nvSpPr>
          <p:cNvPr id="213" name="Oval213"/>
          <p:cNvSpPr/>
          <p:nvPr/>
        </p:nvSpPr>
        <p:spPr>
          <a:xfrm>
            <a:off x="890649" y="158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4" name="Lbl214"/>
          <p:cNvSpPr txBox="1"/>
          <p:nvPr/>
        </p:nvSpPr>
        <p:spPr>
          <a:xfrm>
            <a:off x="890649" y="158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✓</a:t>
            </a:r>
          </a:p>
        </p:txBody>
      </p:sp>
      <p:sp>
        <p:nvSpPr>
          <p:cNvPr id="215" name="Texto215"/>
          <p:cNvSpPr txBox="1"/>
          <p:nvPr/>
        </p:nvSpPr>
        <p:spPr>
          <a:xfrm>
            <a:off x="1690649" y="1550000"/>
            <a:ext cx="9610702" cy="7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Rigor excepcional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La inspección IEEE 1028 es una de las técnicas de verificación más formales, solo superada por las auditorías.</a:t>
            </a:r>
          </a:p>
        </p:txBody>
      </p:sp>
      <p:sp>
        <p:nvSpPr>
          <p:cNvPr id="216" name="Oval216"/>
          <p:cNvSpPr/>
          <p:nvPr/>
        </p:nvSpPr>
        <p:spPr>
          <a:xfrm>
            <a:off x="890649" y="246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17" name="Lbl217"/>
          <p:cNvSpPr txBox="1"/>
          <p:nvPr/>
        </p:nvSpPr>
        <p:spPr>
          <a:xfrm>
            <a:off x="890649" y="246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✓</a:t>
            </a:r>
          </a:p>
        </p:txBody>
      </p:sp>
      <p:sp>
        <p:nvSpPr>
          <p:cNvPr id="218" name="Texto218"/>
          <p:cNvSpPr txBox="1"/>
          <p:nvPr/>
        </p:nvSpPr>
        <p:spPr>
          <a:xfrm>
            <a:off x="1690649" y="2430000"/>
            <a:ext cx="9610702" cy="7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Estructura clara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Sus etapas y roles definidos garantizan objetividad, trazabilidad y ausencia de sesgos personales.</a:t>
            </a:r>
          </a:p>
        </p:txBody>
      </p:sp>
      <p:sp>
        <p:nvSpPr>
          <p:cNvPr id="219" name="Oval219"/>
          <p:cNvSpPr/>
          <p:nvPr/>
        </p:nvSpPr>
        <p:spPr>
          <a:xfrm>
            <a:off x="890649" y="334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0" name="Lbl220"/>
          <p:cNvSpPr txBox="1"/>
          <p:nvPr/>
        </p:nvSpPr>
        <p:spPr>
          <a:xfrm>
            <a:off x="890649" y="334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✓</a:t>
            </a:r>
          </a:p>
        </p:txBody>
      </p:sp>
      <p:sp>
        <p:nvSpPr>
          <p:cNvPr id="221" name="Texto221"/>
          <p:cNvSpPr txBox="1"/>
          <p:nvPr/>
        </p:nvSpPr>
        <p:spPr>
          <a:xfrm>
            <a:off x="1690649" y="3310000"/>
            <a:ext cx="9610702" cy="7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Ahorro real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La detección temprana de errores reduce drásticamente los costos de corrección frente a hallarlos en producción.</a:t>
            </a:r>
          </a:p>
        </p:txBody>
      </p:sp>
      <p:sp>
        <p:nvSpPr>
          <p:cNvPr id="222" name="Oval222"/>
          <p:cNvSpPr/>
          <p:nvPr/>
        </p:nvSpPr>
        <p:spPr>
          <a:xfrm>
            <a:off x="890649" y="422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3" name="Lbl223"/>
          <p:cNvSpPr txBox="1"/>
          <p:nvPr/>
        </p:nvSpPr>
        <p:spPr>
          <a:xfrm>
            <a:off x="890649" y="422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✓</a:t>
            </a:r>
          </a:p>
        </p:txBody>
      </p:sp>
      <p:sp>
        <p:nvSpPr>
          <p:cNvPr id="224" name="Texto224"/>
          <p:cNvSpPr txBox="1"/>
          <p:nvPr/>
        </p:nvSpPr>
        <p:spPr>
          <a:xfrm>
            <a:off x="1690649" y="4190000"/>
            <a:ext cx="9610702" cy="7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Mejora continua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El registro sistemático de métricas impulsa la evolución de checklists y procesos de desarrollo futuros.</a:t>
            </a:r>
          </a:p>
        </p:txBody>
      </p:sp>
      <p:sp>
        <p:nvSpPr>
          <p:cNvPr id="225" name="Oval225"/>
          <p:cNvSpPr/>
          <p:nvPr/>
        </p:nvSpPr>
        <p:spPr>
          <a:xfrm>
            <a:off x="890649" y="5100000"/>
            <a:ext cx="520000" cy="52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26" name="Lbl226"/>
          <p:cNvSpPr txBox="1"/>
          <p:nvPr/>
        </p:nvSpPr>
        <p:spPr>
          <a:xfrm>
            <a:off x="890649" y="5100000"/>
            <a:ext cx="52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s-CO" sz="2000" b="1" dirty="0">
                <a:solidFill>
                  <a:srgbClr val="FFFFFF"/>
                </a:solidFill>
                <a:latin typeface="Arial" pitchFamily="34" charset="0"/>
              </a:rPr>
              <a:t>✓</a:t>
            </a:r>
          </a:p>
        </p:txBody>
      </p:sp>
      <p:sp>
        <p:nvSpPr>
          <p:cNvPr id="227" name="Texto227"/>
          <p:cNvSpPr txBox="1"/>
          <p:nvPr/>
        </p:nvSpPr>
        <p:spPr>
          <a:xfrm>
            <a:off x="1690649" y="5070000"/>
            <a:ext cx="9610702" cy="7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spcBef>
                <a:spcPts val="300"/>
              </a:spcBef>
              <a:buNone/>
            </a:pPr>
            <a:r>
              <a:rPr lang="es-CO" sz="1450" b="1" i="0" dirty="0">
                <a:solidFill>
                  <a:srgbClr val="0E2841"/>
                </a:solidFill>
                <a:latin typeface="Arial" pitchFamily="34" charset="0"/>
                <a:cs typeface="Arial" pitchFamily="34" charset="0"/>
              </a:rPr>
              <a:t>Disciplina necesaria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s-CO" sz="1200" b="0" i="0" dirty="0">
                <a:solidFill>
                  <a:srgbClr val="3B3B3B"/>
                </a:solidFill>
                <a:latin typeface="Arial" pitchFamily="34" charset="0"/>
                <a:cs typeface="Arial" pitchFamily="34" charset="0"/>
              </a:rPr>
              <a:t>Aplicarla bien exige preparación individual seria, uso constante de checklists y ausencia de gerencia en la sala.</a:t>
            </a:r>
          </a:p>
        </p:txBody>
      </p:sp>
    </p:spTree>
    <p:extLst>
      <p:ext uri="{BB962C8B-B14F-4D97-AF65-F5344CB8AC3E}">
        <p14:creationId xmlns:p14="http://schemas.microsoft.com/office/powerpoint/2010/main" val="2711954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6607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1639</Words>
  <Application>Microsoft Office PowerPoint</Application>
  <PresentationFormat>Panorámica</PresentationFormat>
  <Paragraphs>234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Correa Ramirez</dc:creator>
  <cp:lastModifiedBy>Andres Felipe Velez Alcaraz</cp:lastModifiedBy>
  <cp:revision>5</cp:revision>
  <dcterms:created xsi:type="dcterms:W3CDTF">2025-01-15T15:12:02Z</dcterms:created>
  <dcterms:modified xsi:type="dcterms:W3CDTF">2026-08-12T03:06:59Z</dcterms:modified>
</cp:coreProperties>
</file>