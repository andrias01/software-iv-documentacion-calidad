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2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4" r:id="rId24"/>
    <p:sldId id="285" r:id="rId25"/>
    <p:sldId id="286" r:id="rId26"/>
    <p:sldId id="287" r:id="rId27"/>
    <p:sldId id="288" r:id="rId28"/>
    <p:sldId id="290" r:id="rId29"/>
    <p:sldId id="291" r:id="rId30"/>
    <p:sldId id="292" r:id="rId31"/>
    <p:sldId id="29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 (15 s). Saluda, preséntate y lee el subtítulo. No te quedes aquí: el gancho viene en la diapositiva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(20 s). Señala los cinco bloques con el dedo, rápido. Remata con la frase del recuadro azul: es la promesa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GANCHO (45 s). Haz la pregunta EN VOZ ALTA y espera. Que levanten la mano. Casi todos la levantan, y ahí ya tienes su atención. Luego lee la frase del recuadro ámbar: es la tesis de toda la charla.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No leas las ocho viñetas. Lee dos de cada lado y contrástalas: «sin registro del porqué» contra «trazabilidad». Cierra con la frase morada.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Usa las manos: una puerta que se abre y se cierra, otra que solo va hacia adelante. La imagen se les queda. Y deja claro que DAR es SOLO para la segunda.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Recita las SEIS PREGUNTAS, no los títulos. Es lo que se les queda. Anuncia que vas a volver a este esquema cuando hables de 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Suelta la definición del recuadro morado tal cual. Luego los tres beneficios, uno por uno, SIN leer el detalle. Cierra citando la versión V3.0 de 2023: el dato concreto demuestra que estudiaste.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 s. Lee la escalera de ABAJO HACIA ARRIBA. Cuando llegues al 3, TOCA LA PANTALLA y di: «aquí es donde vive nuestro tema». Esa es la bisagra de toda la exposición. Ten lista la respuesta del recuadro ámbar.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70 s. ESTA ES LA DIAPOSITIVA MÁS IMPORTANTE. No la corras. Di primero la versión morada (la humana), haz una pausa, y después la formal. Si solo memorizas un párrafo en toda la exposición, que sea el del recuadro ámbar.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35 s. Enlaza con la diapositiva de las dos puertas: «¿se acuerdan de la puerta de una sola vía? Pues ESA es la que activa DAR».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 s. Agrupa: «las dos primeras preparan, las dos del medio ejecutan, las dos últimas cierran». No leas los seis detalles. Detente en la 2 (los pesos) y en la 6 (documentar).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Lo que hay que dejar clarísimo es la diferencia mitigación / contingencia: «mitigar es que no pase; contingencia es qué hago si igual pasa». Cierra con la conexión: sin RSKM, el criterio de riesgo sería una corazonada.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55 s. El contraste reactivo/preventivo es lo que se entiende de una. Y guárdate para el final el dato de que CAR también sirve para los éxitos: es contraintuitivo y siempre sorprende.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Detente en la 9001 (el principio) y en la 25010 (los criterios); las otras dos menciónalas al vuelo. El cierre es la convergencia: CMMI e ISO dicen lo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Escribe la fórmula en el aire con el dedo mientras la dices. Anuncia la trampa del final: es lo que justifica la siguiente diapositiva (AHP).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Señala la fila de personalización: «miren, aquí gana la opción 2… y aun así pierde». Haz una pausa. Deja que caiga la ficha. Ese es el momento de aprendizaje de la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La idea central en una frase: «en lugar de adivinar si el costo vale 40 %, AHP me pregunta de a dos: ¿cuánto más importante es la seguridad que el costo?». Menciona la escala sin leer los cinco escalones.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El ejemplo de la incoherencia (A&gt;B&gt;C&gt;A) explícalo con las manos. Todo el mundo lo entiende y nadie lo olvida. Aclara que el AHP lo mencionas pero NO lo vas a usar en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La franja del flujo es lo importante: recórrela con el dedo de izquierda a derecha mientras dices la frase morada. Las tres tarjetas de arriba menciónalas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Presenta las tres alternativas de forma NEUTRAL, sin decir cuál te gusta. La gracia es que el público empiece a apostar mentalmente por una antes de ver la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Recorre la columna de pesos primero («seguridad 5, tiempo 4»), y SOLO DESPUÉS revela los totales. Pregunta al público si acertaron con su apuesta 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55 s. Señala el empate 5-5 en consistencia y luego el 1 de Oracle en costo. Ahí se ve, en un solo golpe de vista, cómo los pesos deciden. Menciona el código del acta: es el detalle que suena a empresa de verdad.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s. Diapositiva de respiro. Cambia el tono de voz: hasta aquí explicabas, ahora diriges. Ponte de pie donde te vean todos y abre el Modo taller de la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min. Lee el problema EN VOZ ALTA y despacio. Da las instrucciones del recuadro azul. Si usas el QR, proyéctalo ahora y da 30 segundos para que lo escaneen. Ítems 11 y 12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min. ESTA ES LA PARTE QUE MÁS PUNTÚA: aquí es donde participan de verdad. Escribe los criterios en la matriz de la web mientras los dicen. REPITE EN VOZ ALTA lo que diga cada persona: los de atrás no oyen. Y corta la lista en cuatro criterios, amable pero firme, o se te va el tiempo del taller. Ítems 13 y 14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min. 30 segundos por alternativa, sin opinar cuál te gusta. El recuadro ámbar es la clave pedagógica del taller: dilo despacio. Ítem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min. Es la parte más mecánica: no la alargues. Un criterio a la vez, las tres alternativas seguidas. Si alguien discute una nota, deja que la discutan 30 segundos: eso es exactamente lo que se busca. TRUCO: ve narrando lo que ves mientras escribes («ojo, Flutter va subiendo»): genera expectativa y nadie se distrae. Ítems 16 y 17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min. ESTE CIERRE ES EL ÍTEM 20 DE LA RÚBRICA y es de los más fáciles de ganar: solo hay que acordarse de hacerlo. Recorre los cuatro pasos señalando la pantalla y remata con el recuadro ámbar MIRANDO AL PÚBLICO, no a la pantalla. Termina con la pregunta abierta y espera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s. Tres conclusiones, tres niveles: proyecto, empresa, nosotros. Y cierras con el lema, que es como abriste. Círculo cerrado.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s. No la leas. Solo di «las fuentes están citadas en APA» y pasa. IMPORTANTE: antes de exponer, reemplaza el recuadro punteado por el artículo científico o trabajo de grado que exige la actividad, citado en 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Quédate en esta diapositiva durante las preguntas. Repasa antes la lista de preguntas trampa de la sección 16 de la web: CMMI vs ISO, ¿DAR siempre?, ¿y si me invento los pesos?, ¿quién decide los criterios?, ¿se certifica o se evalúa?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617720" y="0"/>
            <a:ext cx="82296" cy="685800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3375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1" i="0">
                <a:solidFill>
                  <a:srgbClr val="C8DCF5"/>
                </a:solidFill>
                <a:latin typeface="Segoe UI"/>
              </a:rPr>
              <a:t>SOFTWARE IV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Andrés Felipe Vélez Alcaraz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250" b="0" i="0">
                <a:solidFill>
                  <a:srgbClr val="C8DCF5"/>
                </a:solidFill>
                <a:latin typeface="Segoe UI"/>
              </a:rPr>
              <a:t>Código 1017245136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9EC2EC"/>
                </a:solidFill>
                <a:latin typeface="Segoe UI"/>
              </a:rPr>
              <a:t>Docente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Luz Mery Ríos Alzate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CF5"/>
                </a:solidFill>
                <a:latin typeface="Segoe UI"/>
              </a:rPr>
              <a:t>Ingeniería de Sistemas · 9.º semestre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783080"/>
            <a:ext cx="6126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C17C16"/>
                </a:solidFill>
                <a:latin typeface="Segoe UI"/>
              </a:rPr>
              <a:t>TOMA DE DECISIONES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141E29"/>
                </a:solidFill>
                <a:latin typeface="Segoe UI Semibold"/>
              </a:rPr>
              <a:t>Toma de decisiones en
ingeniería de software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2566A"/>
                </a:solidFill>
                <a:latin typeface="Segoe UI"/>
              </a:rPr>
              <a:t>Cómo analizar, comparar y justificar decisiones técnicas usando </a:t>
            </a:r>
            <a:r>
              <a:rPr sz="1600" b="1" i="0">
                <a:solidFill>
                  <a:srgbClr val="141E29"/>
                </a:solidFill>
                <a:latin typeface="Segoe UI"/>
              </a:rPr>
              <a:t>CMMI</a:t>
            </a:r>
            <a:r>
              <a:rPr sz="1600" b="0" i="0">
                <a:solidFill>
                  <a:srgbClr val="42566A"/>
                </a:solidFill>
                <a:latin typeface="Segoe UI"/>
              </a:rPr>
              <a:t> y las normas </a:t>
            </a:r>
            <a:r>
              <a:rPr sz="1600" b="1" i="0">
                <a:solidFill>
                  <a:srgbClr val="141E29"/>
                </a:solidFill>
                <a:latin typeface="Segoe UI"/>
              </a:rPr>
              <a:t>ISO</a:t>
            </a:r>
            <a:r>
              <a:rPr sz="1600" b="0" i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4800600"/>
            <a:ext cx="1097280" cy="50292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5074920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7A0"/>
                </a:solidFill>
                <a:latin typeface="Segoe UI Semibold"/>
              </a:rPr>
              <a:t>Decisión basada en evidencia, no solo en opinión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4BE4498-0D3F-1576-33BC-B6D57D7D4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33" y="229835"/>
            <a:ext cx="2383090" cy="23749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De qué vamos a hablar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02996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9536" y="23591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26080"/>
            <a:ext cx="1645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El problema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Por qué decidir bien no es cuestión de suerte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2148840"/>
            <a:ext cx="202996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63240" y="23591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645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CMMI y DAR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El modelo de madurez y el proceso formal de decisión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148840"/>
            <a:ext cx="202996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66944" y="23591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926080"/>
            <a:ext cx="1645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Las normas ISO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9001, 25010, 12207: el respaldo normativo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148840"/>
            <a:ext cx="202996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70648" y="23591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926080"/>
            <a:ext cx="1645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Los métodos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Matriz ponderada, AHP y técnicas de apoyo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2148840"/>
            <a:ext cx="202996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74352" y="23591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2926080"/>
            <a:ext cx="1645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Casos y taller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Dos casos resueltos y una decisión que tomamos entre todos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54880"/>
            <a:ext cx="10874959" cy="91440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57A0"/>
                </a:solidFill>
                <a:latin typeface="Segoe UI Semibold"/>
              </a:rPr>
              <a:t>Al final del taller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Vamos a haber tomado una decisión real, entre todos, con el mismo proceso que usa una empresa evaluada en CMMI nivel 3. Y va a quedar documentada.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PROBLEMA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¿Cómo decidimos hoy?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58064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</a:pPr>
            <a:r>
              <a:rPr sz="2100" b="1" i="0">
                <a:solidFill>
                  <a:srgbClr val="141E29"/>
                </a:solidFill>
                <a:latin typeface="Segoe UI Semibold"/>
              </a:rPr>
              <a:t>«¿Cuántos han elegido una tecnología solo porque era la que ya conocían?»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2566A"/>
                </a:solidFill>
                <a:latin typeface="Segoe UI"/>
              </a:rPr>
              <a:t>En un proyecto de software se decide todo el tiempo: qué arquitectura usar, qué framework, qué proveedor contratar, cuándo liberar. </a:t>
            </a:r>
            <a:r>
              <a:rPr sz="1500" b="1" i="0">
                <a:solidFill>
                  <a:srgbClr val="141E29"/>
                </a:solidFill>
                <a:latin typeface="Segoe UI"/>
              </a:rPr>
              <a:t>La calidad del producto depende, en buena parte, de la calidad de esas decisiones</a:t>
            </a:r>
            <a:r>
              <a:rPr sz="1500" b="0" i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349240"/>
            <a:ext cx="10874959" cy="685800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La idea que sostiene todo el tema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Tomar buenas decisiones no es adivinar bien: es seguir un proceso.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8D2243-437E-4181-9EF0-B75FF8C1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95" y="1767840"/>
            <a:ext cx="4754880" cy="31699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PROBLEMA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Decidir sin método y decidir con método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5303520" cy="2788920"/>
          </a:xfrm>
          <a:prstGeom prst="roundRect">
            <a:avLst>
              <a:gd name="adj" fmla="val 5000"/>
            </a:avLst>
          </a:prstGeom>
          <a:solidFill>
            <a:srgbClr val="F7E4E2"/>
          </a:solidFill>
          <a:ln w="12700">
            <a:solidFill>
              <a:srgbClr val="C04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C0483C"/>
                </a:solidFill>
                <a:latin typeface="Segoe UI Semibold"/>
              </a:rPr>
              <a:t>Sin método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483C"/>
                </a:solidFill>
                <a:latin typeface="Segoe UI"/>
              </a:rPr>
              <a:t>✕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Se elige lo de siempre, o lo que suena mejor.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483C"/>
                </a:solidFill>
                <a:latin typeface="Segoe UI"/>
              </a:rPr>
              <a:t>✕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No queda registro del porqué.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483C"/>
                </a:solidFill>
                <a:latin typeface="Segoe UI"/>
              </a:rPr>
              <a:t>✕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Difícil de defender ante el cliente o el equipo.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C0483C"/>
                </a:solidFill>
                <a:latin typeface="Segoe UI"/>
              </a:rPr>
              <a:t>✕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Se repiten los mismos errores en otros proyectos.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2148840"/>
            <a:ext cx="5303520" cy="2788920"/>
          </a:xfrm>
          <a:prstGeom prst="roundRect">
            <a:avLst>
              <a:gd name="adj" fmla="val 5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B8A6D"/>
                </a:solidFill>
                <a:latin typeface="Segoe UI Semibold"/>
              </a:rPr>
              <a:t>Con método (CMMI / ISO)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B8A6D"/>
                </a:solidFill>
                <a:latin typeface="Segoe UI"/>
              </a:rPr>
              <a:t>✓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Se comparan alternativas contra criterios.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B8A6D"/>
                </a:solidFill>
                <a:latin typeface="Segoe UI"/>
              </a:rPr>
              <a:t>✓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Se apoya en datos e indicadores.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B8A6D"/>
                </a:solidFill>
                <a:latin typeface="Segoe UI"/>
              </a:rPr>
              <a:t>✓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Queda trazabilidad: se documenta la justificación.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2B8A6D"/>
                </a:solidFill>
                <a:latin typeface="Segoe UI"/>
              </a:rPr>
              <a:t>✓   </a:t>
            </a:r>
            <a:r>
              <a:rPr sz="1350" b="0" i="0">
                <a:solidFill>
                  <a:srgbClr val="42566A"/>
                </a:solidFill>
                <a:latin typeface="Segoe UI"/>
              </a:rPr>
              <a:t>Reduce el riesgo y la subjetividad.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6636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5479F"/>
                </a:solidFill>
                <a:latin typeface="Segoe UI"/>
              </a:rPr>
              <a:t>LA IDEA EN UNA FRASE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E29"/>
                </a:solidFill>
                <a:latin typeface="Segoe UI Semibold"/>
              </a:rPr>
              <a:t>«Los modelos y las normas existen para convertir la decisión en un proceso repetible, objetivo y documentado.»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276088"/>
            <a:ext cx="54864" cy="694944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PROBLEMA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No toda decisión pesa lo mismo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7432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6032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1E29"/>
                </a:solidFill>
                <a:latin typeface="Segoe UI Semibold"/>
              </a:rPr>
              <a:t>Puerta de dos vías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2B8A6D"/>
                </a:solidFill>
                <a:latin typeface="Segoe UI"/>
              </a:rPr>
              <a:t>Reversible · bajo impacto · decide rápido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2566A"/>
                </a:solidFill>
                <a:latin typeface="Segoe UI"/>
              </a:rPr>
              <a:t>Si sale mal, se devuelve y se corrige. El nombre de una variable, el color de un botón, qué librería de fechas usar.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"/>
              </a:rPr>
              <a:t>Basta una conversación de cinco minutos.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43200"/>
            <a:ext cx="5303520" cy="82296"/>
          </a:xfrm>
          <a:prstGeom prst="rect">
            <a:avLst/>
          </a:prstGeom>
          <a:solidFill>
            <a:srgbClr val="2B8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27064" y="27432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56032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1E29"/>
                </a:solidFill>
                <a:latin typeface="Segoe UI Semibold"/>
              </a:rPr>
              <a:t>Puerta de una sola vía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0483C"/>
                </a:solidFill>
                <a:latin typeface="Segoe UI"/>
              </a:rPr>
              <a:t>Difícil de revertir · alto impacto · aplica DAR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2566A"/>
                </a:solidFill>
                <a:latin typeface="Segoe UI"/>
              </a:rPr>
              <a:t>Afecta costo, calidad, plazo o riesgo. El motor de base de datos, el proveedor de nube, el modelo de autenticación.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"/>
              </a:rPr>
              <a:t>Aquí sí se justifica un proceso formal.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2743200"/>
            <a:ext cx="5303520" cy="82296"/>
          </a:xfrm>
          <a:prstGeom prst="rect">
            <a:avLst/>
          </a:prstGeom>
          <a:solidFill>
            <a:srgbClr val="C04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5212080"/>
            <a:ext cx="10874959" cy="822960"/>
          </a:xfrm>
          <a:prstGeom prst="roundRect">
            <a:avLst>
              <a:gd name="adj" fmla="val 7000"/>
            </a:avLst>
          </a:prstGeom>
          <a:solidFill>
            <a:srgbClr val="F7E4E2"/>
          </a:solidFill>
          <a:ln w="12700">
            <a:solidFill>
              <a:srgbClr val="C04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483C"/>
                </a:solidFill>
                <a:latin typeface="Segoe UI Semibold"/>
              </a:rPr>
              <a:t>El error clásico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Aplicar el proceso formal a TODO paraliza al equipo; no aplicarlo NUNCA deja al equipo a merced de la intuición. La madurez está en saber cuál de las dos puertas tienes enfrente.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MARCO GENERAL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Los 6 pasos de una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277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dirty="0">
                <a:solidFill>
                  <a:srgbClr val="42566A"/>
                </a:solidFill>
                <a:latin typeface="Segoe UI"/>
              </a:rPr>
              <a:t>Seis </a:t>
            </a:r>
            <a:r>
              <a:rPr lang="es-CO" sz="1550" b="0" i="0" dirty="0">
                <a:solidFill>
                  <a:srgbClr val="42566A"/>
                </a:solidFill>
                <a:latin typeface="Segoe UI"/>
              </a:rPr>
              <a:t>preguntas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80360"/>
            <a:ext cx="169057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3063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84448"/>
            <a:ext cx="136138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Contexto y objetivos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75549"/>
                </a:solidFill>
                <a:latin typeface="Segoe UI"/>
              </a:rPr>
              <a:t>¿Qué decido
y para qué?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371801" y="3776472"/>
            <a:ext cx="100584" cy="164592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95245" y="2880360"/>
            <a:ext cx="169057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59837" y="3063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9837" y="3584448"/>
            <a:ext cx="136138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Alternativas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F8A3C"/>
                </a:solidFill>
                <a:latin typeface="Segoe UI"/>
              </a:rPr>
              <a:t>¿Qué opciones
tengo?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208678" y="3776472"/>
            <a:ext cx="100584" cy="164592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32122" y="2880360"/>
            <a:ext cx="169057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6714" y="3063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E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6714" y="3584448"/>
            <a:ext cx="136138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Evidencia y datos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EB138"/>
                </a:solidFill>
                <a:latin typeface="Segoe UI"/>
              </a:rPr>
              <a:t>¿Qué sé
de verdad?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6045555" y="3776472"/>
            <a:ext cx="100584" cy="164592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68999" y="2880360"/>
            <a:ext cx="169057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33591" y="3063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584448"/>
            <a:ext cx="136138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Análisis y evaluación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AA057"/>
                </a:solidFill>
                <a:latin typeface="Segoe UI"/>
              </a:rPr>
              <a:t>¿Cuál
conviene?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7882432" y="3776472"/>
            <a:ext cx="100584" cy="164592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5876" y="2880360"/>
            <a:ext cx="169057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70468" y="3063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0468" y="3584448"/>
            <a:ext cx="136138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Decisión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¿Cuál elijo
y por qué?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9719310" y="3776472"/>
            <a:ext cx="100584" cy="164592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42754" y="2880360"/>
            <a:ext cx="169057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007346" y="306324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7346" y="3584448"/>
            <a:ext cx="136138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Seguimiento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8A7D"/>
                </a:solidFill>
                <a:latin typeface="Segoe UI"/>
              </a:rPr>
              <a:t>¿Funcionó?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MODELO DE REFERENCIA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CMMI: qué es y para qué sirve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0874959" cy="96012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5479F"/>
                </a:solidFill>
                <a:latin typeface="Segoe UI"/>
              </a:rPr>
              <a:t>LA DEFINICIÓN, EN UNA FRASE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E29"/>
                </a:solidFill>
                <a:latin typeface="Segoe UI Semibold"/>
              </a:rPr>
              <a:t>«CMMI es un modelo de calidad que sirve para evaluar y mejorar los procesos de una empresa.»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58568"/>
            <a:ext cx="54864" cy="740664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2566A"/>
                </a:solidFill>
                <a:latin typeface="Segoe UI"/>
              </a:rPr>
              <a:t>En palabras sencillas: un </a:t>
            </a:r>
            <a:r>
              <a:rPr sz="1450" b="1" i="0">
                <a:solidFill>
                  <a:srgbClr val="141E29"/>
                </a:solidFill>
                <a:latin typeface="Segoe UI"/>
              </a:rPr>
              <a:t>manual de buenas prácticas</a:t>
            </a:r>
            <a:r>
              <a:rPr sz="1450" b="0" i="0">
                <a:solidFill>
                  <a:srgbClr val="42566A"/>
                </a:solidFill>
                <a:latin typeface="Segoe UI"/>
              </a:rPr>
              <a:t> para que una organización trabaje de forma más ordenada, eficiente y con menos errores. Nació para la industria del software, pero hoy se aplica a cualquier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14800"/>
            <a:ext cx="3503066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Reducir errores y costos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Con procesos ordenados se pierde menos tiempo corrigiendo fallas.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242816"/>
            <a:ext cx="50292" cy="1161288"/>
          </a:xfrm>
          <a:prstGeom prst="rect">
            <a:avLst/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4314" y="4114800"/>
            <a:ext cx="3503066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Cumplir tiempos y presupuesto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Los proyectos no se retrasan ni salen más caros de lo planeado.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314" y="4242816"/>
            <a:ext cx="50292" cy="1161288"/>
          </a:xfrm>
          <a:prstGeom prst="rect">
            <a:avLst/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30260" y="4114800"/>
            <a:ext cx="3503066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Predecir resultados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Saber con alta certeza cómo va a salir un proyecto antes de empezarlo.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0260" y="4242816"/>
            <a:ext cx="50292" cy="1161288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576072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697C8F"/>
                </a:solidFill>
                <a:latin typeface="Segoe UI"/>
              </a:rPr>
              <a:t>Creado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697C8F"/>
                </a:solidFill>
                <a:latin typeface="Segoe UI"/>
              </a:rPr>
              <a:t>en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el Software Engineering Institute de Carnegie Mellon · hoy lo </a:t>
            </a:r>
            <a:r>
              <a:rPr sz="1150" b="0" i="0" dirty="0" err="1">
                <a:solidFill>
                  <a:srgbClr val="697C8F"/>
                </a:solidFill>
                <a:latin typeface="Segoe UI"/>
              </a:rPr>
              <a:t>mantiene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ISACA / CMMI Institute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· </a:t>
            </a:r>
            <a:r>
              <a:rPr sz="1150" b="0" i="0" dirty="0" err="1">
                <a:solidFill>
                  <a:srgbClr val="697C8F"/>
                </a:solidFill>
                <a:latin typeface="Segoe UI"/>
              </a:rPr>
              <a:t>versión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697C8F"/>
                </a:solidFill>
                <a:latin typeface="Segoe UI"/>
              </a:rPr>
              <a:t>vigente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CMMI V3.0, </a:t>
            </a:r>
            <a:r>
              <a:rPr sz="1150" b="1" i="0" dirty="0" err="1">
                <a:solidFill>
                  <a:srgbClr val="141E29"/>
                </a:solidFill>
                <a:latin typeface="Segoe UI"/>
              </a:rPr>
              <a:t>abril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 de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MODELO DE REFERENCIA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Los 5 niveles de madurez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395728"/>
            <a:ext cx="10874959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395728"/>
            <a:ext cx="685800" cy="530352"/>
          </a:xfrm>
          <a:prstGeom prst="rect">
            <a:avLst/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459736"/>
            <a:ext cx="7406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 Semibold"/>
              </a:rPr>
              <a:t>En optimización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  ·  Mejora continua: prevenir errores antes de que ocurran.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6087" y="2505456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E0F2EC"/>
          </a:solidFill>
          <a:ln w="9525">
            <a:solidFill>
              <a:srgbClr val="2B8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8A7D"/>
                </a:solidFill>
                <a:latin typeface="Segoe UI"/>
              </a:rPr>
              <a:t>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90088"/>
            <a:ext cx="10874959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990088"/>
            <a:ext cx="685800" cy="530352"/>
          </a:xfrm>
          <a:prstGeom prst="rect">
            <a:avLst/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054096"/>
            <a:ext cx="7406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 Semibold"/>
              </a:rPr>
              <a:t>Gestionado cuantitativamente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  ·  Todo se mide con estadística y números precisos.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84448"/>
            <a:ext cx="10874959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3584448"/>
            <a:ext cx="685800" cy="530352"/>
          </a:xfrm>
          <a:prstGeom prst="rect">
            <a:avLst/>
          </a:prstGeom>
          <a:solidFill>
            <a:srgbClr val="DE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648456"/>
            <a:ext cx="7406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 Semibold"/>
              </a:rPr>
              <a:t>Definido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  ·  Procesos estándar para TODA la organización.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3983" y="369417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 w="9525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17C16"/>
                </a:solidFill>
                <a:latin typeface="Segoe UI"/>
              </a:rPr>
              <a:t>DAR · RSKM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78808"/>
            <a:ext cx="10874959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4178808"/>
            <a:ext cx="685800" cy="530352"/>
          </a:xfrm>
          <a:prstGeom prst="rect">
            <a:avLst/>
          </a:prstGeom>
          <a:solidFill>
            <a:srgbClr val="D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242816"/>
            <a:ext cx="7406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 Semibold"/>
              </a:rPr>
              <a:t>Gestionado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  ·  Los proyectos se planifican y controlan, pero cada equipo lo hace a su manera.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73168"/>
            <a:ext cx="10874959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773168"/>
            <a:ext cx="685800" cy="530352"/>
          </a:xfrm>
          <a:prstGeom prst="rect">
            <a:avLst/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4837176"/>
            <a:ext cx="74066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1E29"/>
                </a:solidFill>
                <a:latin typeface="Segoe UI Semibold"/>
              </a:rPr>
              <a:t>Inicial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  ·  Ad hoc. El éxito depende del héroe de turno. Decisiones improvisadas.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440680"/>
            <a:ext cx="10874959" cy="841248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Madurez y capacidad no son lo mismo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«¿Cuál es la diferencia entre nivel de madurez y nivel de capacidad?» → El de madurez (1–5) describe a toda la organización. El de capacidad (0–3) evalúa un área de proceso individual.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CORAZÓN DEL TEMA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DAR · Análisis de Decisión y Resolución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743200"/>
            <a:ext cx="10874959" cy="1325880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Propósito de DAR · definición formal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Analizar posibles decisiones usando un PROCESO DE EVALUACIÓN FORMAL que valora las ALTERNATIVAS IDENTIFICADAS frente a CRITERIOS ESTABLECIDOS, con el fin de reducir la subjetividad y elegir de forma objetiva y documentada.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79392"/>
            <a:ext cx="10874959" cy="118872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 dirty="0">
                <a:solidFill>
                  <a:srgbClr val="65479F"/>
                </a:solidFill>
                <a:latin typeface="Segoe UI"/>
              </a:rPr>
              <a:t>EN PALABRAS SENCILLAS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E29"/>
                </a:solidFill>
                <a:latin typeface="Segoe UI Semibold"/>
              </a:rPr>
              <a:t>«DAR es la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guía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formal para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que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las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empresas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dejen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de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tomar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decisiones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importantes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por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b="1" i="0" dirty="0" err="1">
                <a:solidFill>
                  <a:srgbClr val="141E29"/>
                </a:solidFill>
                <a:latin typeface="Segoe UI Semibold"/>
              </a:rPr>
              <a:t>intuición</a:t>
            </a:r>
            <a:r>
              <a:rPr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y las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tomen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con </a:t>
            </a:r>
            <a:r>
              <a:rPr b="1" i="0" dirty="0" err="1">
                <a:solidFill>
                  <a:srgbClr val="141E29"/>
                </a:solidFill>
                <a:latin typeface="Segoe UI Semibold"/>
              </a:rPr>
              <a:t>datos</a:t>
            </a:r>
            <a:r>
              <a:rPr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b="1" i="0" dirty="0" err="1">
                <a:solidFill>
                  <a:srgbClr val="141E29"/>
                </a:solidFill>
                <a:latin typeface="Segoe UI Semibold"/>
              </a:rPr>
              <a:t>objetivos</a:t>
            </a:r>
            <a:r>
              <a:rPr b="1" i="0" dirty="0">
                <a:solidFill>
                  <a:srgbClr val="141E29"/>
                </a:solidFill>
                <a:latin typeface="Segoe UI Semibold"/>
              </a:rPr>
              <a:t> y </a:t>
            </a:r>
            <a:r>
              <a:rPr b="1" i="0" dirty="0" err="1">
                <a:solidFill>
                  <a:srgbClr val="141E29"/>
                </a:solidFill>
                <a:latin typeface="Segoe UI Semibold"/>
              </a:rPr>
              <a:t>criterios</a:t>
            </a:r>
            <a:r>
              <a:rPr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claros.»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89120"/>
            <a:ext cx="54864" cy="969264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2566A"/>
                </a:solidFill>
                <a:latin typeface="Segoe UI"/>
              </a:rPr>
              <a:t>DAR = </a:t>
            </a:r>
            <a:r>
              <a:rPr sz="1400" b="1" i="0">
                <a:solidFill>
                  <a:srgbClr val="141E29"/>
                </a:solidFill>
                <a:latin typeface="Segoe UI"/>
              </a:rPr>
              <a:t>D</a:t>
            </a:r>
            <a:r>
              <a:rPr sz="1400" b="0" i="0">
                <a:solidFill>
                  <a:srgbClr val="42566A"/>
                </a:solidFill>
                <a:latin typeface="Segoe UI"/>
              </a:rPr>
              <a:t>ecision </a:t>
            </a:r>
            <a:r>
              <a:rPr sz="1400" b="1" i="0">
                <a:solidFill>
                  <a:srgbClr val="141E29"/>
                </a:solidFill>
                <a:latin typeface="Segoe UI"/>
              </a:rPr>
              <a:t>A</a:t>
            </a:r>
            <a:r>
              <a:rPr sz="1400" b="0" i="0">
                <a:solidFill>
                  <a:srgbClr val="42566A"/>
                </a:solidFill>
                <a:latin typeface="Segoe UI"/>
              </a:rPr>
              <a:t>nalysis and </a:t>
            </a:r>
            <a:r>
              <a:rPr sz="1400" b="1" i="0">
                <a:solidFill>
                  <a:srgbClr val="141E29"/>
                </a:solidFill>
                <a:latin typeface="Segoe UI"/>
              </a:rPr>
              <a:t>R</a:t>
            </a:r>
            <a:r>
              <a:rPr sz="1400" b="0" i="0">
                <a:solidFill>
                  <a:srgbClr val="42566A"/>
                </a:solidFill>
                <a:latin typeface="Segoe UI"/>
              </a:rPr>
              <a:t>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CORAZÓN DEL TEMA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¿Cuándo se dispara el proceso formal?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dirty="0">
                <a:solidFill>
                  <a:srgbClr val="42566A"/>
                </a:solidFill>
                <a:latin typeface="Segoe UI"/>
              </a:rPr>
              <a:t>No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toda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decisión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pasa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por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DAR. Se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reserva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para las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valen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la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pena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26080"/>
            <a:ext cx="3490874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Impacto significativo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La decisión afecta de forma importante el costo, la calidad, los recursos o el cronograma.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054096"/>
            <a:ext cx="50292" cy="1344168"/>
          </a:xfrm>
          <a:prstGeom prst="rect">
            <a:avLst/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0410" y="2926080"/>
            <a:ext cx="3490874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Riesgo medio o alto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O la decisión es difícil de revertir: la «puerta de una sola vía».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410" y="3054096"/>
            <a:ext cx="50292" cy="1344168"/>
          </a:xfrm>
          <a:prstGeom prst="rect">
            <a:avLst/>
          </a:prstGeom>
          <a:solidFill>
            <a:srgbClr val="D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2452" y="2926080"/>
            <a:ext cx="3490874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41E29"/>
                </a:solidFill>
                <a:latin typeface="Segoe UI Semibold"/>
              </a:rPr>
              <a:t>Requisitos en conflicto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Calidad contra costo, seguridad contra rendimiento, o asuntos legales y contractuales.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2452" y="3054096"/>
            <a:ext cx="50292" cy="1344168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4800600"/>
            <a:ext cx="6858000" cy="914400"/>
          </a:xfrm>
          <a:prstGeom prst="roundRect">
            <a:avLst>
              <a:gd name="adj" fmla="val 7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2B8A6D"/>
                </a:solidFill>
                <a:latin typeface="Segoe UI Semibold"/>
              </a:rPr>
              <a:t>Dato </a:t>
            </a:r>
            <a:r>
              <a:rPr lang="es-ES" sz="1200" b="1" i="0" dirty="0">
                <a:solidFill>
                  <a:srgbClr val="2B8A6D"/>
                </a:solidFill>
                <a:latin typeface="Segoe UI Semibold"/>
              </a:rPr>
              <a:t>importante</a:t>
            </a:r>
            <a:endParaRPr sz="1200" b="1" i="0" dirty="0">
              <a:solidFill>
                <a:srgbClr val="2B8A6D"/>
              </a:solidFill>
              <a:latin typeface="Segoe UI Semibold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42566A"/>
                </a:solidFill>
                <a:latin typeface="Segoe UI"/>
              </a:rPr>
              <a:t>Para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una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decisión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de gran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impacto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se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sugiere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comparar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al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menos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4 ALTERNATIVAS con 4 o 5 CRITERIOS.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CORAZÓN DEL TEMA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Las 6 prácticas de 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Estos son los pasos que la organización debe poder demostrar que ejecuta.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715768"/>
            <a:ext cx="46725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Establecer guías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Definir qué tipo de decisiones deben pasar por evaluación formal.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36042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3332988"/>
            <a:ext cx="46725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Establecer criterios de evaluación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Elegir los criterios relevantes y asignarles un PESO según su importancia.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19252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4165091"/>
            <a:ext cx="46725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Identificar alternativas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Listar las opciones viables que podrían resolver el problema.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27432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271576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Seleccionar métodos de evaluación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Matriz ponderada, AHP, prototipo/PoC, simulación, costo-beneficio.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5844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3557016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Evaluar alternativas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Calificar cada opción contra los criterios, apoyándose en evidencia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42569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4398264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Seleccionar la solución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Gana el puntaje más alto. Y se DOCUMENTA método, criterios, alternativas y justificación.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13248"/>
            <a:ext cx="10874959" cy="859536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Fíjense en la práctica 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Documentar no es burocracia: es lo que permite defender la decisión seis meses después, cuando ya nadie se acuerda por qué se eligió eso. Eso es TRAZABILIDAD.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LAS ÁREAS HERMANAS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RSKM · Gestión de Riesgos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Nivel 3. En el nivel 2 ya se identifican problemas; en el 3 se vuelve un proceso formal, continuo y estandarizado para toda la organización.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2609011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" y="3182112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639312"/>
            <a:ext cx="22981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Identificar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Encontrar proactivamente eventos que puedan afectar al proyecto.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3017520"/>
            <a:ext cx="2609011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9131" y="3182112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D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9131" y="3639312"/>
            <a:ext cx="22981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Analizar y priorizar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Probabilidad × Impacto = severidad. Así se sabe a cuál atender primero.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999" y="3017520"/>
            <a:ext cx="2609011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24447" y="3182112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639312"/>
            <a:ext cx="22981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Planificar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Mitigación y contingencia.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315" y="3017520"/>
            <a:ext cx="2609011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79763" y="3182112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763" y="3639312"/>
            <a:ext cx="22981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Monitorear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Revisar el riesgo en cada reunión de seguimiento hasta que desaparezca.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1772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B8A6D"/>
                </a:solidFill>
                <a:latin typeface="Segoe UI Semibold"/>
              </a:rPr>
              <a:t>Mitigación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Qué hago AHORA para reducir la probabilidad de que el riesgo ocurra.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461772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17C16"/>
                </a:solidFill>
                <a:latin typeface="Segoe UI Semibold"/>
              </a:rPr>
              <a:t>Contingencia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Qué hago DESPUÉS si de todas formas ocurre. Es el plan 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60720"/>
            <a:ext cx="10874959" cy="199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697C8F"/>
                </a:solidFill>
                <a:latin typeface="Segoe UI"/>
              </a:rPr>
              <a:t>Ejemplo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de </a:t>
            </a:r>
            <a:r>
              <a:rPr sz="1150" b="0" i="0" dirty="0" err="1">
                <a:solidFill>
                  <a:srgbClr val="697C8F"/>
                </a:solidFill>
                <a:latin typeface="Segoe UI"/>
              </a:rPr>
              <a:t>riesgo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: 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«el </a:t>
            </a:r>
            <a:r>
              <a:rPr sz="1150" b="1" i="0" dirty="0" err="1">
                <a:solidFill>
                  <a:srgbClr val="141E29"/>
                </a:solidFill>
                <a:latin typeface="Segoe UI"/>
              </a:rPr>
              <a:t>programador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 clave </a:t>
            </a:r>
            <a:r>
              <a:rPr sz="1150" b="1" i="0" dirty="0" err="1">
                <a:solidFill>
                  <a:srgbClr val="141E29"/>
                </a:solidFill>
                <a:latin typeface="Segoe UI"/>
              </a:rPr>
              <a:t>puede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 </a:t>
            </a:r>
            <a:r>
              <a:rPr sz="1150" b="1" i="0" dirty="0" err="1">
                <a:solidFill>
                  <a:srgbClr val="141E29"/>
                </a:solidFill>
                <a:latin typeface="Segoe UI"/>
              </a:rPr>
              <a:t>renunciar</a:t>
            </a:r>
            <a:r>
              <a:rPr sz="1150" b="1" i="0" dirty="0">
                <a:solidFill>
                  <a:srgbClr val="141E29"/>
                </a:solidFill>
                <a:latin typeface="Segoe UI"/>
              </a:rPr>
              <a:t>»</a:t>
            </a:r>
            <a:r>
              <a:rPr sz="1150" b="0" i="0" dirty="0">
                <a:solidFill>
                  <a:srgbClr val="697C8F"/>
                </a:solidFill>
                <a:latin typeface="Segoe UI"/>
              </a:rPr>
              <a:t>  ·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LAS ÁREAS HERMANAS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CAR · Análisis Causal y Resolución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Requisito obligatorio para el Nivel 5. Busca la raíz de los problemas —y de los éxitos— usando datos estadísticos.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33472"/>
            <a:ext cx="327355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DF8A3C"/>
                </a:solidFill>
                <a:latin typeface="Segoe UI Semibold"/>
              </a:rPr>
              <a:t>Nivel 3 · Reactivo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Hay un fallo en producción. El equipo lo arregla y documenta la solución. Se apaga el fuego.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633472"/>
            <a:ext cx="327355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B8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B8A7D"/>
                </a:solidFill>
                <a:latin typeface="Segoe UI Semibold"/>
              </a:rPr>
              <a:t>Nivel 5 con CAR · Preventivo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Arregla el fallo Y se pregunta: ¿por qué se nos escapó? Cambia el proceso para que no vuelva a pasar, y mide el impacto.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1" y="2633472"/>
            <a:ext cx="3959352" cy="169164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19050">
            <a:solidFill>
              <a:srgbClr val="697C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 dirty="0">
                <a:solidFill>
                  <a:srgbClr val="1A57A0"/>
                </a:solidFill>
                <a:latin typeface="Segoe UI"/>
              </a:rPr>
              <a:t>[ ESPACIO PARA IMAGEN ]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 err="1">
                <a:solidFill>
                  <a:srgbClr val="141E29"/>
                </a:solidFill>
                <a:latin typeface="Segoe UI Semibold"/>
              </a:rPr>
              <a:t>Diagrama</a:t>
            </a:r>
            <a:r>
              <a:rPr sz="1300" b="1" i="0" dirty="0">
                <a:solidFill>
                  <a:srgbClr val="141E29"/>
                </a:solidFill>
                <a:latin typeface="Segoe UI Semibold"/>
              </a:rPr>
              <a:t> de Ishikawa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42566A"/>
                </a:solidFill>
                <a:latin typeface="Segoe UI"/>
              </a:rPr>
              <a:t>Espina de 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pescado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 con las 6 M: mano de 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obra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, 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método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,
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máquina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, material, 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medición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 y medio 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ambiente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.
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Búscalo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como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 «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diagrama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 causa-</a:t>
            </a:r>
            <a:r>
              <a:rPr sz="1050" b="0" i="0" dirty="0" err="1">
                <a:solidFill>
                  <a:srgbClr val="42566A"/>
                </a:solidFill>
                <a:latin typeface="Segoe UI"/>
              </a:rPr>
              <a:t>efecto</a:t>
            </a:r>
            <a:r>
              <a:rPr sz="1050" b="0" i="0" dirty="0">
                <a:solidFill>
                  <a:srgbClr val="42566A"/>
                </a:solidFill>
                <a:latin typeface="Segoe UI"/>
              </a:rPr>
              <a:t>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498848"/>
            <a:ext cx="2609011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3816" y="468172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5102352"/>
            <a:ext cx="229811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Seleccionar los datos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Muestras acumuladas: «el 40 % de los retrasos ocurren en diseño».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3683" y="4498848"/>
            <a:ext cx="2609011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9131" y="468172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D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9131" y="5102352"/>
            <a:ext cx="229811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Determinar causas raíz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5 Porqués · Ishikawa · Pareto.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4498848"/>
            <a:ext cx="2609011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24447" y="468172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5102352"/>
            <a:ext cx="229811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Acciones correctivas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Se cambia el proceso, no solo el síntoma.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315" y="4498848"/>
            <a:ext cx="2609011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79763" y="468172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763" y="5102352"/>
            <a:ext cx="229811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Medir el efecto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«Los defectos bajaron del 40 % al 5 %, con 95 % de confianza».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52160"/>
            <a:ext cx="10874959" cy="457200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17C16"/>
                </a:solidFill>
                <a:latin typeface="Segoe UI"/>
              </a:rPr>
              <a:t>CAR también se aplica a los ÉXITOS:  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si un proyecto salió extraordinariamente bien, se investiga por qué para poder repetirlo.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14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0C5DCDB-C591-985E-4313-75916952D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504" y="2007108"/>
            <a:ext cx="4384861" cy="24323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NORMAS INTERNACIONALES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Las normas ISO que sustentan la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CMMI aporta el proceso. ISO aporta el principio, los criterios y un proceso equivalente.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0"/>
            <a:ext cx="533689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28016" rIns="128016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ISO 9001</a:t>
            </a:r>
            <a:r>
              <a:rPr sz="1150" b="0" i="0">
                <a:solidFill>
                  <a:srgbClr val="697C8F"/>
                </a:solidFill>
                <a:latin typeface="Segoe UI"/>
              </a:rPr>
              <a:t>   Gestión de la calidad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Uno de sus 7 principios es la «toma de decisiones basada en la evidencia». Es el respaldo normativo directo de nuestro lema.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52928"/>
            <a:ext cx="50292" cy="1042415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6431" y="2743200"/>
            <a:ext cx="533689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28016" rIns="128016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ISO/IEC 25010:2023</a:t>
            </a:r>
            <a:r>
              <a:rPr sz="1150" b="0" i="0">
                <a:solidFill>
                  <a:srgbClr val="697C8F"/>
                </a:solidFill>
                <a:latin typeface="Segoe UI"/>
              </a:rPr>
              <a:t>   Modelo de calidad del producto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Define 9 características de calidad. Son los CRITERIOS que ponemos en la matriz.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2852928"/>
            <a:ext cx="50292" cy="1042415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4160520"/>
            <a:ext cx="533689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28016" rIns="128016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ISO/IEC/IEEE 12207 y 15288</a:t>
            </a:r>
            <a:r>
              <a:rPr sz="1150" b="0" i="0">
                <a:solidFill>
                  <a:srgbClr val="697C8F"/>
                </a:solidFill>
                <a:latin typeface="Segoe UI"/>
              </a:rPr>
              <a:t>   Procesos del ciclo de vida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Incluyen un «Proceso de Gestión de Decisiones»: el equivalente ISO/IEEE de 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270248"/>
            <a:ext cx="50292" cy="1042415"/>
          </a:xfrm>
          <a:prstGeom prst="rect">
            <a:avLst/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6431" y="4160520"/>
            <a:ext cx="533689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28016" rIns="128016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ISO/IEC/IEEE 29119 y 29110</a:t>
            </a:r>
            <a:r>
              <a:rPr sz="1150" b="0" i="0">
                <a:solidFill>
                  <a:srgbClr val="697C8F"/>
                </a:solidFill>
                <a:latin typeface="Segoe UI"/>
              </a:rPr>
              <a:t>   Pruebas · Entidades muy pequeñas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Las pruebas generan la evidencia con la que se decide. La 29110 aplica a equipos pequeños (VSE).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431" y="4270248"/>
            <a:ext cx="50292" cy="1042415"/>
          </a:xfrm>
          <a:prstGeom prst="rect">
            <a:avLst/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5449824"/>
            <a:ext cx="10874959" cy="841248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La convergencia — dilo así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CMMI con DAR, e ISO con su Proceso de Gestión de Decisiones, apuntan a lo mismo: decisiones estructuradas, basadas en criterios, sustentadas en evidencia y documentadas.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TÉCNICAS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La matriz de decisión ponderada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761488"/>
            <a:ext cx="59070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Establecer los criterios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¿Qué importa aquí? A cada criterio se le asigna un PESO según su importancia.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06139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3378708"/>
            <a:ext cx="59070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Identificar alternativas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Las opciones viables que podrían resolver el problema.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023359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995927"/>
            <a:ext cx="59070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Evaluar las alternativas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Calificar cada opción del 1 (deficiente) al 5 (excelente).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640579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613147"/>
            <a:ext cx="59070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1E29"/>
                </a:solidFill>
                <a:latin typeface="Segoe UI Semibold"/>
              </a:rPr>
              <a:t>Seleccionar la mejor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Multiplicar por el peso, sumar. Gana el puntaje total más alto.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2880360"/>
            <a:ext cx="3931920" cy="1371600"/>
          </a:xfrm>
          <a:prstGeom prst="roundRect">
            <a:avLst>
              <a:gd name="adj" fmla="val 7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BDD6F3"/>
                </a:solidFill>
                <a:latin typeface="Segoe UI"/>
              </a:rPr>
              <a:t>LA FÓRMULA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Total = Σ (peso × puntaje)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DD6F3"/>
                </a:solidFill>
                <a:latin typeface="Segoe UI"/>
              </a:rPr>
              <a:t>para cada criterio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4434840"/>
            <a:ext cx="3931920" cy="123444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1E29"/>
                </a:solidFill>
                <a:latin typeface="Segoe UI Semibold"/>
              </a:rPr>
              <a:t>Dos formas de poner los pesos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De 1 a 5 → el total sale en puntos (75 de 85).
En % que sumen 100 → el total queda como nota sobre 5 (4,6). Es la que se usa en un acta DAR.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303520"/>
            <a:ext cx="6492240" cy="841248"/>
          </a:xfrm>
          <a:prstGeom prst="roundRect">
            <a:avLst>
              <a:gd name="adj" fmla="val 7000"/>
            </a:avLst>
          </a:prstGeom>
          <a:solidFill>
            <a:srgbClr val="F7E4E2"/>
          </a:solidFill>
          <a:ln w="12700">
            <a:solidFill>
              <a:srgbClr val="C04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483C"/>
                </a:solidFill>
                <a:latin typeface="Segoe UI Semibold"/>
              </a:rPr>
              <a:t>La trampa de la matriz simple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Si los pesos se ponen «a ojo», la subjetividad no desapareció: se escondió en los pesos.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TÉCNICAS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Ejemplo mínimo: comprar o desarrollar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La empresa debe decidir entre comprar un software hecho o desarrollarlo desde cero.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697480"/>
          <a:ext cx="10872216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9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  <a:endParaRPr sz="1100" b="1" i="0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Peso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Opción 1: comprar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Segoe UI"/>
                        </a:rPr>
                        <a:t>Opción</a:t>
                      </a:r>
                      <a:r>
                        <a:rPr sz="11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 2: </a:t>
                      </a: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Segoe UI"/>
                        </a:rPr>
                        <a:t>desarrollar</a:t>
                      </a:r>
                      <a:r>
                        <a:rPr sz="110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Segoe UI"/>
                        </a:rPr>
                        <a:t>propio</a:t>
                      </a:r>
                      <a:endParaRPr sz="1100" b="1" i="0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Costo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40 %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2566A"/>
                          </a:solidFill>
                          <a:latin typeface="Segoe UI"/>
                        </a:rPr>
                        <a:t>Buena (calificación alta)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Mala (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calificación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baja)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E29"/>
                          </a:solidFill>
                          <a:latin typeface="Segoe UI"/>
                        </a:rPr>
                        <a:t>Tiempo de entrega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2566A"/>
                          </a:solidFill>
                          <a:latin typeface="Segoe UI"/>
                        </a:rPr>
                        <a:t>40 %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Inmediato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calificación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alta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Meses (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calificación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baja)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E29"/>
                          </a:solidFill>
                          <a:latin typeface="Segoe UI"/>
                        </a:rPr>
                        <a:t>Personalización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2566A"/>
                          </a:solidFill>
                          <a:latin typeface="Segoe UI"/>
                        </a:rPr>
                        <a:t>20 %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2566A"/>
                          </a:solidFill>
                          <a:latin typeface="Segoe UI"/>
                        </a:rPr>
                        <a:t>Rígido (calificación baja)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Total (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calificación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alta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E29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2566A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B8A6D"/>
                          </a:solidFill>
                          <a:latin typeface="Segoe UI"/>
                        </a:rPr>
                        <a:t>GANADOR por puntaje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Perdedor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por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costo</a:t>
                      </a:r>
                      <a:r>
                        <a:rPr sz="1300" b="0" i="0" dirty="0">
                          <a:solidFill>
                            <a:srgbClr val="42566A"/>
                          </a:solidFill>
                          <a:latin typeface="Segoe UI"/>
                        </a:rPr>
                        <a:t> y </a:t>
                      </a:r>
                      <a:r>
                        <a:rPr sz="1300" b="0" i="0" dirty="0" err="1">
                          <a:solidFill>
                            <a:srgbClr val="42566A"/>
                          </a:solidFill>
                          <a:latin typeface="Segoe UI"/>
                        </a:rPr>
                        <a:t>tiempo</a:t>
                      </a:r>
                      <a:endParaRPr sz="1300" b="0" i="0" dirty="0">
                        <a:solidFill>
                          <a:srgbClr val="42566A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120640"/>
            <a:ext cx="10874959" cy="1051560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Aquí está la lección, y no es obvia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Desarrollar propio GANA en personalización… y pierde igual. ¿Por qué? Porque la personalización solo pesa 20 %. No basta ganar en un criterio: hay que ganar en los que IMPORTAN. Eso es exactamente lo que aporta ponderar.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MÉTODO RIGUROSO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AHP · Proceso Analítico Jerárquico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La herramienta matemática más robusta para resolver un DAR. Creada por Thomas L. Saaty. Elimina la subjetividad al asignar los pesos.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04487" y="2697480"/>
            <a:ext cx="3657600" cy="475488"/>
          </a:xfrm>
          <a:prstGeom prst="roundRect">
            <a:avLst>
              <a:gd name="adj" fmla="val 10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META · elegir proveedor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8488" y="3429000"/>
            <a:ext cx="2743200" cy="438912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17C16"/>
                </a:solidFill>
                <a:latin typeface="Segoe UI Semibold"/>
              </a:rPr>
              <a:t>Criterio · Costo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4069080"/>
            <a:ext cx="1298448" cy="365760"/>
          </a:xfrm>
          <a:prstGeom prst="roundRect">
            <a:avLst>
              <a:gd name="adj" fmla="val 14000"/>
            </a:avLst>
          </a:prstGeom>
          <a:solidFill>
            <a:srgbClr val="E0F2EC"/>
          </a:solidFill>
          <a:ln w="1143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4069080"/>
            <a:ext cx="1298448" cy="365760"/>
          </a:xfrm>
          <a:prstGeom prst="roundRect">
            <a:avLst>
              <a:gd name="adj" fmla="val 14000"/>
            </a:avLst>
          </a:prstGeom>
          <a:solidFill>
            <a:srgbClr val="E0F2EC"/>
          </a:solidFill>
          <a:ln w="1143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Azure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4024" y="3429000"/>
            <a:ext cx="2743200" cy="438912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17C16"/>
                </a:solidFill>
                <a:latin typeface="Segoe UI Semibold"/>
              </a:rPr>
              <a:t>Criterio · Seguridad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4024" y="4069080"/>
            <a:ext cx="1298448" cy="365760"/>
          </a:xfrm>
          <a:prstGeom prst="roundRect">
            <a:avLst>
              <a:gd name="adj" fmla="val 14000"/>
            </a:avLst>
          </a:prstGeom>
          <a:solidFill>
            <a:srgbClr val="E0F2EC"/>
          </a:solidFill>
          <a:ln w="1143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069080"/>
            <a:ext cx="1298448" cy="365760"/>
          </a:xfrm>
          <a:prstGeom prst="roundRect">
            <a:avLst>
              <a:gd name="adj" fmla="val 14000"/>
            </a:avLst>
          </a:prstGeom>
          <a:solidFill>
            <a:srgbClr val="E0F2EC"/>
          </a:solidFill>
          <a:ln w="1143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Azure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429000"/>
            <a:ext cx="2743200" cy="438912"/>
          </a:xfrm>
          <a:prstGeom prst="roundRect">
            <a:avLst>
              <a:gd name="adj" fmla="val 10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17C16"/>
                </a:solidFill>
                <a:latin typeface="Segoe UI Semibold"/>
              </a:rPr>
              <a:t>Criterio · Soporte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069080"/>
            <a:ext cx="1298448" cy="365760"/>
          </a:xfrm>
          <a:prstGeom prst="roundRect">
            <a:avLst>
              <a:gd name="adj" fmla="val 14000"/>
            </a:avLst>
          </a:prstGeom>
          <a:solidFill>
            <a:srgbClr val="E0F2EC"/>
          </a:solidFill>
          <a:ln w="1143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4069080"/>
            <a:ext cx="1298448" cy="365760"/>
          </a:xfrm>
          <a:prstGeom prst="roundRect">
            <a:avLst>
              <a:gd name="adj" fmla="val 14000"/>
            </a:avLst>
          </a:prstGeom>
          <a:solidFill>
            <a:srgbClr val="E0F2EC"/>
          </a:solidFill>
          <a:ln w="1143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97C8F"/>
                </a:solidFill>
                <a:latin typeface="Segoe UI"/>
              </a:rPr>
              <a:t>Las mismas alternativas se comparan una vez DENTRO de cada criterio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3776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57A0"/>
                </a:solidFill>
                <a:latin typeface="Segoe UI"/>
              </a:rPr>
              <a:t>LA ESCALA DE SAATY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57800"/>
            <a:ext cx="20579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9536" y="5413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7D9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422392"/>
            <a:ext cx="11892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misma
importancia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62620" y="5257800"/>
            <a:ext cx="20579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63788" y="5413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E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8420" y="5422392"/>
            <a:ext cx="11892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ligeramente
más importante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6873" y="5257800"/>
            <a:ext cx="20579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268041" y="5413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2673" y="5422392"/>
            <a:ext cx="11892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fuertemente
más importante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1125" y="5257800"/>
            <a:ext cx="20579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72293" y="5413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6925" y="5422392"/>
            <a:ext cx="11892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muy fuertemente
más importante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75378" y="5257800"/>
            <a:ext cx="20579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76546" y="541324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8E2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1178" y="5422392"/>
            <a:ext cx="11892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extremadamente
más importante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MÉTODO RIGUROSO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La Razón de Consistencia: el detalle que impresiona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6400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 dirty="0">
                <a:solidFill>
                  <a:srgbClr val="141E29"/>
                </a:solidFill>
                <a:latin typeface="Segoe UI Semibold"/>
              </a:rPr>
              <a:t>Los 4 pasos del AHP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 dirty="0">
                <a:solidFill>
                  <a:srgbClr val="1A57A0"/>
                </a:solidFill>
                <a:latin typeface="Segoe UI"/>
              </a:rPr>
              <a:t>1. 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Modelar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el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problema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en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el árbol meta /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criterios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/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alternativas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 dirty="0">
                <a:solidFill>
                  <a:srgbClr val="1A57A0"/>
                </a:solidFill>
                <a:latin typeface="Segoe UI"/>
              </a:rPr>
              <a:t>2. 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Comparar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los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criterios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por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pares con la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escala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de Saaty.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 dirty="0">
                <a:solidFill>
                  <a:srgbClr val="1A57A0"/>
                </a:solidFill>
                <a:latin typeface="Segoe UI"/>
              </a:rPr>
              <a:t>3. 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Comparar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las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alternativas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por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pares,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dentro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de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cada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criterio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 dirty="0">
                <a:solidFill>
                  <a:srgbClr val="1A57A0"/>
                </a:solidFill>
                <a:latin typeface="Segoe UI"/>
              </a:rPr>
              <a:t>4. 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Calcular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la Razón de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Consistencia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79208" y="2286000"/>
            <a:ext cx="4160520" cy="1920240"/>
          </a:xfrm>
          <a:prstGeom prst="roundRect">
            <a:avLst>
              <a:gd name="adj" fmla="val 6000"/>
            </a:avLst>
          </a:prstGeom>
          <a:solidFill>
            <a:srgbClr val="F7E4E2"/>
          </a:solidFill>
          <a:ln w="12700">
            <a:solidFill>
              <a:srgbClr val="C04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0483C"/>
                </a:solidFill>
                <a:latin typeface="Segoe UI"/>
              </a:rPr>
              <a:t>SI EL CR SUPERA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C0483C"/>
                </a:solidFill>
                <a:latin typeface="Segoe UI Semibold"/>
              </a:rPr>
              <a:t>0,10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las respuestas fueron incoherentes
y hay que repetir la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79392"/>
            <a:ext cx="10874959" cy="841248"/>
          </a:xfrm>
          <a:prstGeom prst="roundRect">
            <a:avLst>
              <a:gd name="adj" fmla="val 7000"/>
            </a:avLst>
          </a:prstGeom>
          <a:solidFill>
            <a:srgbClr val="F7E4E2"/>
          </a:solidFill>
          <a:ln w="12700">
            <a:solidFill>
              <a:srgbClr val="C04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C0483C"/>
                </a:solidFill>
                <a:latin typeface="Segoe UI Semibold"/>
              </a:rPr>
              <a:t>El </a:t>
            </a:r>
            <a:r>
              <a:rPr sz="1200" b="1" i="0" dirty="0" err="1">
                <a:solidFill>
                  <a:srgbClr val="C0483C"/>
                </a:solidFill>
                <a:latin typeface="Segoe UI Semibold"/>
              </a:rPr>
              <a:t>ejemplo</a:t>
            </a:r>
            <a:r>
              <a:rPr sz="1200" b="1" i="0" dirty="0">
                <a:solidFill>
                  <a:srgbClr val="C0483C"/>
                </a:solidFill>
                <a:latin typeface="Segoe UI Semibold"/>
              </a:rPr>
              <a:t> </a:t>
            </a:r>
            <a:r>
              <a:rPr sz="1200" b="1" i="0" dirty="0" err="1">
                <a:solidFill>
                  <a:srgbClr val="C0483C"/>
                </a:solidFill>
                <a:latin typeface="Segoe UI Semibold"/>
              </a:rPr>
              <a:t>clásico</a:t>
            </a:r>
            <a:r>
              <a:rPr sz="1200" b="1" i="0" dirty="0">
                <a:solidFill>
                  <a:srgbClr val="C0483C"/>
                </a:solidFill>
                <a:latin typeface="Segoe UI Semibold"/>
              </a:rPr>
              <a:t> de </a:t>
            </a:r>
            <a:r>
              <a:rPr sz="1200" b="1" i="0" dirty="0" err="1">
                <a:solidFill>
                  <a:srgbClr val="C0483C"/>
                </a:solidFill>
                <a:latin typeface="Segoe UI Semibold"/>
              </a:rPr>
              <a:t>incoherencia</a:t>
            </a:r>
            <a:endParaRPr sz="1200" b="1" i="0" dirty="0">
              <a:solidFill>
                <a:srgbClr val="C0483C"/>
              </a:solidFill>
              <a:latin typeface="Segoe UI Semibold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42566A"/>
                </a:solidFill>
                <a:latin typeface="Segoe UI"/>
              </a:rPr>
              <a:t>«A es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mejor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B, B es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mejor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C…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pero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C es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mejor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A.»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Matemáticamente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imposible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: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alguien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contestó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sin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pensar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. AHP lo </a:t>
            </a:r>
            <a:r>
              <a:rPr sz="1300" b="0" i="0" dirty="0" err="1">
                <a:solidFill>
                  <a:srgbClr val="42566A"/>
                </a:solidFill>
                <a:latin typeface="Segoe UI"/>
              </a:rPr>
              <a:t>detecta</a:t>
            </a:r>
            <a:r>
              <a:rPr sz="1300" b="0" i="0" dirty="0">
                <a:solidFill>
                  <a:srgbClr val="42566A"/>
                </a:solidFill>
                <a:latin typeface="Segoe UI"/>
              </a:rPr>
              <a:t> solo.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212080"/>
            <a:ext cx="10874959" cy="109728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 dirty="0">
                <a:solidFill>
                  <a:srgbClr val="65479F"/>
                </a:solidFill>
                <a:latin typeface="Segoe UI"/>
              </a:rPr>
              <a:t>LO QUE HACE ÚNICO AL AHP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E29"/>
                </a:solidFill>
                <a:latin typeface="Segoe UI Semibold"/>
              </a:rPr>
              <a:t>«Lo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que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hace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único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al AHP es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que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no solo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calcula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la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respuesta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: también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te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dice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si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tú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fuiste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coherente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al responder.»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 dirty="0">
                <a:solidFill>
                  <a:srgbClr val="42566A"/>
                </a:solidFill>
                <a:latin typeface="Segoe UI"/>
              </a:rPr>
              <a:t>En el taller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usaremos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la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matriz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ponderada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: es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más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práctica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de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demostrar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en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vivo</a:t>
            </a:r>
            <a:r>
              <a:rPr lang="es-ES" sz="1150" b="0" i="0" dirty="0">
                <a:solidFill>
                  <a:srgbClr val="42566A"/>
                </a:solidFill>
                <a:latin typeface="Segoe UI"/>
              </a:rPr>
              <a:t> pero vamos a hacer una practica pequeña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321808"/>
            <a:ext cx="54864" cy="877824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ARSENAL COMPLETO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Técnicas de apoyo y el flujo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La matriz no trabaja sola. Una filtra, otra genera evidencia y otra convierte la incertidumbre en números.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80360"/>
            <a:ext cx="3490874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Prototipos · PoC · Spikes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Cuando el equipo dice «no sabemos si esa tecnología se integra». Se hace una prueba de 2–3 días y sale evidencia real: «el tiempo de respuesta fue de 200 ms».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008376"/>
            <a:ext cx="50292" cy="1225296"/>
          </a:xfrm>
          <a:prstGeom prst="rect">
            <a:avLst/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0410" y="2880360"/>
            <a:ext cx="3490874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Árboles de decisión y Valor Esperado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Cuando el resultado depende del azar. Valor Esperado = Resultado × Probabilidad. Convierte la incertidumbre en un número comparable.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410" y="3008376"/>
            <a:ext cx="50292" cy="1225296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2452" y="2880360"/>
            <a:ext cx="3490874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DAFO / SWOT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Para filtrar al inicio. Hacer un AHP con 15 alternativas sería una pesadilla: el DAFO descarta las inviables y solo pasan las 3 o 4 mejores.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2452" y="3008376"/>
            <a:ext cx="50292" cy="1225296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449884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57A0"/>
                </a:solidFill>
                <a:latin typeface="Segoe UI"/>
              </a:rPr>
              <a:t>EL FLUJO EN UN PROYECTO COMPLEJO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73168"/>
            <a:ext cx="186775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1E29"/>
                </a:solidFill>
                <a:latin typeface="Segoe UI Semibold"/>
              </a:rPr>
              <a:t>Se filtra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DAFO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2635849" y="5056632"/>
            <a:ext cx="146304" cy="201168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10169" y="4773168"/>
            <a:ext cx="186775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1E29"/>
                </a:solidFill>
                <a:latin typeface="Segoe UI Semibold"/>
              </a:rPr>
              <a:t>Se experimenta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PoC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4887650" y="5056632"/>
            <a:ext cx="146304" cy="201168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61970" y="4773168"/>
            <a:ext cx="186775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1E29"/>
                </a:solidFill>
                <a:latin typeface="Segoe UI Semibold"/>
              </a:rPr>
              <a:t>Se calcula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Valor esperado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139452" y="5056632"/>
            <a:ext cx="146304" cy="201168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3772" y="4773168"/>
            <a:ext cx="186775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1E29"/>
                </a:solidFill>
                <a:latin typeface="Segoe UI Semibold"/>
              </a:rPr>
              <a:t>Se decide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Matriz o AHP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9391253" y="5056632"/>
            <a:ext cx="146304" cy="201168"/>
          </a:xfrm>
          <a:prstGeom prst="triangle">
            <a:avLst/>
          </a:prstGeom>
          <a:solidFill>
            <a:srgbClr val="69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65573" y="4773168"/>
            <a:ext cx="1867753" cy="777240"/>
          </a:xfrm>
          <a:prstGeom prst="roundRect">
            <a:avLst>
              <a:gd name="adj" fmla="val 8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8A6D"/>
                </a:solidFill>
                <a:latin typeface="Segoe UI Semibold"/>
              </a:rPr>
              <a:t>Se documenta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Acta DAR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50992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5479F"/>
                </a:solidFill>
                <a:latin typeface="Segoe UI"/>
              </a:rPr>
              <a:t>EL FLUJO, EN UNA FRASE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E29"/>
                </a:solidFill>
                <a:latin typeface="Segoe UI Semibold"/>
              </a:rPr>
              <a:t>«Filtro con DAFO, experimento con una PoC, calculo el valor esperado y decido con la matriz.»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760720"/>
            <a:ext cx="54864" cy="420623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EJEMPLO COMPLETO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Caso 1 · Autenticación en una fintech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74959" cy="960120"/>
          </a:xfrm>
          <a:prstGeom prst="roundRect">
            <a:avLst>
              <a:gd name="adj" fmla="val 6000"/>
            </a:avLst>
          </a:prstGeom>
          <a:solidFill>
            <a:srgbClr val="E4EEFB"/>
          </a:solidFill>
          <a:ln w="12700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A57A0"/>
                </a:solidFill>
                <a:latin typeface="Segoe UI Semibold"/>
              </a:rPr>
              <a:t>El escenario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MiFinanzas es una startup fintech pequeña (una VSE) que lanzará una app móvil. Debe decidir cómo implementar la autenticación de usuarios. Alto impacto y difícil de revertir → candidata perfecta para 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429000"/>
            <a:ext cx="349087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28016" bIns="82296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Alt. 1 · A medida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697C8F"/>
                </a:solidFill>
                <a:latin typeface="Segoe UI"/>
              </a:rPr>
              <a:t>Construir todo in-house.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8A6D"/>
                </a:solidFill>
                <a:latin typeface="Segoe UI"/>
              </a:rPr>
              <a:t>+  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Control total y máxima personalización.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483C"/>
                </a:solidFill>
                <a:latin typeface="Segoe UI"/>
              </a:rPr>
              <a:t>−  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Lento, caro de mantener, alto riesgo de vulnerabilidades.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429000"/>
            <a:ext cx="3490874" cy="73152"/>
          </a:xfrm>
          <a:prstGeom prst="rect">
            <a:avLst/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0410" y="3429000"/>
            <a:ext cx="349087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28016" bIns="82296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Alt. 2 · Open source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697C8F"/>
                </a:solidFill>
                <a:latin typeface="Segoe UI"/>
              </a:rPr>
              <a:t>Librería autogestionada, tipo Keycloak.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B8A6D"/>
                </a:solidFill>
                <a:latin typeface="Segoe UI"/>
              </a:rPr>
              <a:t>+  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Probada, sin costo de licencia, flexible.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483C"/>
                </a:solidFill>
                <a:latin typeface="Segoe UI"/>
              </a:rPr>
              <a:t>−  </a:t>
            </a:r>
            <a:r>
              <a:rPr sz="1150" b="0" i="0">
                <a:solidFill>
                  <a:srgbClr val="42566A"/>
                </a:solidFill>
                <a:latin typeface="Segoe UI"/>
              </a:rPr>
              <a:t>El equipo debe instalarla, operarla y parcharla.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410" y="3429000"/>
            <a:ext cx="3490874" cy="73152"/>
          </a:xfrm>
          <a:prstGeom prst="rect">
            <a:avLst/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2452" y="3429000"/>
            <a:ext cx="349087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28016" bIns="82296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dirty="0">
                <a:solidFill>
                  <a:srgbClr val="141E29"/>
                </a:solidFill>
                <a:latin typeface="Segoe UI Semibold"/>
              </a:rPr>
              <a:t>Alt. 3 · </a:t>
            </a:r>
            <a:r>
              <a:rPr sz="1400" b="1" i="0" dirty="0" err="1">
                <a:solidFill>
                  <a:srgbClr val="141E29"/>
                </a:solidFill>
                <a:latin typeface="Segoe UI Semibold"/>
              </a:rPr>
              <a:t>Gestionado</a:t>
            </a:r>
            <a:r>
              <a:rPr sz="1400" b="1" i="0" dirty="0">
                <a:solidFill>
                  <a:srgbClr val="141E29"/>
                </a:solidFill>
                <a:latin typeface="Segoe UI Semibold"/>
              </a:rPr>
              <a:t> (</a:t>
            </a:r>
            <a:r>
              <a:rPr sz="1400" b="1" i="0" dirty="0" err="1">
                <a:solidFill>
                  <a:srgbClr val="141E29"/>
                </a:solidFill>
                <a:latin typeface="Segoe UI Semibold"/>
              </a:rPr>
              <a:t>IDaaS</a:t>
            </a:r>
            <a:r>
              <a:rPr sz="1400" b="1" i="0" dirty="0">
                <a:solidFill>
                  <a:srgbClr val="141E29"/>
                </a:solidFill>
                <a:latin typeface="Segoe UI Semibold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 dirty="0">
                <a:solidFill>
                  <a:srgbClr val="697C8F"/>
                </a:solidFill>
                <a:latin typeface="Segoe UI"/>
              </a:rPr>
              <a:t>Servicio </a:t>
            </a:r>
            <a:r>
              <a:rPr sz="1100" b="0" i="0" dirty="0" err="1">
                <a:solidFill>
                  <a:srgbClr val="697C8F"/>
                </a:solidFill>
                <a:latin typeface="Segoe UI"/>
              </a:rPr>
              <a:t>tipo</a:t>
            </a:r>
            <a:r>
              <a:rPr sz="1100" b="0" i="0" dirty="0">
                <a:solidFill>
                  <a:srgbClr val="697C8F"/>
                </a:solidFill>
                <a:latin typeface="Segoe UI"/>
              </a:rPr>
              <a:t> Auth0 o Firebase Auth.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 dirty="0">
                <a:solidFill>
                  <a:srgbClr val="2B8A6D"/>
                </a:solidFill>
                <a:latin typeface="Segoe UI"/>
              </a:rPr>
              <a:t>+ 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Integración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rápida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seguridad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a cargo del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proveedor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C0483C"/>
                </a:solidFill>
                <a:latin typeface="Segoe UI"/>
              </a:rPr>
              <a:t>−  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Costo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por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suscripción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crece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menor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personalización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2452" y="3429000"/>
            <a:ext cx="3490874" cy="73152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Criterios tomados de </a:t>
            </a:r>
            <a:r>
              <a:rPr sz="1250" b="1" i="0">
                <a:solidFill>
                  <a:srgbClr val="141E29"/>
                </a:solidFill>
                <a:latin typeface="Segoe UI"/>
              </a:rPr>
              <a:t>ISO/IEC 25010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: seguridad, tiempo de implementación, costo total a 3 años, mantenibilidad y flexibilidad.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EJEMPLO COMPLETO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Caso 1 · La matriz y la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Pesos de 1 a 5. Para una fintech, la seguridad y el tiempo al mercado pesan más.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67021"/>
              </p:ext>
            </p:extLst>
          </p:nvPr>
        </p:nvGraphicFramePr>
        <p:xfrm>
          <a:off x="685800" y="2651760"/>
          <a:ext cx="6830568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7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Peso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 medida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Open source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Gestionado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 err="1">
                          <a:solidFill>
                            <a:srgbClr val="141E29"/>
                          </a:solidFill>
                          <a:latin typeface="Segoe UI"/>
                        </a:rPr>
                        <a:t>Seguridad</a:t>
                      </a:r>
                      <a:endParaRPr sz="1200" b="1" i="0" dirty="0">
                        <a:solidFill>
                          <a:srgbClr val="141E29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Tiempo de </a:t>
                      </a:r>
                      <a:r>
                        <a:rPr sz="1200" b="1" i="0" dirty="0" err="1">
                          <a:solidFill>
                            <a:srgbClr val="141E29"/>
                          </a:solidFill>
                          <a:latin typeface="Segoe UI"/>
                        </a:rPr>
                        <a:t>implementación</a:t>
                      </a:r>
                      <a:endParaRPr sz="1200" b="1" i="0" dirty="0">
                        <a:solidFill>
                          <a:srgbClr val="141E29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Costo total (3 </a:t>
                      </a:r>
                      <a:r>
                        <a:rPr sz="1200" b="1" i="0" dirty="0" err="1">
                          <a:solidFill>
                            <a:srgbClr val="141E29"/>
                          </a:solidFill>
                          <a:latin typeface="Segoe UI"/>
                        </a:rPr>
                        <a:t>años</a:t>
                      </a:r>
                      <a:r>
                        <a:rPr sz="12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 err="1">
                          <a:solidFill>
                            <a:srgbClr val="141E29"/>
                          </a:solidFill>
                          <a:latin typeface="Segoe UI"/>
                        </a:rPr>
                        <a:t>Mantenibilidad</a:t>
                      </a:r>
                      <a:endParaRPr sz="1200" b="1" i="0" dirty="0">
                        <a:solidFill>
                          <a:srgbClr val="141E29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 err="1">
                          <a:solidFill>
                            <a:srgbClr val="141E29"/>
                          </a:solidFill>
                          <a:latin typeface="Segoe UI"/>
                        </a:rPr>
                        <a:t>Flexibilidad</a:t>
                      </a:r>
                      <a:r>
                        <a:rPr sz="12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 /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TOTAL (</a:t>
                      </a:r>
                      <a:r>
                        <a:rPr sz="1200" b="1" i="0" dirty="0" err="1">
                          <a:solidFill>
                            <a:srgbClr val="141E29"/>
                          </a:solidFill>
                          <a:latin typeface="Segoe UI"/>
                        </a:rPr>
                        <a:t>máx</a:t>
                      </a:r>
                      <a:r>
                        <a:rPr sz="1200" b="1" i="0" dirty="0">
                          <a:solidFill>
                            <a:srgbClr val="141E29"/>
                          </a:solidFill>
                          <a:latin typeface="Segoe UI"/>
                        </a:rPr>
                        <a:t>. 85)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42566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42566A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42566A"/>
                          </a:solidFill>
                          <a:latin typeface="Segoe UI"/>
                        </a:rPr>
                        <a:t>61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200" b="1" i="0" dirty="0">
                          <a:solidFill>
                            <a:srgbClr val="2B8A6D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anchor="ctr">
                    <a:solidFill>
                      <a:srgbClr val="E0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44968" y="2651760"/>
            <a:ext cx="3788359" cy="1508760"/>
          </a:xfrm>
          <a:prstGeom prst="roundRect">
            <a:avLst>
              <a:gd name="adj" fmla="val 7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B8A6D"/>
                </a:solidFill>
                <a:latin typeface="Segoe UI Semibold"/>
              </a:rPr>
              <a:t>Decisión: servicio gestionado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75 de 85 puntos (88 %). Maximiza los criterios de mayor peso: seguridad y tiempo.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968" y="4297680"/>
            <a:ext cx="378835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 err="1">
                <a:solidFill>
                  <a:srgbClr val="141E29"/>
                </a:solidFill>
                <a:latin typeface="Segoe UI Semibold"/>
              </a:rPr>
              <a:t>Justificación</a:t>
            </a:r>
            <a:endParaRPr sz="1400" b="1" i="0" dirty="0">
              <a:solidFill>
                <a:srgbClr val="141E29"/>
              </a:solidFill>
              <a:latin typeface="Segoe UI Semibold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42566A"/>
                </a:solidFill>
                <a:latin typeface="Segoe UI"/>
              </a:rPr>
              <a:t>Para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una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VSE con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equipo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pequeño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y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presión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de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lanzamiento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delegar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la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seguridad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a un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proveedor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especializado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reduce el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riesgo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y libera al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equipo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 para el </a:t>
            </a:r>
            <a:r>
              <a:rPr sz="1150" b="0" i="0" dirty="0" err="1">
                <a:solidFill>
                  <a:srgbClr val="42566A"/>
                </a:solidFill>
                <a:latin typeface="Segoe UI"/>
              </a:rPr>
              <a:t>negocio</a:t>
            </a:r>
            <a:r>
              <a:rPr sz="1150" b="0" i="0" dirty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413248"/>
            <a:ext cx="6858000" cy="82296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57A0"/>
                </a:solidFill>
                <a:latin typeface="Segoe UI Semibold"/>
              </a:rPr>
              <a:t>Trazabilidad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La matriz documentada + la justificación escrita = práctica 6 de DAR cumplida. Esto es lo que se archiva.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EJEMPLO FORMAL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Caso 2 · Base de datos financiera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2566A"/>
                </a:solidFill>
                <a:latin typeface="Segoe UI"/>
              </a:rPr>
              <a:t>El mismo proceso DAR, pero con pesos porcentuales y la nomenclatura formal de un acta. Requisito: más de 10 000 transacciones simultáneas con garantía ACID.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743200"/>
          <a:ext cx="6720839" cy="18141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Criterio (peso)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DynamoDB</a:t>
                      </a:r>
                    </a:p>
                  </a:txBody>
                  <a:tcPr anchor="ctr">
                    <a:solidFill>
                      <a:srgbClr val="1A57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41E29"/>
                          </a:solidFill>
                          <a:latin typeface="Segoe UI"/>
                        </a:rPr>
                        <a:t>Consistencia (50 %)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5 · ACID nativo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5 · ACID nativo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3 · consistencia eventual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41E29"/>
                          </a:solidFill>
                          <a:latin typeface="Segoe UI"/>
                        </a:rPr>
                        <a:t>Costo · TCO (30 %)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5 · open source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1 · licencia muy costosa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4 · pago por uso</a:t>
                      </a:r>
                    </a:p>
                  </a:txBody>
                  <a:tcPr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41E29"/>
                          </a:solidFill>
                          <a:latin typeface="Segoe UI"/>
                        </a:rPr>
                        <a:t>Escalabilidad (20 %)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3 · complejo de escalar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4 · robusto pero costoso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42566A"/>
                          </a:solidFill>
                          <a:latin typeface="Segoe UI"/>
                        </a:rPr>
                        <a:t>5 · nativa inmediata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535424"/>
            <a:ext cx="6720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A57A0"/>
                </a:solidFill>
                <a:latin typeface="Segoe UI"/>
              </a:rPr>
              <a:t>EL CÁLCULO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B8A6D"/>
                </a:solidFill>
                <a:latin typeface="Segoe UI"/>
              </a:rPr>
              <a:t>PostgreSQL   </a:t>
            </a:r>
            <a:r>
              <a:rPr sz="1200" b="0" i="0">
                <a:solidFill>
                  <a:srgbClr val="42566A"/>
                </a:solidFill>
                <a:latin typeface="Consolas"/>
              </a:rPr>
              <a:t>(5 × 0,5) + (5 × 0,3) + (3 × 0,2)  =  </a:t>
            </a:r>
            <a:r>
              <a:rPr sz="1400" b="1" i="0">
                <a:solidFill>
                  <a:srgbClr val="2B8A6D"/>
                </a:solidFill>
                <a:latin typeface="Segoe UI"/>
              </a:rPr>
              <a:t>4,6  ← GANA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1E29"/>
                </a:solidFill>
                <a:latin typeface="Segoe UI"/>
              </a:rPr>
              <a:t>DynamoDB   </a:t>
            </a:r>
            <a:r>
              <a:rPr sz="1200" b="0" i="0">
                <a:solidFill>
                  <a:srgbClr val="42566A"/>
                </a:solidFill>
                <a:latin typeface="Consolas"/>
              </a:rPr>
              <a:t>(3 × 0,5) + (4 × 0,3) + (5 × 0,2)  =  </a:t>
            </a:r>
            <a:r>
              <a:rPr sz="1400" b="1" i="0">
                <a:solidFill>
                  <a:srgbClr val="141E29"/>
                </a:solidFill>
                <a:latin typeface="Segoe UI"/>
              </a:rPr>
              <a:t>3,7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41E29"/>
                </a:solidFill>
                <a:latin typeface="Segoe UI"/>
              </a:rPr>
              <a:t>Oracle   </a:t>
            </a:r>
            <a:r>
              <a:rPr sz="1200" b="0" i="0">
                <a:solidFill>
                  <a:srgbClr val="42566A"/>
                </a:solidFill>
                <a:latin typeface="Consolas"/>
              </a:rPr>
              <a:t>(5 × 0,5) + (1 × 0,3) + (4 × 0,2)  =  </a:t>
            </a:r>
            <a:r>
              <a:rPr sz="1400" b="1" i="0">
                <a:solidFill>
                  <a:srgbClr val="141E29"/>
                </a:solidFill>
                <a:latin typeface="Segoe UI"/>
              </a:rPr>
              <a:t>3,6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2743200"/>
            <a:ext cx="3925519" cy="1554480"/>
          </a:xfrm>
          <a:prstGeom prst="roundRect">
            <a:avLst>
              <a:gd name="adj" fmla="val 7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B8A6D"/>
                </a:solidFill>
                <a:latin typeface="Segoe UI Semibold"/>
              </a:rPr>
              <a:t>Decisión oficial: PostgreSQL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2566A"/>
                </a:solidFill>
                <a:latin typeface="Segoe UI"/>
              </a:rPr>
              <a:t>Puntuación más alta (4,6 sobre 5). Garantiza la consistencia requerida al menor costo proyectado.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4434840"/>
            <a:ext cx="3925519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Governance: el acta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2566A"/>
                </a:solidFill>
                <a:latin typeface="Segoe UI"/>
              </a:rPr>
              <a:t>Se redacta el acta del DAR firmada por el arquitecto de software y el gerente de proyecto, y se archiva bajo el código DAR-2026-DB01.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559552"/>
            <a:ext cx="6720840" cy="73152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5479F"/>
                </a:solidFill>
                <a:latin typeface="Segoe UI"/>
              </a:rPr>
              <a:t>EL DETALLE QUE HAY QUE MIRAR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E29"/>
                </a:solidFill>
                <a:latin typeface="Segoe UI Semibold"/>
              </a:rPr>
              <a:t>«Oracle y PostgreSQL empataron en consistencia: desempató el costo.»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69280"/>
            <a:ext cx="54864" cy="512064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87495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1" i="0">
                <a:solidFill>
                  <a:srgbClr val="9EC2EC"/>
                </a:solidFill>
                <a:latin typeface="Segoe UI"/>
              </a:rPr>
              <a:t>SEGUNDA PARTE · TALLER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Ahora deciden ustedes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6E6F8"/>
                </a:solidFill>
                <a:latin typeface="Segoe UI"/>
              </a:rPr>
              <a:t>Vamos a tomar una decisión real, entre todos, con el proceso DAR. Ustedes son el comité técnico.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TALLER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7223760" cy="1691640"/>
          </a:xfrm>
          <a:prstGeom prst="roundRect">
            <a:avLst>
              <a:gd name="adj" fmla="val 6000"/>
            </a:avLst>
          </a:prstGeom>
          <a:solidFill>
            <a:srgbClr val="E4EEFB"/>
          </a:solidFill>
          <a:ln w="12700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>
                <a:solidFill>
                  <a:srgbClr val="141E29"/>
                </a:solidFill>
                <a:latin typeface="Segoe UI Semibold"/>
              </a:rPr>
              <a:t>La Universidad Católica de Oriente </a:t>
            </a:r>
            <a:r>
              <a:rPr sz="2000" b="1" i="0" dirty="0" err="1">
                <a:solidFill>
                  <a:srgbClr val="141E29"/>
                </a:solidFill>
                <a:latin typeface="Segoe UI Semibold"/>
              </a:rPr>
              <a:t>quiere</a:t>
            </a:r>
            <a:r>
              <a:rPr sz="20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2000" b="1" i="0" dirty="0" err="1">
                <a:solidFill>
                  <a:srgbClr val="141E29"/>
                </a:solidFill>
                <a:latin typeface="Segoe UI Semibold"/>
              </a:rPr>
              <a:t>lanzar</a:t>
            </a:r>
            <a:r>
              <a:rPr sz="2000" b="1" i="0" dirty="0">
                <a:solidFill>
                  <a:srgbClr val="141E29"/>
                </a:solidFill>
                <a:latin typeface="Segoe UI Semibold"/>
              </a:rPr>
              <a:t> el carnet </a:t>
            </a:r>
            <a:r>
              <a:rPr sz="2000" b="1" i="0" dirty="0" err="1">
                <a:solidFill>
                  <a:srgbClr val="141E29"/>
                </a:solidFill>
                <a:latin typeface="Segoe UI Semibold"/>
              </a:rPr>
              <a:t>estudiantil</a:t>
            </a:r>
            <a:r>
              <a:rPr sz="2000" b="1" i="0" dirty="0">
                <a:solidFill>
                  <a:srgbClr val="141E29"/>
                </a:solidFill>
                <a:latin typeface="Segoe UI Semibold"/>
              </a:rPr>
              <a:t> digital. ¿Con </a:t>
            </a:r>
            <a:r>
              <a:rPr sz="2000" b="1" i="0" dirty="0" err="1">
                <a:solidFill>
                  <a:srgbClr val="141E29"/>
                </a:solidFill>
                <a:latin typeface="Segoe UI Semibold"/>
              </a:rPr>
              <a:t>qué</a:t>
            </a:r>
            <a:r>
              <a:rPr sz="20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2000" b="1" i="0" dirty="0" err="1">
                <a:solidFill>
                  <a:srgbClr val="141E29"/>
                </a:solidFill>
                <a:latin typeface="Segoe UI Semibold"/>
              </a:rPr>
              <a:t>tecnología</a:t>
            </a:r>
            <a:r>
              <a:rPr sz="2000" b="1" i="0" dirty="0">
                <a:solidFill>
                  <a:srgbClr val="141E29"/>
                </a:solidFill>
                <a:latin typeface="Segoe UI Semibold"/>
              </a:rPr>
              <a:t> lo </a:t>
            </a:r>
            <a:r>
              <a:rPr sz="2000" b="1" i="0" dirty="0" err="1">
                <a:solidFill>
                  <a:srgbClr val="141E29"/>
                </a:solidFill>
                <a:latin typeface="Segoe UI Semibold"/>
              </a:rPr>
              <a:t>construimos</a:t>
            </a:r>
            <a:r>
              <a:rPr sz="2000" b="1" i="0" dirty="0">
                <a:solidFill>
                  <a:srgbClr val="141E29"/>
                </a:solidFill>
                <a:latin typeface="Segoe UI Semibold"/>
              </a:rPr>
              <a:t>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42566A"/>
                </a:solidFill>
                <a:latin typeface="Segoe UI"/>
              </a:rPr>
              <a:t>Presupuesto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limitado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· Listo para el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próximo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semestre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· Debe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funcionar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en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Android y iPhone · Tiene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leerse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en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la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portería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50" b="0" i="0" dirty="0" err="1">
                <a:solidFill>
                  <a:srgbClr val="42566A"/>
                </a:solidFill>
                <a:latin typeface="Segoe UI"/>
              </a:rPr>
              <a:t>incluso</a:t>
            </a:r>
            <a:r>
              <a:rPr sz="1250" b="0" i="0" dirty="0">
                <a:solidFill>
                  <a:srgbClr val="42566A"/>
                </a:solidFill>
                <a:latin typeface="Segoe UI"/>
              </a:rPr>
              <a:t> sin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8" y="2194560"/>
            <a:ext cx="3419856" cy="288036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19050">
            <a:solidFill>
              <a:srgbClr val="697C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A57A0"/>
                </a:solidFill>
                <a:latin typeface="Segoe UI"/>
              </a:rPr>
              <a:t>[ ESPACIO PARA IMAGEN ]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1E29"/>
                </a:solidFill>
                <a:latin typeface="Segoe UI Semibold"/>
              </a:rPr>
              <a:t>Código QR del taller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2566A"/>
                </a:solidFill>
                <a:latin typeface="Segoe UI"/>
              </a:rPr>
              <a:t>Pega aquí el QR que aparece en la pestaña «Unirse» del Modo taller de la web,
o imprímelo aparte y pégalo en el tablero.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069080"/>
            <a:ext cx="7223760" cy="100584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12700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57A0"/>
                </a:solidFill>
                <a:latin typeface="Segoe UI Semibold"/>
              </a:rPr>
              <a:t>Las reglas del juego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Primero acordamos QUÉ ES LO QUE IMPORTA y cuánto pesa cada cosa. Después calificamos las opciones. El resultado lo calcula la matriz, no yo.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57800"/>
            <a:ext cx="7223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Esto que vamos a hacer es la </a:t>
            </a:r>
            <a:r>
              <a:rPr sz="1300" b="1" i="0">
                <a:solidFill>
                  <a:srgbClr val="141E29"/>
                </a:solidFill>
                <a:latin typeface="Segoe UI"/>
              </a:rPr>
              <a:t>práctica 2 de DAR</a:t>
            </a:r>
            <a:r>
              <a:rPr sz="1300" b="0" i="0">
                <a:solidFill>
                  <a:srgbClr val="42566A"/>
                </a:solidFill>
                <a:latin typeface="Segoe UI"/>
              </a:rPr>
              <a:t>: establecer criterios de evaluación y asignarles pesos. Y los criterios no se inventan: muchos salen de la </a:t>
            </a:r>
            <a:r>
              <a:rPr sz="1300" b="1" i="0">
                <a:solidFill>
                  <a:srgbClr val="141E29"/>
                </a:solidFill>
                <a:latin typeface="Segoe UI"/>
              </a:rPr>
              <a:t>ISO/IEC 25010</a:t>
            </a:r>
            <a:r>
              <a:rPr sz="1300" b="0" i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30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A9B0E68-AA5F-2481-9718-C5659C5A0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1773936"/>
            <a:ext cx="3721608" cy="3721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3DF97-6D3E-7644-1670-8435B28DFEA8}"/>
              </a:ext>
            </a:extLst>
          </p:cNvPr>
          <p:cNvSpPr/>
          <p:nvPr/>
        </p:nvSpPr>
        <p:spPr>
          <a:xfrm>
            <a:off x="7971282" y="4946904"/>
            <a:ext cx="873252" cy="521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TALLER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Paso 1 · ¿Qué es lo que de verdad importa?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88036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A57A0"/>
                </a:solidFill>
                <a:latin typeface="Segoe UI"/>
              </a:rPr>
              <a:t>SI SE ATASCAN, ESTAS SON LAS PISTAS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0040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Costo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3200400"/>
            <a:ext cx="2295144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Tiempo de </a:t>
            </a:r>
            <a:r>
              <a:rPr sz="1200" b="0" i="0" dirty="0" err="1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entrega</a:t>
            </a:r>
            <a:endParaRPr sz="1200" b="0" i="0" dirty="0">
              <a:solidFill>
                <a:srgbClr val="1A57A0"/>
              </a:solidFill>
              <a:highlight>
                <a:srgbClr val="FFFF00"/>
              </a:highlight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05072" y="3172968"/>
            <a:ext cx="2889504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Experiencia</a:t>
            </a:r>
            <a:r>
              <a:rPr sz="1200" b="0" i="0" dirty="0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 de </a:t>
            </a:r>
            <a:r>
              <a:rPr sz="1200" b="0" i="0" dirty="0" err="1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usuario</a:t>
            </a:r>
            <a:endParaRPr sz="1200" b="0" i="0" dirty="0">
              <a:solidFill>
                <a:srgbClr val="1A57A0"/>
              </a:solidFill>
              <a:highlight>
                <a:srgbClr val="FFFF00"/>
              </a:highlight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86016" y="3200400"/>
            <a:ext cx="2889504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57A0"/>
                </a:solidFill>
                <a:latin typeface="Segoe UI"/>
              </a:rPr>
              <a:t>Mantenimiento a futuro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3200400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Seguridad</a:t>
            </a:r>
            <a:endParaRPr sz="1200" b="0" i="0" dirty="0">
              <a:solidFill>
                <a:srgbClr val="1A57A0"/>
              </a:solidFill>
              <a:highlight>
                <a:srgbClr val="FFFF00"/>
              </a:highlight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3621024"/>
            <a:ext cx="3127248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57A0"/>
                </a:solidFill>
                <a:latin typeface="Segoe UI"/>
              </a:rPr>
              <a:t>Acceso al hardware (NFC)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3621024"/>
            <a:ext cx="2770632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Funciona</a:t>
            </a:r>
            <a:r>
              <a:rPr sz="1200" b="0" i="0" dirty="0">
                <a:solidFill>
                  <a:srgbClr val="1A57A0"/>
                </a:solidFill>
                <a:highlight>
                  <a:srgbClr val="FFFF00"/>
                </a:highlight>
                <a:latin typeface="Segoe UI"/>
              </a:rPr>
              <a:t> sin internet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9128" y="3621024"/>
            <a:ext cx="3959352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57A0"/>
                </a:solidFill>
                <a:latin typeface="Segoe UI"/>
              </a:rPr>
              <a:t>Curva de aprendizaje del equipo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416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4EEFB"/>
          </a:solidFill>
          <a:ln w="9525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2296" rIns="73152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57A0"/>
                </a:solidFill>
                <a:latin typeface="Segoe UI"/>
              </a:rPr>
              <a:t>Alcance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7200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8A6D"/>
                </a:solidFill>
                <a:latin typeface="Segoe UI Semibold"/>
              </a:rPr>
              <a:t>Cómo votamos el peso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A mano alzada o con las fichas del 1 al 5. 1 = casi no importa · 5 = es decisivo.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572000"/>
            <a:ext cx="5303520" cy="960120"/>
          </a:xfrm>
          <a:prstGeom prst="roundRect">
            <a:avLst>
              <a:gd name="adj" fmla="val 7000"/>
            </a:avLst>
          </a:prstGeom>
          <a:solidFill>
            <a:srgbClr val="F7E4E2"/>
          </a:solidFill>
          <a:ln w="12700">
            <a:solidFill>
              <a:srgbClr val="C04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483C"/>
                </a:solidFill>
                <a:latin typeface="Segoe UI Semibold"/>
              </a:rPr>
              <a:t>Nos quedamos con cuatro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Más criterios no mejoran la decisión: la diluyen. Cuatro bien elegidos bastan.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50992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 dirty="0">
                <a:solidFill>
                  <a:srgbClr val="65479F"/>
                </a:solidFill>
                <a:latin typeface="Segoe UI"/>
              </a:rPr>
              <a:t>ESTO TIENE NOMBRE TÉCNICO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141E29"/>
                </a:solidFill>
                <a:latin typeface="Segoe UI Semibold"/>
              </a:rPr>
              <a:t>«Esto es la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práctica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2 de DAR: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establecer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criterios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de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evaluación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y </a:t>
            </a:r>
            <a:r>
              <a:rPr sz="1500" b="1" i="0" dirty="0" err="1">
                <a:solidFill>
                  <a:srgbClr val="141E29"/>
                </a:solidFill>
                <a:latin typeface="Segoe UI Semibold"/>
              </a:rPr>
              <a:t>asignarles</a:t>
            </a:r>
            <a:r>
              <a:rPr sz="1500" b="1" i="0" dirty="0">
                <a:solidFill>
                  <a:srgbClr val="141E29"/>
                </a:solidFill>
                <a:latin typeface="Segoe UI Semibold"/>
              </a:rPr>
              <a:t> pesos.»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760720"/>
            <a:ext cx="54864" cy="438912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TALLER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Paso 2 · Las tres opciones sobre la mesa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3490874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7" y="2724912"/>
            <a:ext cx="868680" cy="310896"/>
          </a:xfrm>
          <a:prstGeom prst="roundRect">
            <a:avLst>
              <a:gd name="adj" fmla="val 30000"/>
            </a:avLst>
          </a:prstGeom>
          <a:solidFill>
            <a:srgbClr val="D75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ALT.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00400"/>
            <a:ext cx="3125114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141E29"/>
                </a:solidFill>
                <a:latin typeface="Segoe UI Semibold"/>
              </a:rPr>
              <a:t>Apps </a:t>
            </a:r>
            <a:r>
              <a:rPr sz="1600" b="1" i="0" dirty="0" err="1">
                <a:solidFill>
                  <a:srgbClr val="141E29"/>
                </a:solidFill>
                <a:latin typeface="Segoe UI Semibold"/>
              </a:rPr>
              <a:t>nativas</a:t>
            </a:r>
            <a:endParaRPr sz="1600" b="1" i="0" dirty="0">
              <a:solidFill>
                <a:srgbClr val="141E29"/>
              </a:solidFill>
              <a:latin typeface="Segoe UI Semibold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 dirty="0">
                <a:solidFill>
                  <a:srgbClr val="697C8F"/>
                </a:solidFill>
                <a:latin typeface="Segoe UI"/>
              </a:rPr>
              <a:t>Kotlin + Swift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dirty="0">
                <a:solidFill>
                  <a:srgbClr val="2B8A6D"/>
                </a:solidFill>
                <a:latin typeface="Segoe UI"/>
              </a:rPr>
              <a:t>A favor  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
Máximo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rendimiento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,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acceso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total a NFC y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cámara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, la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mejor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experiencia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C0483C"/>
                </a:solidFill>
                <a:latin typeface="Segoe UI"/>
              </a:rPr>
              <a:t>En contra  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
Hay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que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construir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y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mantener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DOS apps. Lo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más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caro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y lo </a:t>
            </a:r>
            <a:r>
              <a:rPr sz="1200" b="0" i="0" dirty="0" err="1">
                <a:solidFill>
                  <a:srgbClr val="42566A"/>
                </a:solidFill>
                <a:latin typeface="Segoe UI"/>
              </a:rPr>
              <a:t>más</a:t>
            </a:r>
            <a:r>
              <a:rPr sz="1200" b="0" i="0" dirty="0">
                <a:solidFill>
                  <a:srgbClr val="42566A"/>
                </a:solidFill>
                <a:latin typeface="Segoe UI"/>
              </a:rPr>
              <a:t> lento.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410" y="2514600"/>
            <a:ext cx="3490874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33290" y="2724912"/>
            <a:ext cx="868680" cy="310896"/>
          </a:xfrm>
          <a:prstGeom prst="roundRect">
            <a:avLst>
              <a:gd name="adj" fmla="val 30000"/>
            </a:avLst>
          </a:prstGeom>
          <a:solidFill>
            <a:srgbClr val="5AA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ALT.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290" y="3200400"/>
            <a:ext cx="3125114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E29"/>
                </a:solidFill>
                <a:latin typeface="Segoe UI Semibold"/>
              </a:rPr>
              <a:t>Multiplataforma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697C8F"/>
                </a:solidFill>
                <a:latin typeface="Segoe UI"/>
              </a:rPr>
              <a:t>Flutter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 favor  </a:t>
            </a:r>
            <a:r>
              <a:rPr sz="1200" b="0" i="0">
                <a:solidFill>
                  <a:srgbClr val="42566A"/>
                </a:solidFill>
                <a:latin typeface="Segoe UI"/>
              </a:rPr>
              <a:t>
Un solo código para las dos tiendas, desarrollo rápido, buen rendimiento.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483C"/>
                </a:solidFill>
                <a:latin typeface="Segoe UI"/>
              </a:rPr>
              <a:t>En contra  </a:t>
            </a:r>
            <a:r>
              <a:rPr sz="1200" b="0" i="0">
                <a:solidFill>
                  <a:srgbClr val="42566A"/>
                </a:solidFill>
                <a:latin typeface="Segoe UI"/>
              </a:rPr>
              <a:t>
El equipo debe aprender Dart; algunas funciones necesitan plugins.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452" y="2514600"/>
            <a:ext cx="3490874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5332" y="2724912"/>
            <a:ext cx="868680" cy="310896"/>
          </a:xfrm>
          <a:prstGeom prst="roundRect">
            <a:avLst>
              <a:gd name="adj" fmla="val 30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ALT.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5332" y="3200400"/>
            <a:ext cx="3125114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1E29"/>
                </a:solidFill>
                <a:latin typeface="Segoe UI Semibold"/>
              </a:rPr>
              <a:t>Aplicación web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0" i="0">
                <a:solidFill>
                  <a:srgbClr val="697C8F"/>
                </a:solidFill>
                <a:latin typeface="Segoe UI"/>
              </a:rPr>
              <a:t>PWA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B8A6D"/>
                </a:solidFill>
                <a:latin typeface="Segoe UI"/>
              </a:rPr>
              <a:t>A favor  </a:t>
            </a:r>
            <a:r>
              <a:rPr sz="1200" b="0" i="0">
                <a:solidFill>
                  <a:srgbClr val="42566A"/>
                </a:solidFill>
                <a:latin typeface="Segoe UI"/>
              </a:rPr>
              <a:t>
Lo más barato y rápido, sin pasar por las tiendas, se actualiza solo.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483C"/>
                </a:solidFill>
                <a:latin typeface="Segoe UI"/>
              </a:rPr>
              <a:t>En contra  </a:t>
            </a:r>
            <a:r>
              <a:rPr sz="1200" b="0" i="0">
                <a:solidFill>
                  <a:srgbClr val="42566A"/>
                </a:solidFill>
                <a:latin typeface="Segoe UI"/>
              </a:rPr>
              <a:t>
Acceso limitado al hardware, depende del navegador, se siente menos como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TALLER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Paso 3 · Califiquen cada opción del 1 al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10509199" cy="277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dirty="0" err="1">
                <a:solidFill>
                  <a:srgbClr val="42566A"/>
                </a:solidFill>
                <a:latin typeface="Segoe UI"/>
              </a:rPr>
              <a:t>Criterio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por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criterio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. 1 =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muy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malo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en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eso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, 5 =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excelente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en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42566A"/>
                </a:solidFill>
                <a:latin typeface="Segoe UI"/>
              </a:rPr>
              <a:t>eso</a:t>
            </a:r>
            <a:r>
              <a:rPr sz="1550" b="0" i="0" dirty="0">
                <a:solidFill>
                  <a:srgbClr val="42566A"/>
                </a:solidFill>
                <a:latin typeface="Segoe UI"/>
              </a:rPr>
              <a:t>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6766560" cy="2971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19050">
            <a:solidFill>
              <a:srgbClr val="697C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lang="es-ES" sz="1050" b="0" i="0" dirty="0">
                <a:solidFill>
                  <a:srgbClr val="42566A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3528" y="2788920"/>
            <a:ext cx="3879799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Cómo se vota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Fichas del 1 al 5, mano alzada, o el formulario desde el celular. Tú escribes en la matriz.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3528" y="4251960"/>
            <a:ext cx="3879799" cy="1508760"/>
          </a:xfrm>
          <a:prstGeom prst="roundRect">
            <a:avLst>
              <a:gd name="adj" fmla="val 7000"/>
            </a:avLst>
          </a:prstGeom>
          <a:solidFill>
            <a:srgbClr val="E0F2EC"/>
          </a:solidFill>
          <a:ln w="12700">
            <a:solidFill>
              <a:srgbClr val="2B8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8A6D"/>
                </a:solidFill>
                <a:latin typeface="Segoe UI Semibold"/>
              </a:rPr>
              <a:t>La escala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1 = muy malo en ese criterio · 3 = aceptable · 5 = excelente. Si dudan entre dos notas, discútanlo: ese debate es parte del método.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EL TALLER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Paso 5 · Lo que acabamos de hacer tiene nombre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35000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Definimos criterios y les pusimos peso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Práctica 2 de DAR. Los criterios salen de ISO/IEC 25010.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2150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9407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Identificamos alternativas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Práctica 3. Tres opciones reales, no una impuesta.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6557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438144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Elegimos un método y evaluamos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Prácticas 4 y 5: matriz ponderada, Total = Σ (peso × puntaje).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0964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82296" rIns="0" bIns="82296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982211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1E29"/>
                </a:solidFill>
                <a:latin typeface="Segoe UI Semibold"/>
              </a:rPr>
              <a:t>Seleccionamos y quedó documentado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2566A"/>
                </a:solidFill>
                <a:latin typeface="Segoe UI"/>
              </a:rPr>
              <a:t>Práctica 6. Esta matriz es TRAZABILIDAD.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2377440"/>
            <a:ext cx="3834079" cy="1874519"/>
          </a:xfrm>
          <a:prstGeom prst="roundRect">
            <a:avLst>
              <a:gd name="adj" fmla="val 7000"/>
            </a:avLst>
          </a:prstGeom>
          <a:solidFill>
            <a:srgbClr val="E4EEFB"/>
          </a:solidFill>
          <a:ln w="12700">
            <a:solidFill>
              <a:srgbClr val="1A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A57A0"/>
                </a:solidFill>
                <a:latin typeface="Segoe UI Semibold"/>
              </a:rPr>
              <a:t>¿Se acuerdan del appraisal?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2566A"/>
                </a:solidFill>
                <a:latin typeface="Segoe UI"/>
              </a:rPr>
              <a:t>Esta matriz que acabamos de llenar es, literalmente, una de las evidencias que un Lead Appraiser pide para otorgar el Nivel 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81728"/>
            <a:ext cx="10874959" cy="1051560"/>
          </a:xfrm>
          <a:prstGeom prst="roundRect">
            <a:avLst>
              <a:gd name="adj" fmla="val 7000"/>
            </a:avLst>
          </a:prstGeom>
          <a:solidFill>
            <a:srgbClr val="FBF0DA"/>
          </a:solidFill>
          <a:ln w="12700">
            <a:solidFill>
              <a:srgbClr val="C1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7C16"/>
                </a:solidFill>
                <a:latin typeface="Segoe UI Semibold"/>
              </a:rPr>
              <a:t>Y esto es lo importante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Esto es el proceso DAR de CMMI Nivel 3, y el principio que lo sostiene es de ISO 9001: toma de decisiones basada en la evidencia. No decidimos por intuición: decidimos con criterios, con datos y dejando registro.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833872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E29"/>
                </a:solidFill>
                <a:latin typeface="Segoe UI"/>
              </a:rPr>
              <a:t>La última pregunta:  </a:t>
            </a:r>
            <a:r>
              <a:rPr sz="1400" b="0" i="0">
                <a:solidFill>
                  <a:srgbClr val="42566A"/>
                </a:solidFill>
                <a:latin typeface="Segoe UI"/>
              </a:rPr>
              <a:t>«¿Qué se llevan de esto? ¿En qué decisión de su propio proyecto podrían usar una matriz así?»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PARA TERMINAR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349087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1E29"/>
                </a:solidFill>
                <a:latin typeface="Segoe UI Semibold"/>
              </a:rPr>
              <a:t>Para el proyecto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Toda decisión de alto impacto debería dejar una matriz y un acta. Cuesta veinte minutos y ahorra discusiones de meses.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42616"/>
            <a:ext cx="50292" cy="1435608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50410" y="2514600"/>
            <a:ext cx="349087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1E29"/>
                </a:solidFill>
                <a:latin typeface="Segoe UI Semibold"/>
              </a:rPr>
              <a:t>Para la empresa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Decidir bien de forma repetible es lo que separa el Nivel 2 del Nivel 3. No es papeleo: es madurez.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0410" y="2642616"/>
            <a:ext cx="50292" cy="1435608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2452" y="2514600"/>
            <a:ext cx="349087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82296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41E29"/>
                </a:solidFill>
                <a:latin typeface="Segoe UI Semibold"/>
              </a:rPr>
              <a:t>Para nosotros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2566A"/>
                </a:solidFill>
                <a:latin typeface="Segoe UI"/>
              </a:rPr>
              <a:t>El método no reemplaza el criterio técnico: lo hace visible, discutible y defendible.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2452" y="2642616"/>
            <a:ext cx="50292" cy="1435608"/>
          </a:xfrm>
          <a:prstGeom prst="rect">
            <a:avLst/>
          </a:prstGeom>
          <a:solidFill>
            <a:srgbClr val="2B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4526280"/>
            <a:ext cx="10874959" cy="960120"/>
          </a:xfrm>
          <a:prstGeom prst="roundRect">
            <a:avLst>
              <a:gd name="adj" fmla="val 6000"/>
            </a:avLst>
          </a:prstGeom>
          <a:solidFill>
            <a:srgbClr val="EFE8FA"/>
          </a:solidFill>
          <a:ln w="12700">
            <a:solidFill>
              <a:srgbClr val="C3B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82296" rIns="128016" bIns="82296" rtlCol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5479F"/>
                </a:solidFill>
                <a:latin typeface="Segoe UI"/>
              </a:rPr>
              <a:t>Y SI SOLO SE LLEVAN UNA FRASE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E29"/>
                </a:solidFill>
                <a:latin typeface="Segoe UI Semibold"/>
              </a:rPr>
              <a:t>«Decisión basada en evidencia, no solo en opinión.»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636008"/>
            <a:ext cx="54864" cy="740664"/>
          </a:xfrm>
          <a:prstGeom prst="rect">
            <a:avLst/>
          </a:prstGeom>
          <a:solidFill>
            <a:srgbClr val="654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57A0"/>
                </a:solidFill>
                <a:latin typeface="Segoe UI"/>
              </a:rPr>
              <a:t>BIBLIOGRAFÍA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E29"/>
                </a:solidFill>
                <a:latin typeface="Segoe UI Semibold"/>
              </a:rPr>
              <a:t>Referencias en formato 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960120" cy="45720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267712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2296" rIns="128016" bIns="82296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E29"/>
                </a:solidFill>
                <a:latin typeface="Segoe UI"/>
              </a:rPr>
              <a:t>ISACA / CMMI Institute.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 (2023). </a:t>
            </a:r>
            <a:r>
              <a:rPr sz="1250" b="0" i="1">
                <a:solidFill>
                  <a:srgbClr val="42566A"/>
                </a:solidFill>
                <a:latin typeface="Segoe UI"/>
              </a:rPr>
              <a:t>CMMI® Model V3.0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. ISACA. https://cmmiinstitute.com/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99232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2296" rIns="128016" bIns="82296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E29"/>
                </a:solidFill>
                <a:latin typeface="Segoe UI"/>
              </a:rPr>
              <a:t>International Organization for Standardization.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 (2023). </a:t>
            </a:r>
            <a:r>
              <a:rPr sz="1250" b="0" i="1">
                <a:solidFill>
                  <a:srgbClr val="42566A"/>
                </a:solidFill>
                <a:latin typeface="Segoe UI"/>
              </a:rPr>
              <a:t>ISO/IEC 25010:2023. Systems and software engineering — SQuaRE — Product quality model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. ISO. https://www.iso.org/standard/78176.html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30752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2296" rIns="128016" bIns="82296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E29"/>
                </a:solidFill>
                <a:latin typeface="Segoe UI"/>
              </a:rPr>
              <a:t>International Organization for Standardization.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 (2015). </a:t>
            </a:r>
            <a:r>
              <a:rPr sz="1250" b="0" i="1">
                <a:solidFill>
                  <a:srgbClr val="42566A"/>
                </a:solidFill>
                <a:latin typeface="Segoe UI"/>
              </a:rPr>
              <a:t>ISO 9001:2015. Quality management systems — Requirements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. ISO. https://www.iso.org/standard/62085.html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462272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2296" rIns="128016" bIns="82296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E29"/>
                </a:solidFill>
                <a:latin typeface="Segoe UI"/>
              </a:rPr>
              <a:t>Saaty, T. L.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 (1980). </a:t>
            </a:r>
            <a:r>
              <a:rPr sz="1250" b="0" i="1">
                <a:solidFill>
                  <a:srgbClr val="42566A"/>
                </a:solidFill>
                <a:latin typeface="Segoe UI"/>
              </a:rPr>
              <a:t>The Analytic Hierarchy Process: Planning, Priority Setting, Resource Allocation</a:t>
            </a:r>
            <a:r>
              <a:rPr sz="1250" b="0" i="0">
                <a:solidFill>
                  <a:srgbClr val="42566A"/>
                </a:solidFill>
                <a:latin typeface="Segoe UI"/>
              </a:rPr>
              <a:t>. McGraw-Hill.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97C8F"/>
                </a:solidFill>
                <a:latin typeface="Segoe UI"/>
              </a:rPr>
              <a:t>Software IV · Toma de decisiones en ingeniería de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3247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97C8F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1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0"/>
            <a:ext cx="10874959" cy="2346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5200" b="1" i="0" dirty="0">
                <a:solidFill>
                  <a:srgbClr val="FFFFFF"/>
                </a:solidFill>
                <a:latin typeface="Segoe UI Semibold"/>
              </a:rPr>
              <a:t>Gracias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600"/>
              </a:spcAft>
            </a:pPr>
            <a:r>
              <a:rPr sz="2200" b="0" i="0" dirty="0">
                <a:solidFill>
                  <a:srgbClr val="9EC2EC"/>
                </a:solidFill>
                <a:latin typeface="Segoe UI"/>
              </a:rPr>
              <a:t>¿</a:t>
            </a:r>
            <a:r>
              <a:rPr sz="2200" b="0" i="0" dirty="0" err="1">
                <a:solidFill>
                  <a:srgbClr val="9EC2EC"/>
                </a:solidFill>
                <a:latin typeface="Segoe UI"/>
              </a:rPr>
              <a:t>Preguntas</a:t>
            </a:r>
            <a:r>
              <a:rPr sz="2200" b="0" i="0" dirty="0">
                <a:solidFill>
                  <a:srgbClr val="9EC2EC"/>
                </a:solidFill>
                <a:latin typeface="Segoe UI"/>
              </a:rPr>
              <a:t>?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D6E6F8"/>
                </a:solidFill>
                <a:latin typeface="Segoe UI"/>
              </a:rPr>
              <a:t>Andrés Felipe Vélez Alcaraz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9EC2EC"/>
                </a:solidFill>
                <a:latin typeface="Segoe UI"/>
              </a:rPr>
              <a:t>Software IV  ·  Universidad Católica de Oriente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5632</Words>
  <Application>Microsoft Office PowerPoint</Application>
  <PresentationFormat>Panorámica</PresentationFormat>
  <Paragraphs>587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Calibri</vt:lpstr>
      <vt:lpstr>Consolas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 Felipe Velez Alcaraz</cp:lastModifiedBy>
  <cp:revision>11</cp:revision>
  <dcterms:created xsi:type="dcterms:W3CDTF">2013-01-27T09:14:16Z</dcterms:created>
  <dcterms:modified xsi:type="dcterms:W3CDTF">2026-09-23T23:00:09Z</dcterms:modified>
  <cp:category/>
</cp:coreProperties>
</file>