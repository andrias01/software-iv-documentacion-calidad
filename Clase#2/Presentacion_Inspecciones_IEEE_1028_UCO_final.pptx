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1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52160" y="2907792"/>
            <a:ext cx="5120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Inspecciones de Software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925312" y="36393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IEEE Std 1028-2008 · Cláusula 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57600" y="627278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Universidad Católica de Oriente · Ingeniería de Software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961888" y="4160520"/>
            <a:ext cx="1828800" cy="384048"/>
          </a:xfrm>
          <a:prstGeom prst="roundRect">
            <a:avLst>
              <a:gd fmla="val 16667" name="adj"/>
            </a:avLst>
          </a:prstGeom>
          <a:solidFill>
            <a:srgbClr val="D6A62A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2–6 participantes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8001000" y="4160520"/>
            <a:ext cx="1508760" cy="384048"/>
          </a:xfrm>
          <a:prstGeom prst="roundRect">
            <a:avLst>
              <a:gd fmla="val 16667" name="adj"/>
            </a:avLst>
          </a:prstGeom>
          <a:solidFill>
            <a:srgbClr val="146937"/>
          </a:solidFill>
          <a:ln cap="flat" cmpd="sng" w="15225">
            <a:solidFill>
              <a:srgbClr val="1469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Checklists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9674352" y="4160520"/>
            <a:ext cx="1170432" cy="384048"/>
          </a:xfrm>
          <a:prstGeom prst="roundRect">
            <a:avLst>
              <a:gd fmla="val 16667" name="adj"/>
            </a:avLst>
          </a:prstGeom>
          <a:solidFill>
            <a:srgbClr val="D6A62A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31520" y="2011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6A62A"/>
                </a:solidFill>
                <a:latin typeface="Arial"/>
                <a:ea typeface="Arial"/>
                <a:cs typeface="Arial"/>
                <a:sym typeface="Arial"/>
              </a:rPr>
              <a:t>CLÁUSULA 6.1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31520" y="475488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¿Qué es una inspección de software?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13232" y="1060704"/>
            <a:ext cx="1051560" cy="32004"/>
          </a:xfrm>
          <a:prstGeom prst="rect">
            <a:avLst/>
          </a:prstGeom>
          <a:solidFill>
            <a:srgbClr val="D6A62A"/>
          </a:solidFill>
          <a:ln cap="flat" cmpd="sng" w="95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85774" y="1223001"/>
            <a:ext cx="1920300" cy="475500"/>
          </a:xfrm>
          <a:prstGeom prst="roundRect">
            <a:avLst>
              <a:gd fmla="val 16667" name="adj"/>
            </a:avLst>
          </a:prstGeom>
          <a:solidFill>
            <a:srgbClr val="D6A62A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EXAMEN ENTRE PARES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868675" y="1828800"/>
            <a:ext cx="2240400" cy="140820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1014984" y="1993392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581912" y="19202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51560" y="2450592"/>
            <a:ext cx="194767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Requisitos, diseño, código, manuales y planes.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3182112" y="2249424"/>
            <a:ext cx="475488" cy="384048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069080" y="1664208"/>
            <a:ext cx="2788920" cy="1572768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215384" y="1828800"/>
            <a:ext cx="384048" cy="384048"/>
          </a:xfrm>
          <a:prstGeom prst="ellipse">
            <a:avLst/>
          </a:prstGeom>
          <a:solidFill>
            <a:srgbClr val="F4E4B2"/>
          </a:solidFill>
          <a:ln cap="flat" cmpd="sng" w="9525">
            <a:solidFill>
              <a:srgbClr val="F4E4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782312" y="17556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Anomalías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251960" y="2322576"/>
            <a:ext cx="24963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Detecta errores, omisiones y desviaciones frente a estándares, especificaciones y calidad.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114032" y="2249424"/>
            <a:ext cx="475488" cy="384048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1E80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8065008" y="1828800"/>
            <a:ext cx="2514600" cy="1225296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8211312" y="1993392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778240" y="1920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247888" y="2450592"/>
            <a:ext cx="22219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Hallazgos documentados + decisión del producto.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896100" y="4160526"/>
            <a:ext cx="2212800" cy="112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042416" y="4325112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609344" y="4251960"/>
            <a:ext cx="134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Especificaciones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78992" y="478231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SRS, contratos y políticas.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3456425" y="4160526"/>
            <a:ext cx="2212800" cy="112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3602736" y="4325112"/>
            <a:ext cx="384048" cy="384048"/>
          </a:xfrm>
          <a:prstGeom prst="ellipse">
            <a:avLst/>
          </a:prstGeom>
          <a:solidFill>
            <a:srgbClr val="F1E8CC"/>
          </a:solidFill>
          <a:ln cap="flat" cmpd="sng" w="9525">
            <a:solidFill>
              <a:srgbClr val="F1E8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169664" y="4251960"/>
            <a:ext cx="134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Diseño y código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3639312" y="478231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Arquitectura, diseño y fuente.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6016750" y="4160526"/>
            <a:ext cx="2212800" cy="112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6163056" y="4325112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729984" y="4251960"/>
            <a:ext cx="134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Reportes y datos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199632" y="478231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Pruebas, anomalías y estado.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8577075" y="4160526"/>
            <a:ext cx="2212800" cy="112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8723376" y="4325112"/>
            <a:ext cx="384048" cy="384048"/>
          </a:xfrm>
          <a:prstGeom prst="ellipse">
            <a:avLst/>
          </a:prstGeom>
          <a:solidFill>
            <a:srgbClr val="F1E8CC"/>
          </a:solidFill>
          <a:ln cap="flat" cmpd="sng" w="9525">
            <a:solidFill>
              <a:srgbClr val="F1E8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290304" y="4251960"/>
            <a:ext cx="134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Planes y procesos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8759952" y="478231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QA, V&amp;V, instalación y config.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2377440" y="5989320"/>
            <a:ext cx="74980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La inspección detecta problemas; la solución no se decide dentro de la reunión.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731520" y="64190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IEEE Std 1028-2008 · 6.1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136" name="Google Shape;1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731520" y="2011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6A62A"/>
                </a:solidFill>
                <a:latin typeface="Arial"/>
                <a:ea typeface="Arial"/>
                <a:cs typeface="Arial"/>
                <a:sym typeface="Arial"/>
              </a:rPr>
              <a:t>CLÁUSULA 6.1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31520" y="475488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Principios que definen una inspección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713232" y="1060704"/>
            <a:ext cx="1051560" cy="32004"/>
          </a:xfrm>
          <a:prstGeom prst="rect">
            <a:avLst/>
          </a:prstGeom>
          <a:solidFill>
            <a:srgbClr val="D6A62A"/>
          </a:solidFill>
          <a:ln cap="flat" cmpd="sng" w="95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841248" y="1572768"/>
            <a:ext cx="2331720" cy="315468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987552" y="1737360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554480" y="1664208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Entre pares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024128" y="2194560"/>
            <a:ext cx="2039112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Participan 2 a 6 personas, incluido el autor, aportando varias perspectivas del producto.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3401568" y="1572768"/>
            <a:ext cx="2331720" cy="3154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3547872" y="1737360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4114800" y="1664208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Liderazgo imparcial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3584448" y="2194560"/>
            <a:ext cx="2039112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dirige un facilitador entrenado; el autor no lidera y tampoco participan jefes del equipo.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5961888" y="1572768"/>
            <a:ext cx="2331720" cy="3154680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6108192" y="1737360"/>
            <a:ext cx="384048" cy="384048"/>
          </a:xfrm>
          <a:prstGeom prst="ellipse">
            <a:avLst/>
          </a:prstGeom>
          <a:solidFill>
            <a:srgbClr val="F4E4B2"/>
          </a:solidFill>
          <a:ln cap="flat" cmpd="sng" w="9525">
            <a:solidFill>
              <a:srgbClr val="F4E4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6675120" y="1664208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Detectar, no resolver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144768" y="2194560"/>
            <a:ext cx="2039112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reunión se enfoca en encontrar y registrar anomalías; las soluciones se trabajan después.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8522208" y="1572768"/>
            <a:ext cx="2331720" cy="3154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8668512" y="1737360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9235440" y="1664208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Datos para mejorar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8705088" y="2194560"/>
            <a:ext cx="2039112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Los tiempos, volúmenes y anomalías se recolectan para perfeccionar el proceso y los checklists.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1417320" y="5321808"/>
            <a:ext cx="9006840" cy="566928"/>
          </a:xfrm>
          <a:prstGeom prst="roundRect">
            <a:avLst>
              <a:gd fmla="val 16667" name="adj"/>
            </a:avLst>
          </a:prstGeom>
          <a:solidFill>
            <a:srgbClr val="146937"/>
          </a:solidFill>
          <a:ln cap="flat" cmpd="sng" w="15225">
            <a:solidFill>
              <a:srgbClr val="1469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técnica y formal: más rigurosa que un walk-through y menos formal que una auditoría.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731520" y="64190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IEEE Std 1028-2008 · 6.1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731520" y="2011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6A62A"/>
                </a:solidFill>
                <a:latin typeface="Arial"/>
                <a:ea typeface="Arial"/>
                <a:cs typeface="Arial"/>
                <a:sym typeface="Arial"/>
              </a:rPr>
              <a:t>CLÁUSULA 6.2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731520" y="475488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Roles y responsabilidades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713232" y="1060704"/>
            <a:ext cx="1051560" cy="32004"/>
          </a:xfrm>
          <a:prstGeom prst="rect">
            <a:avLst/>
          </a:prstGeom>
          <a:solidFill>
            <a:srgbClr val="D6A62A"/>
          </a:solidFill>
          <a:ln cap="flat" cmpd="sng" w="95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5084064" y="1993392"/>
            <a:ext cx="1051560" cy="1051560"/>
          </a:xfrm>
          <a:prstGeom prst="ellipse">
            <a:avLst/>
          </a:prstGeom>
          <a:solidFill>
            <a:srgbClr val="146937"/>
          </a:solidFill>
          <a:ln cap="flat" cmpd="sng" w="9525">
            <a:solidFill>
              <a:srgbClr val="1469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3931920" y="3154680"/>
            <a:ext cx="338328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4114800" y="324612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Líder de inspección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4114800" y="3685032"/>
            <a:ext cx="3090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Planifica, asigna roles, asegura datos y emite la salida documentada.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804672" y="1664208"/>
            <a:ext cx="2697480" cy="1261872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950976" y="1828800"/>
            <a:ext cx="384048" cy="384048"/>
          </a:xfrm>
          <a:prstGeom prst="ellipse">
            <a:avLst/>
          </a:prstGeom>
          <a:solidFill>
            <a:srgbClr val="F4E4B2"/>
          </a:solidFill>
          <a:ln cap="flat" cmpd="sng" w="9525">
            <a:solidFill>
              <a:srgbClr val="F4E4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AU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517904" y="175564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Autor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987552" y="2286000"/>
            <a:ext cx="24048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Prepara el producto, aclara dudas y realiza el rework.</a:t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8458200" y="1664199"/>
            <a:ext cx="2697600" cy="138090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8604504" y="1828800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9171432" y="175564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Reader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641080" y="2286000"/>
            <a:ext cx="24048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Guía al equipo por el producto, sección por sección.</a:t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804675" y="4498850"/>
            <a:ext cx="2697600" cy="149880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950976" y="4663440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517904" y="459028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Inspectores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987552" y="5120640"/>
            <a:ext cx="24048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Identifican anomalías desde requisitos, diseño, código o pruebas.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8458200" y="4498850"/>
            <a:ext cx="2697600" cy="1498800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8604504" y="4663440"/>
            <a:ext cx="384048" cy="384048"/>
          </a:xfrm>
          <a:prstGeom prst="ellipse">
            <a:avLst/>
          </a:prstGeom>
          <a:solidFill>
            <a:srgbClr val="F4E4B2"/>
          </a:solidFill>
          <a:ln cap="flat" cmpd="sng" w="9525">
            <a:solidFill>
              <a:srgbClr val="F4E4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RC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9171432" y="459028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Recorder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8641080" y="5120640"/>
            <a:ext cx="24048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Documenta anomalías, decisiones y datos requeridos.</a:t>
            </a:r>
            <a:endParaRPr/>
          </a:p>
        </p:txBody>
      </p:sp>
      <p:cxnSp>
        <p:nvCxnSpPr>
          <p:cNvPr id="186" name="Google Shape;186;p16"/>
          <p:cNvCxnSpPr/>
          <p:nvPr/>
        </p:nvCxnSpPr>
        <p:spPr>
          <a:xfrm>
            <a:off x="3493008" y="2267712"/>
            <a:ext cx="1591056" cy="246888"/>
          </a:xfrm>
          <a:prstGeom prst="straightConnector1">
            <a:avLst/>
          </a:prstGeom>
          <a:noFill/>
          <a:ln cap="flat" cmpd="sng" w="1777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7" name="Google Shape;187;p16"/>
          <p:cNvCxnSpPr/>
          <p:nvPr/>
        </p:nvCxnSpPr>
        <p:spPr>
          <a:xfrm flipH="1">
            <a:off x="6126480" y="2267712"/>
            <a:ext cx="2331720" cy="246888"/>
          </a:xfrm>
          <a:prstGeom prst="straightConnector1">
            <a:avLst/>
          </a:prstGeom>
          <a:noFill/>
          <a:ln cap="flat" cmpd="sng" w="1777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8" name="Google Shape;188;p16"/>
          <p:cNvCxnSpPr/>
          <p:nvPr/>
        </p:nvCxnSpPr>
        <p:spPr>
          <a:xfrm flipH="1" rot="10800000">
            <a:off x="2262083" y="2609452"/>
            <a:ext cx="2172900" cy="1775100"/>
          </a:xfrm>
          <a:prstGeom prst="straightConnector1">
            <a:avLst/>
          </a:prstGeom>
          <a:noFill/>
          <a:ln cap="flat" cmpd="sng" w="1777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9" name="Google Shape;189;p16"/>
          <p:cNvCxnSpPr/>
          <p:nvPr/>
        </p:nvCxnSpPr>
        <p:spPr>
          <a:xfrm rot="10800000">
            <a:off x="6773525" y="2715025"/>
            <a:ext cx="2708100" cy="1653000"/>
          </a:xfrm>
          <a:prstGeom prst="straightConnector1">
            <a:avLst/>
          </a:prstGeom>
          <a:noFill/>
          <a:ln cap="flat" cmpd="sng" w="1777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0" name="Google Shape;190;p16"/>
          <p:cNvSpPr/>
          <p:nvPr/>
        </p:nvSpPr>
        <p:spPr>
          <a:xfrm>
            <a:off x="3931925" y="4645150"/>
            <a:ext cx="3383400" cy="149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4114800" y="477316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Reglas clave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4133088" y="5065776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Todos los participantes son inspectores.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El autor no puede ser líder, reader ni recorder.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Nadie con jerarquía participa en la inspección.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731520" y="64190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IEEE Std 1028-2008 · 6.2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198" name="Google Shape;1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731520" y="2011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6A62A"/>
                </a:solidFill>
                <a:latin typeface="Arial"/>
                <a:ea typeface="Arial"/>
                <a:cs typeface="Arial"/>
                <a:sym typeface="Arial"/>
              </a:rPr>
              <a:t>CLÁUSULAS 6.3–6.4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731520" y="475488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Entradas y criterios de entrada</a:t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713232" y="1060704"/>
            <a:ext cx="1051560" cy="32004"/>
          </a:xfrm>
          <a:prstGeom prst="rect">
            <a:avLst/>
          </a:prstGeom>
          <a:solidFill>
            <a:srgbClr val="D6A62A"/>
          </a:solidFill>
          <a:ln cap="flat" cmpd="sng" w="95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786384" y="1527048"/>
            <a:ext cx="5074920" cy="4078224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786384" y="1527048"/>
            <a:ext cx="5074920" cy="365760"/>
          </a:xfrm>
          <a:prstGeom prst="roundRect">
            <a:avLst>
              <a:gd fmla="val 16667" name="adj"/>
            </a:avLst>
          </a:prstGeom>
          <a:solidFill>
            <a:srgbClr val="146937"/>
          </a:solidFill>
          <a:ln cap="flat" cmpd="sng" w="9525">
            <a:solidFill>
              <a:srgbClr val="1469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Entradas obligatorias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987552" y="1965960"/>
            <a:ext cx="4764024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Objetivos de la inspección.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Producto(s) de software a inspeccionar.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Procedimiento de inspección documentado.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Formularios de reporte y lista de anomalías existente.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Documentos fuente utilizados por el autor.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Opcional: checklists, estándares aplicables y categorías de anomalías.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6172200" y="1527048"/>
            <a:ext cx="5001768" cy="4078224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6172200" y="1527048"/>
            <a:ext cx="5001768" cy="365760"/>
          </a:xfrm>
          <a:prstGeom prst="roundRect">
            <a:avLst>
              <a:gd fmla="val 16667" name="adj"/>
            </a:avLst>
          </a:prstGeom>
          <a:solidFill>
            <a:srgbClr val="D6A62A"/>
          </a:solidFill>
          <a:ln cap="flat" cmpd="sng" w="95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Criterios mínimos de entrada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6373368" y="1965960"/>
            <a:ext cx="4690872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El producto está completo y con el formato requerido.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Ya se usaron herramientas automáticas: compilador, corrector o linter.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Se cumplieron los hitos previos del producto.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La documentación de soporte está disponible.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En reinspección: los ítems que afectaban al producto ya fueron resueltos.</a:t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1417320" y="5815584"/>
            <a:ext cx="9098280" cy="402336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52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Debe estar prevista en el plan del proyecto, QA o V&amp;V; también puede solicitarla la gerencia o el autor.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731520" y="64190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IEEE Std 1028-2008 · 6.3–6.4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214" name="Google Shape;2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731520" y="2011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6A62A"/>
                </a:solidFill>
                <a:latin typeface="Arial"/>
                <a:ea typeface="Arial"/>
                <a:cs typeface="Arial"/>
                <a:sym typeface="Arial"/>
              </a:rPr>
              <a:t>CLÁUSULA 6.5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31520" y="475488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Proceso completo de inspección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713232" y="1060704"/>
            <a:ext cx="1051560" cy="32004"/>
          </a:xfrm>
          <a:prstGeom prst="rect">
            <a:avLst/>
          </a:prstGeom>
          <a:solidFill>
            <a:srgbClr val="D6A62A"/>
          </a:solidFill>
          <a:ln cap="flat" cmpd="sng" w="95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868675" y="1536201"/>
            <a:ext cx="2469000" cy="95100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1014984" y="1700784"/>
            <a:ext cx="384048" cy="384048"/>
          </a:xfrm>
          <a:prstGeom prst="ellipse">
            <a:avLst/>
          </a:prstGeom>
          <a:solidFill>
            <a:srgbClr val="D8E7DC"/>
          </a:solidFill>
          <a:ln cap="flat" cmpd="sng" w="9525">
            <a:solidFill>
              <a:srgbClr val="D8E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1563725" y="1626950"/>
            <a:ext cx="164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Prep. gerencial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1051560" y="2048256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Tiempo, recursos y entrenamiento.</a:t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3703320" y="1536192"/>
            <a:ext cx="2468880" cy="950976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3849624" y="1700784"/>
            <a:ext cx="384048" cy="384048"/>
          </a:xfrm>
          <a:prstGeom prst="ellipse">
            <a:avLst/>
          </a:prstGeom>
          <a:solidFill>
            <a:srgbClr val="F4E4B2"/>
          </a:solidFill>
          <a:ln cap="flat" cmpd="sng" w="9525">
            <a:solidFill>
              <a:srgbClr val="F4E4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4416552" y="1627632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3886200" y="2048256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Equipo, agenda, alcance y tasa.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6537960" y="1536192"/>
            <a:ext cx="2468880" cy="950976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6684264" y="1700784"/>
            <a:ext cx="384048" cy="384048"/>
          </a:xfrm>
          <a:prstGeom prst="ellipse">
            <a:avLst/>
          </a:prstGeom>
          <a:solidFill>
            <a:srgbClr val="D8E7DC"/>
          </a:solidFill>
          <a:ln cap="flat" cmpd="sng" w="9525">
            <a:solidFill>
              <a:srgbClr val="D8E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7251192" y="1627632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6720840" y="2048256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 líder y el autor contextualizan.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868680" y="2761488"/>
            <a:ext cx="2468880" cy="950976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1014984" y="2926080"/>
            <a:ext cx="384048" cy="384048"/>
          </a:xfrm>
          <a:prstGeom prst="ellipse">
            <a:avLst/>
          </a:prstGeom>
          <a:solidFill>
            <a:srgbClr val="F4E4B2"/>
          </a:solidFill>
          <a:ln cap="flat" cmpd="sng" w="9525">
            <a:solidFill>
              <a:srgbClr val="F4E4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1581912" y="2852928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Prep. individual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1051560" y="3273552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miembro revisa antes.</a:t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3703320" y="2761488"/>
            <a:ext cx="2468880" cy="950976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3849624" y="2926080"/>
            <a:ext cx="384048" cy="384048"/>
          </a:xfrm>
          <a:prstGeom prst="ellipse">
            <a:avLst/>
          </a:prstGeom>
          <a:solidFill>
            <a:srgbClr val="D8E7DC"/>
          </a:solidFill>
          <a:ln cap="flat" cmpd="sng" w="9525">
            <a:solidFill>
              <a:srgbClr val="D8E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4416552" y="2852928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Reunión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3886200" y="3273552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Examen formal y registro.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6537960" y="2761488"/>
            <a:ext cx="2468880" cy="950976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6684264" y="2926080"/>
            <a:ext cx="384048" cy="384048"/>
          </a:xfrm>
          <a:prstGeom prst="ellipse">
            <a:avLst/>
          </a:prstGeom>
          <a:solidFill>
            <a:srgbClr val="F4E4B2"/>
          </a:solidFill>
          <a:ln cap="flat" cmpd="sng" w="9525">
            <a:solidFill>
              <a:srgbClr val="F4E4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7251192" y="2852928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Rework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6720840" y="3273552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Corrección y verificación final.</a:t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3383280" y="1956816"/>
            <a:ext cx="146304" cy="219456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1E80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6217920" y="1956816"/>
            <a:ext cx="146304" cy="219456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1E80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9006840" y="2487168"/>
            <a:ext cx="146304" cy="219456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1E80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3383280" y="3182112"/>
            <a:ext cx="146304" cy="219456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1E80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6217920" y="3182112"/>
            <a:ext cx="146304" cy="219456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1E80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987552" y="4224528"/>
            <a:ext cx="3840480" cy="1389888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1133856" y="4389120"/>
            <a:ext cx="384048" cy="384048"/>
          </a:xfrm>
          <a:prstGeom prst="ellipse">
            <a:avLst/>
          </a:prstGeom>
          <a:solidFill>
            <a:srgbClr val="F4E4B2"/>
          </a:solidFill>
          <a:ln cap="flat" cmpd="sng" w="9525">
            <a:solidFill>
              <a:srgbClr val="F4E4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1700784" y="431596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Tasas de referencia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1170432" y="4773168"/>
            <a:ext cx="35478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Requisitos: 2–3 págs/h · Diseño: 3–4 págs/h</a:t>
            </a:r>
            <a:b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Código: 100–200 líneas/h · Usuario: 8–20 págs/h</a:t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5230368" y="4224528"/>
            <a:ext cx="4983480" cy="1389888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5376672" y="4389120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5943600" y="431596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Qué define el líder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5413248" y="4773168"/>
            <a:ext cx="46908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Equipo y roles · fecha, hora y lugar · materiales · prioridad de secciones · cronograma de comentarios.</a:t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1874519" y="5742432"/>
            <a:ext cx="8229600" cy="438912"/>
          </a:xfrm>
          <a:prstGeom prst="roundRect">
            <a:avLst>
              <a:gd fmla="val 16667" name="adj"/>
            </a:avLst>
          </a:prstGeom>
          <a:solidFill>
            <a:srgbClr val="146937"/>
          </a:solidFill>
          <a:ln cap="flat" cmpd="sng" w="15225">
            <a:solidFill>
              <a:srgbClr val="1469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 algún miembro no está preparado, el líder reprograma la reunión.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731520" y="64190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IEEE Std 1028-2008 · 6.5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261" name="Google Shape;2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9"/>
          <p:cNvSpPr txBox="1"/>
          <p:nvPr/>
        </p:nvSpPr>
        <p:spPr>
          <a:xfrm>
            <a:off x="731520" y="2011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6A62A"/>
                </a:solidFill>
                <a:latin typeface="Arial"/>
                <a:ea typeface="Arial"/>
                <a:cs typeface="Arial"/>
                <a:sym typeface="Arial"/>
              </a:rPr>
              <a:t>CLÁUSULA 6.5 e)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731520" y="475488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Reunión de inspección: agenda obligatoria</a:t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713232" y="1060704"/>
            <a:ext cx="1051560" cy="32004"/>
          </a:xfrm>
          <a:prstGeom prst="rect">
            <a:avLst/>
          </a:prstGeom>
          <a:solidFill>
            <a:srgbClr val="D6A62A"/>
          </a:solidFill>
          <a:ln cap="flat" cmpd="sng" w="95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658368" y="1783080"/>
            <a:ext cx="1965960" cy="1225296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04672" y="1947672"/>
            <a:ext cx="384048" cy="384048"/>
          </a:xfrm>
          <a:prstGeom prst="ellipse">
            <a:avLst/>
          </a:prstGeom>
          <a:solidFill>
            <a:srgbClr val="D8E7DC"/>
          </a:solidFill>
          <a:ln cap="flat" cmpd="sng" w="9525">
            <a:solidFill>
              <a:srgbClr val="D8E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1371600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841248" y="2313432"/>
            <a:ext cx="16733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Roles, propósito y regla: detectar, no resolver.</a:t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2642615" y="2212848"/>
            <a:ext cx="128016" cy="256032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1E80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2898650" y="1783074"/>
            <a:ext cx="1965900" cy="1528500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044952" y="1947672"/>
            <a:ext cx="384048" cy="384048"/>
          </a:xfrm>
          <a:prstGeom prst="ellipse">
            <a:avLst/>
          </a:prstGeom>
          <a:solidFill>
            <a:srgbClr val="F4E4B2"/>
          </a:solidFill>
          <a:ln cap="flat" cmpd="sng" w="9525">
            <a:solidFill>
              <a:srgbClr val="F4E4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3611880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Ítems generales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3044953" y="2577207"/>
            <a:ext cx="167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Problemas que afectan al producto como un todo.</a:t>
            </a: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4882896" y="2212848"/>
            <a:ext cx="128016" cy="256032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1E80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5138925" y="1783075"/>
            <a:ext cx="1965900" cy="160590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5285232" y="1947672"/>
            <a:ext cx="384048" cy="384048"/>
          </a:xfrm>
          <a:prstGeom prst="ellipse">
            <a:avLst/>
          </a:prstGeom>
          <a:solidFill>
            <a:srgbClr val="D8E7DC"/>
          </a:solidFill>
          <a:ln cap="flat" cmpd="sng" w="9525">
            <a:solidFill>
              <a:srgbClr val="D8E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5852160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Revisión y registro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5285233" y="2665107"/>
            <a:ext cx="167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 reader guía; el recorder anota ubicación y tipo.</a:t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7123176" y="2212848"/>
            <a:ext cx="128016" cy="256032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1E80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7379200" y="1783073"/>
            <a:ext cx="1965900" cy="1605900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7525512" y="1947672"/>
            <a:ext cx="384048" cy="384048"/>
          </a:xfrm>
          <a:prstGeom prst="ellipse">
            <a:avLst/>
          </a:prstGeom>
          <a:solidFill>
            <a:srgbClr val="F4E4B2"/>
          </a:solidFill>
          <a:ln cap="flat" cmpd="sng" w="9525">
            <a:solidFill>
              <a:srgbClr val="F4E4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8092440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Revisar lista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7525476" y="2665107"/>
            <a:ext cx="167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 confirma exactitud y se documentan desacuerdos.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9363456" y="2212848"/>
            <a:ext cx="128016" cy="256032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1E80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9619488" y="1783080"/>
            <a:ext cx="1965960" cy="1225296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9765792" y="1947672"/>
            <a:ext cx="384048" cy="384048"/>
          </a:xfrm>
          <a:prstGeom prst="ellipse">
            <a:avLst/>
          </a:prstGeom>
          <a:solidFill>
            <a:srgbClr val="D8E7DC"/>
          </a:solidFill>
          <a:ln cap="flat" cmpd="sng" w="9525">
            <a:solidFill>
              <a:srgbClr val="D8E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10332720" y="1874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9802368" y="2313432"/>
            <a:ext cx="16733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 define aceptar, verificar o reinspeccionar.</a:t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1051560" y="3858768"/>
            <a:ext cx="3749039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1234440" y="3986784"/>
            <a:ext cx="347471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Buenas prácticas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1252728" y="4279392"/>
            <a:ext cx="3438143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Dirigir comentarios al recorder.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Comentar sobre el producto, nunca sobre el autor.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Las discusiones extensas se posponen.</a:t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5486400" y="3858768"/>
            <a:ext cx="4709160" cy="164592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5669280" y="3986784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Registro de cada anomalía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5687568" y="4279392"/>
            <a:ext cx="4398264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Ubicación exacta.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Descripción clara del problema.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Clasificación o categoría (puede usarse IEEE 1044).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731520" y="64190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IEEE Std 1028-2008 · 6.5 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300" name="Google Shape;3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0"/>
          <p:cNvSpPr txBox="1"/>
          <p:nvPr/>
        </p:nvSpPr>
        <p:spPr>
          <a:xfrm>
            <a:off x="731520" y="2011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6A62A"/>
                </a:solidFill>
                <a:latin typeface="Arial"/>
                <a:ea typeface="Arial"/>
                <a:cs typeface="Arial"/>
                <a:sym typeface="Arial"/>
              </a:rPr>
              <a:t>CLÁUSULAS 6.5–6.6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731520" y="475488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Decisiones de salida y seguimiento</a:t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713232" y="1060704"/>
            <a:ext cx="1051560" cy="32004"/>
          </a:xfrm>
          <a:prstGeom prst="rect">
            <a:avLst/>
          </a:prstGeom>
          <a:solidFill>
            <a:srgbClr val="D6A62A"/>
          </a:solidFill>
          <a:ln cap="flat" cmpd="sng" w="95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868680" y="1719072"/>
            <a:ext cx="3154680" cy="182880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1014984" y="1883664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1581912" y="181051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Aceptar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1051560" y="2340864"/>
            <a:ext cx="286207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 usa cuando no hay problemas o el rework es tan menor que no requiere verificación adicional.</a:t>
            </a:r>
            <a:endParaRPr/>
          </a:p>
        </p:txBody>
      </p:sp>
      <p:sp>
        <p:nvSpPr>
          <p:cNvPr id="308" name="Google Shape;308;p20"/>
          <p:cNvSpPr/>
          <p:nvPr/>
        </p:nvSpPr>
        <p:spPr>
          <a:xfrm>
            <a:off x="4526280" y="1719072"/>
            <a:ext cx="3154680" cy="1828800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672584" y="1883664"/>
            <a:ext cx="384048" cy="384048"/>
          </a:xfrm>
          <a:prstGeom prst="ellipse">
            <a:avLst/>
          </a:prstGeom>
          <a:solidFill>
            <a:srgbClr val="F4E4B2"/>
          </a:solidFill>
          <a:ln cap="flat" cmpd="sng" w="9525">
            <a:solidFill>
              <a:srgbClr val="F4E4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5239512" y="181051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Aceptar con verificación</a:t>
            </a:r>
            <a:endParaRPr/>
          </a:p>
        </p:txBody>
      </p:sp>
      <p:sp>
        <p:nvSpPr>
          <p:cNvPr id="311" name="Google Shape;311;p20"/>
          <p:cNvSpPr txBox="1"/>
          <p:nvPr/>
        </p:nvSpPr>
        <p:spPr>
          <a:xfrm>
            <a:off x="4672622" y="2520065"/>
            <a:ext cx="286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 producto se acepta después de que el líder u otro miembro designado confirme el rework.</a:t>
            </a:r>
            <a:endParaRPr/>
          </a:p>
        </p:txBody>
      </p:sp>
      <p:sp>
        <p:nvSpPr>
          <p:cNvPr id="312" name="Google Shape;312;p20"/>
          <p:cNvSpPr/>
          <p:nvPr/>
        </p:nvSpPr>
        <p:spPr>
          <a:xfrm>
            <a:off x="8183879" y="1719072"/>
            <a:ext cx="2834640" cy="182880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8330183" y="1883664"/>
            <a:ext cx="384048" cy="384048"/>
          </a:xfrm>
          <a:prstGeom prst="ellipse">
            <a:avLst/>
          </a:prstGeom>
          <a:solidFill>
            <a:srgbClr val="E2ECE6"/>
          </a:solidFill>
          <a:ln cap="flat" cmpd="sng" w="95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314" name="Google Shape;314;p20"/>
          <p:cNvSpPr txBox="1"/>
          <p:nvPr/>
        </p:nvSpPr>
        <p:spPr>
          <a:xfrm>
            <a:off x="8897111" y="1810512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6937"/>
                </a:solidFill>
                <a:latin typeface="Calibri"/>
                <a:ea typeface="Calibri"/>
                <a:cs typeface="Calibri"/>
                <a:sym typeface="Calibri"/>
              </a:rPr>
              <a:t>Reinspección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8366759" y="2340864"/>
            <a:ext cx="25420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Cuando el producto no puede aceptarse; la nueva inspección revisa cambios y efectos secundarios.</a:t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1097280" y="4206240"/>
            <a:ext cx="41605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1280160" y="433425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Rework y seguimiento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1298448" y="4626864"/>
            <a:ext cx="384962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Se corrigen las anomalías e ítems de acción asignados.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El líder verifica que queden efectivamente cerrados.</a:t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5623560" y="4206240"/>
            <a:ext cx="4663440" cy="141732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 txBox="1"/>
          <p:nvPr/>
        </p:nvSpPr>
        <p:spPr>
          <a:xfrm>
            <a:off x="5806440" y="4334256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Criterio de salida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5824728" y="4626864"/>
            <a:ext cx="435254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La inspección termina cuando el procedimiento se completó y existe una salida documentada.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731520" y="64190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IEEE Std 1028-2008 · 6.5–6.6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327" name="Google Shape;3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1"/>
          <p:cNvSpPr txBox="1"/>
          <p:nvPr/>
        </p:nvSpPr>
        <p:spPr>
          <a:xfrm>
            <a:off x="731520" y="2011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A62A"/>
                </a:solidFill>
                <a:latin typeface="Arial"/>
                <a:ea typeface="Arial"/>
                <a:cs typeface="Arial"/>
                <a:sym typeface="Arial"/>
              </a:rPr>
              <a:t>CLÁUSULAS 6.7–6.9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731520" y="475488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Salida documentada y mejora continua</a:t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713232" y="1060704"/>
            <a:ext cx="1051560" cy="32004"/>
          </a:xfrm>
          <a:prstGeom prst="rect">
            <a:avLst/>
          </a:prstGeom>
          <a:solidFill>
            <a:srgbClr val="D6A62A"/>
          </a:solidFill>
          <a:ln cap="flat" cmpd="sng" w="95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786384" y="1499616"/>
            <a:ext cx="5074920" cy="4160520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786384" y="1499616"/>
            <a:ext cx="5074920" cy="365760"/>
          </a:xfrm>
          <a:prstGeom prst="roundRect">
            <a:avLst>
              <a:gd fmla="val 16667" name="adj"/>
            </a:avLst>
          </a:prstGeom>
          <a:solidFill>
            <a:srgbClr val="D6A62A"/>
          </a:solidFill>
          <a:ln cap="flat" cmpd="sng" w="95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Salida obligatoria (output)</a:t>
            </a:r>
            <a:endParaRPr/>
          </a:p>
        </p:txBody>
      </p:sp>
      <p:sp>
        <p:nvSpPr>
          <p:cNvPr id="333" name="Google Shape;333;p21"/>
          <p:cNvSpPr txBox="1"/>
          <p:nvPr/>
        </p:nvSpPr>
        <p:spPr>
          <a:xfrm>
            <a:off x="987552" y="1938528"/>
            <a:ext cx="4764024" cy="3630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Proyecto, equipo, duración y producto inspeccionado.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Tamaño del material e inputs específicos.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Objetivos y si se cumplieron.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Lista de anomalías: ubicación, descripción y clasificación.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Disposición del producto, waivers, tiempo de preparación y rework.</a:t>
            </a: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6035040" y="1499616"/>
            <a:ext cx="5029200" cy="1874519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6035040" y="1499616"/>
            <a:ext cx="5029200" cy="365760"/>
          </a:xfrm>
          <a:prstGeom prst="roundRect">
            <a:avLst>
              <a:gd fmla="val 16667" name="adj"/>
            </a:avLst>
          </a:prstGeom>
          <a:solidFill>
            <a:srgbClr val="146937"/>
          </a:solidFill>
          <a:ln cap="flat" cmpd="sng" w="9525">
            <a:solidFill>
              <a:srgbClr val="1469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 que deben recolectarse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6236208" y="1938528"/>
            <a:ext cx="4718304" cy="1344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Identificación del producto y fecha/hora.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Equipo de inspección y tiempos de preparación / inspección.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Volumen del material inspeccionado y disposición final.</a:t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6035040" y="3657600"/>
            <a:ext cx="5029200" cy="1170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6291072" y="3822191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Categorías frecuentes de anomalías</a:t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6291072" y="4178808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Faltante</a:t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7333488" y="4178808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F1E8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Ambiguo</a:t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8385048" y="4178808"/>
            <a:ext cx="1234440" cy="27432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Inconsistente</a:t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9738360" y="4178808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F1E8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No conforme</a:t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10954512" y="4178808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Incorrecto</a:t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1005840" y="5815584"/>
            <a:ext cx="10058400" cy="457200"/>
          </a:xfrm>
          <a:prstGeom prst="roundRect">
            <a:avLst>
              <a:gd fmla="val 16667" name="adj"/>
            </a:avLst>
          </a:prstGeom>
          <a:solidFill>
            <a:srgbClr val="146937"/>
          </a:solidFill>
          <a:ln cap="flat" cmpd="sng" w="15225">
            <a:solidFill>
              <a:srgbClr val="1469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datos nunca se usan para evaluar desempeño individual; se analizan para mejorar checklists, tiempos y eficiencia.</a:t>
            </a:r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731520" y="64190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IEEE Std 1028-2008 · 6.7–6.9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350" name="Google Shape;3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2"/>
          <p:cNvSpPr txBox="1"/>
          <p:nvPr/>
        </p:nvSpPr>
        <p:spPr>
          <a:xfrm>
            <a:off x="731520" y="2011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A62A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/>
          </a:p>
        </p:txBody>
      </p:sp>
      <p:sp>
        <p:nvSpPr>
          <p:cNvPr id="352" name="Google Shape;352;p22"/>
          <p:cNvSpPr txBox="1"/>
          <p:nvPr/>
        </p:nvSpPr>
        <p:spPr>
          <a:xfrm>
            <a:off x="731520" y="475488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Ideas clave y referencias</a:t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713232" y="1060704"/>
            <a:ext cx="1051560" cy="32004"/>
          </a:xfrm>
          <a:prstGeom prst="rect">
            <a:avLst/>
          </a:prstGeom>
          <a:solidFill>
            <a:srgbClr val="D6A62A"/>
          </a:solidFill>
          <a:ln cap="flat" cmpd="sng" w="9525">
            <a:solidFill>
              <a:srgbClr val="D6A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804672" y="1572768"/>
            <a:ext cx="4892040" cy="3474720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804672" y="1572768"/>
            <a:ext cx="4892040" cy="365760"/>
          </a:xfrm>
          <a:prstGeom prst="roundRect">
            <a:avLst>
              <a:gd fmla="val 16667" name="adj"/>
            </a:avLst>
          </a:prstGeom>
          <a:solidFill>
            <a:srgbClr val="146937"/>
          </a:solidFill>
          <a:ln cap="flat" cmpd="sng" w="9525">
            <a:solidFill>
              <a:srgbClr val="1469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recordar en la exposición</a:t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1005840" y="2011680"/>
            <a:ext cx="4581144" cy="2944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La inspección es un examen sistemático entre pares para detectar anomalías.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Se apoya en roles claros, entradas documentadas y una agenda fija de examen.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Su salida es una lista formal de hallazgos y una decisión sobre el producto.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La recolección de datos es obligatoria y alimenta la mejora continua.</a:t>
            </a:r>
            <a:endParaRPr/>
          </a:p>
        </p:txBody>
      </p:sp>
      <p:sp>
        <p:nvSpPr>
          <p:cNvPr id="357" name="Google Shape;357;p22"/>
          <p:cNvSpPr/>
          <p:nvPr/>
        </p:nvSpPr>
        <p:spPr>
          <a:xfrm>
            <a:off x="5961888" y="1572768"/>
            <a:ext cx="507492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B9C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6291072" y="186537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Resumen visual</a:t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6236208" y="2331720"/>
            <a:ext cx="1417320" cy="329184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Quién revisa</a:t>
            </a:r>
            <a:endParaRPr/>
          </a:p>
        </p:txBody>
      </p:sp>
      <p:sp>
        <p:nvSpPr>
          <p:cNvPr id="360" name="Google Shape;360;p22"/>
          <p:cNvSpPr txBox="1"/>
          <p:nvPr/>
        </p:nvSpPr>
        <p:spPr>
          <a:xfrm>
            <a:off x="7882127" y="2350008"/>
            <a:ext cx="2697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Pares del proyecto (2–6 personas)</a:t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6236208" y="2935224"/>
            <a:ext cx="1417320" cy="329184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F1E8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Qué busca</a:t>
            </a:r>
            <a:endParaRPr/>
          </a:p>
        </p:txBody>
      </p:sp>
      <p:sp>
        <p:nvSpPr>
          <p:cNvPr id="362" name="Google Shape;362;p22"/>
          <p:cNvSpPr txBox="1"/>
          <p:nvPr/>
        </p:nvSpPr>
        <p:spPr>
          <a:xfrm>
            <a:off x="7882127" y="2953512"/>
            <a:ext cx="2697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Detectar e identificar anomalías</a:t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>
            <a:off x="6236208" y="3538728"/>
            <a:ext cx="1417320" cy="329184"/>
          </a:xfrm>
          <a:prstGeom prst="roundRect">
            <a:avLst>
              <a:gd fmla="val 16667" name="adj"/>
            </a:avLst>
          </a:prstGeom>
          <a:solidFill>
            <a:srgbClr val="E2ECE6"/>
          </a:solidFill>
          <a:ln cap="flat" cmpd="sng" w="15225">
            <a:solidFill>
              <a:srgbClr val="E2E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6937"/>
                </a:solidFill>
                <a:latin typeface="Arial"/>
                <a:ea typeface="Arial"/>
                <a:cs typeface="Arial"/>
                <a:sym typeface="Arial"/>
              </a:rPr>
              <a:t>Cómo termina</a:t>
            </a:r>
            <a:endParaRPr/>
          </a:p>
        </p:txBody>
      </p:sp>
      <p:sp>
        <p:nvSpPr>
          <p:cNvPr id="364" name="Google Shape;364;p22"/>
          <p:cNvSpPr txBox="1"/>
          <p:nvPr/>
        </p:nvSpPr>
        <p:spPr>
          <a:xfrm>
            <a:off x="7882127" y="3557016"/>
            <a:ext cx="2697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Aceptar · verificar · reinspeccionar</a:t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6236208" y="4142231"/>
            <a:ext cx="1417320" cy="329184"/>
          </a:xfrm>
          <a:prstGeom prst="roundRect">
            <a:avLst>
              <a:gd fmla="val 16667" name="adj"/>
            </a:avLst>
          </a:prstGeom>
          <a:solidFill>
            <a:srgbClr val="F1E8CC"/>
          </a:solidFill>
          <a:ln cap="flat" cmpd="sng" w="15225">
            <a:solidFill>
              <a:srgbClr val="F1E8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B08212"/>
                </a:solidFill>
                <a:latin typeface="Arial"/>
                <a:ea typeface="Arial"/>
                <a:cs typeface="Arial"/>
                <a:sym typeface="Arial"/>
              </a:rPr>
              <a:t>Qué deja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7882127" y="4160519"/>
            <a:ext cx="2697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Salida documentada + datos de mejora</a:t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804672" y="5468112"/>
            <a:ext cx="10241280" cy="658368"/>
          </a:xfrm>
          <a:prstGeom prst="roundRect">
            <a:avLst>
              <a:gd fmla="val 16667" name="adj"/>
            </a:avLst>
          </a:prstGeom>
          <a:solidFill>
            <a:srgbClr val="ECECEC"/>
          </a:solidFill>
          <a:ln cap="flat" cmpd="sng" w="152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1078992" y="5586984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8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Referencias: IEEE Std 1028-2008, cláusula 6 · Guía de estudio “Inspecciones y Auditorías de Software” · Guía con ejemplos (Sistema de Matrículas UCO).</a:t>
            </a:r>
            <a:endParaRPr/>
          </a:p>
        </p:txBody>
      </p:sp>
      <p:sp>
        <p:nvSpPr>
          <p:cNvPr id="369" name="Google Shape;369;p22"/>
          <p:cNvSpPr txBox="1"/>
          <p:nvPr/>
        </p:nvSpPr>
        <p:spPr>
          <a:xfrm>
            <a:off x="731520" y="64190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IEEE Std 1028-2008 · Referencias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