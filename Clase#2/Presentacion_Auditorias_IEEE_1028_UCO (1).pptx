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6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902037" y="2699542"/>
            <a:ext cx="564341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100" u="none" cap="none" strike="noStrike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Auditorías de Software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902037" y="3345873"/>
            <a:ext cx="334356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rgbClr val="12534E"/>
                </a:solidFill>
                <a:latin typeface="Arial"/>
                <a:ea typeface="Arial"/>
                <a:cs typeface="Arial"/>
                <a:sym typeface="Arial"/>
              </a:rPr>
              <a:t>IEEE Std 1028-2008 · Cláusula 8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689929" y="6075218"/>
            <a:ext cx="78555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Ingeniería de Software · Universidad Católica de Oriente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897880" y="4041648"/>
            <a:ext cx="4526280" cy="402336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Evaluación independiente de conformidad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97880" y="4553712"/>
            <a:ext cx="4754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3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Productos · procesos · evidencia objetiva · informe formal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868680" y="42062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D69E19"/>
                </a:solidFill>
                <a:latin typeface="Arial"/>
                <a:ea typeface="Arial"/>
                <a:cs typeface="Arial"/>
                <a:sym typeface="Arial"/>
              </a:rPr>
              <a:t>8.1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68680" y="640080"/>
            <a:ext cx="8549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Propósito y alcance de una auditoría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868680" y="1161288"/>
            <a:ext cx="914400" cy="45720"/>
          </a:xfrm>
          <a:prstGeom prst="rect">
            <a:avLst/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868680" y="633679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Fuente: IEEE Std 1028-2008 · §8.1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625328" y="630936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2/10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868680" y="1408176"/>
            <a:ext cx="4617720" cy="1243584"/>
          </a:xfrm>
          <a:prstGeom prst="roundRect">
            <a:avLst>
              <a:gd fmla="val 16667" name="adj"/>
            </a:avLst>
          </a:prstGeom>
          <a:solidFill>
            <a:srgbClr val="EFF6F1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868680" y="1408176"/>
            <a:ext cx="73152" cy="1243584"/>
          </a:xfrm>
          <a:prstGeom prst="rect">
            <a:avLst/>
          </a:prstGeom>
          <a:solidFill>
            <a:srgbClr val="1B66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033271" y="151790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700">
                <a:solidFill>
                  <a:srgbClr val="1B663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399031" y="1499616"/>
            <a:ext cx="3959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4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Objetivo central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51560" y="1847088"/>
            <a:ext cx="4288536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2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Evaluar de forma independiente si productos y procesos cumplen regulaciones, estándares, guías, planes, especificaciones y procedimientos.</a:t>
            </a:r>
            <a:endParaRPr/>
          </a:p>
        </p:txBody>
      </p:sp>
      <p:pic>
        <p:nvPicPr>
          <p:cNvPr descr="wide_clean_vector_illustration_flat_design_compo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6440" y="1371600"/>
            <a:ext cx="5285232" cy="2542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/>
          <p:nvPr/>
        </p:nvSpPr>
        <p:spPr>
          <a:xfrm>
            <a:off x="5806440" y="1371600"/>
            <a:ext cx="5285232" cy="2542032"/>
          </a:xfrm>
          <a:prstGeom prst="rect">
            <a:avLst/>
          </a:prstGeom>
          <a:noFill/>
          <a:ln cap="flat" cmpd="sng" w="1270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868680" y="2907792"/>
            <a:ext cx="4617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3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¿Qué puede auditarse?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868680" y="3218688"/>
            <a:ext cx="2240280" cy="1060704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868680" y="3218688"/>
            <a:ext cx="73152" cy="1060704"/>
          </a:xfrm>
          <a:prstGeom prst="rect">
            <a:avLst/>
          </a:prstGeom>
          <a:solidFill>
            <a:srgbClr val="1253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051560" y="3310128"/>
            <a:ext cx="1929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Planes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51560" y="3657600"/>
            <a:ext cx="19110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Respaldo · contingencia · riesgo · seguridad · V&amp;V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3246120" y="3218688"/>
            <a:ext cx="2240280" cy="1060704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3246120" y="3218688"/>
            <a:ext cx="73152" cy="1060704"/>
          </a:xfrm>
          <a:prstGeom prst="rect">
            <a:avLst/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429000" y="3310128"/>
            <a:ext cx="1929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Artefactos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3429000" y="3657600"/>
            <a:ext cx="19110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Requisitos · diseño · código · pruebas · manuales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868680" y="4407408"/>
            <a:ext cx="2240280" cy="1060704"/>
          </a:xfrm>
          <a:prstGeom prst="roundRect">
            <a:avLst>
              <a:gd fmla="val 16667" name="adj"/>
            </a:avLst>
          </a:prstGeom>
          <a:solidFill>
            <a:srgbClr val="EFF6F1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868680" y="4407408"/>
            <a:ext cx="73152" cy="1060704"/>
          </a:xfrm>
          <a:prstGeom prst="rect">
            <a:avLst/>
          </a:prstGeom>
          <a:solidFill>
            <a:srgbClr val="1B66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1051560" y="4498848"/>
            <a:ext cx="1929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Gestión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051560" y="4846320"/>
            <a:ext cx="19110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Contratos · informes · SCM · SQA · proveedores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3246120" y="4407408"/>
            <a:ext cx="2240280" cy="1060704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3246120" y="4407408"/>
            <a:ext cx="73152" cy="1060704"/>
          </a:xfrm>
          <a:prstGeom prst="rect">
            <a:avLst/>
          </a:prstGeom>
          <a:solidFill>
            <a:srgbClr val="1253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3429000" y="4498848"/>
            <a:ext cx="1929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Operación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3429000" y="4846320"/>
            <a:ext cx="19110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Instalación · mantenimiento · build · entrega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5806440" y="4114800"/>
            <a:ext cx="5285232" cy="1353312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5806440" y="4114800"/>
            <a:ext cx="73152" cy="1353312"/>
          </a:xfrm>
          <a:prstGeom prst="rect">
            <a:avLst/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5971031" y="422452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700">
                <a:solidFill>
                  <a:srgbClr val="D69E1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336792" y="4206240"/>
            <a:ext cx="4626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3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También se auditan procesos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5989320" y="4553712"/>
            <a:ext cx="49560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1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Ej.: descripciones del ciclo de vida de desarrollo de software. La evaluación inicia con una reunión de apertura; las recomendaciones solo se incluyen si el plan las contempla.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/>
          <p:nvPr/>
        </p:nvSpPr>
        <p:spPr>
          <a:xfrm>
            <a:off x="868680" y="42062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D69E19"/>
                </a:solidFill>
                <a:latin typeface="Arial"/>
                <a:ea typeface="Arial"/>
                <a:cs typeface="Arial"/>
                <a:sym typeface="Arial"/>
              </a:rPr>
              <a:t>8.2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68680" y="640080"/>
            <a:ext cx="8549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Roles y responsabilidades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868680" y="1161288"/>
            <a:ext cx="914400" cy="45720"/>
          </a:xfrm>
          <a:prstGeom prst="rect">
            <a:avLst/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868680" y="633679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Fuente: IEEE Std 1028-2008 · §8.2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0625328" y="630936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3/10</a:t>
            </a:r>
            <a:endParaRPr/>
          </a:p>
        </p:txBody>
      </p:sp>
      <p:cxnSp>
        <p:nvCxnSpPr>
          <p:cNvPr id="136" name="Google Shape;136;p15"/>
          <p:cNvCxnSpPr/>
          <p:nvPr/>
        </p:nvCxnSpPr>
        <p:spPr>
          <a:xfrm rot="10800000">
            <a:off x="1920240" y="2029968"/>
            <a:ext cx="4096512" cy="1426464"/>
          </a:xfrm>
          <a:prstGeom prst="straightConnector1">
            <a:avLst/>
          </a:prstGeom>
          <a:noFill/>
          <a:ln cap="flat" cmpd="sng" w="1650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37" name="Google Shape;137;p15"/>
          <p:cNvCxnSpPr/>
          <p:nvPr/>
        </p:nvCxnSpPr>
        <p:spPr>
          <a:xfrm rot="10800000">
            <a:off x="6016752" y="1828800"/>
            <a:ext cx="0" cy="1627632"/>
          </a:xfrm>
          <a:prstGeom prst="straightConnector1">
            <a:avLst/>
          </a:prstGeom>
          <a:noFill/>
          <a:ln cap="flat" cmpd="sng" w="1650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38" name="Google Shape;138;p15"/>
          <p:cNvCxnSpPr/>
          <p:nvPr/>
        </p:nvCxnSpPr>
        <p:spPr>
          <a:xfrm flipH="1" rot="10800000">
            <a:off x="6016752" y="2029968"/>
            <a:ext cx="4041648" cy="1426464"/>
          </a:xfrm>
          <a:prstGeom prst="straightConnector1">
            <a:avLst/>
          </a:prstGeom>
          <a:noFill/>
          <a:ln cap="flat" cmpd="sng" w="1650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39" name="Google Shape;139;p15"/>
          <p:cNvCxnSpPr/>
          <p:nvPr/>
        </p:nvCxnSpPr>
        <p:spPr>
          <a:xfrm flipH="1">
            <a:off x="2240280" y="3456432"/>
            <a:ext cx="3776472" cy="1298448"/>
          </a:xfrm>
          <a:prstGeom prst="straightConnector1">
            <a:avLst/>
          </a:prstGeom>
          <a:noFill/>
          <a:ln cap="flat" cmpd="sng" w="1650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0" name="Google Shape;140;p15"/>
          <p:cNvCxnSpPr/>
          <p:nvPr/>
        </p:nvCxnSpPr>
        <p:spPr>
          <a:xfrm>
            <a:off x="6016752" y="3456432"/>
            <a:ext cx="3767328" cy="1298448"/>
          </a:xfrm>
          <a:prstGeom prst="straightConnector1">
            <a:avLst/>
          </a:prstGeom>
          <a:noFill/>
          <a:ln cap="flat" cmpd="sng" w="1650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1" name="Google Shape;141;p15"/>
          <p:cNvSpPr/>
          <p:nvPr/>
        </p:nvSpPr>
        <p:spPr>
          <a:xfrm>
            <a:off x="5308092" y="2747772"/>
            <a:ext cx="1417320" cy="1417320"/>
          </a:xfrm>
          <a:prstGeom prst="ellipse">
            <a:avLst/>
          </a:prstGeom>
          <a:solidFill>
            <a:srgbClr val="FAF4E2"/>
          </a:solidFill>
          <a:ln cap="flat" cmpd="sng" w="17775">
            <a:solidFill>
              <a:srgbClr val="D69E1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5381244" y="2912364"/>
            <a:ext cx="1271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4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AUDITORÍA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5399531" y="3241548"/>
            <a:ext cx="1234440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independiente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960120" y="1069848"/>
            <a:ext cx="1920240" cy="1920240"/>
          </a:xfrm>
          <a:prstGeom prst="ellipse">
            <a:avLst/>
          </a:prstGeom>
          <a:solidFill>
            <a:srgbClr val="EFF6F1"/>
          </a:solidFill>
          <a:ln cap="flat" cmpd="sng" w="17775">
            <a:solidFill>
              <a:srgbClr val="1B66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1033272" y="1234440"/>
            <a:ext cx="1773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4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Auditor líder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1051560" y="1563624"/>
            <a:ext cx="1737360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Plan · equipo · decisiones · informe · objetividad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5184648" y="996695"/>
            <a:ext cx="1664208" cy="1664208"/>
          </a:xfrm>
          <a:prstGeom prst="ellipse">
            <a:avLst/>
          </a:prstGeom>
          <a:solidFill>
            <a:srgbClr val="F7F9F7"/>
          </a:solidFill>
          <a:ln cap="flat" cmpd="sng" w="17775">
            <a:solidFill>
              <a:srgbClr val="12534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5257800" y="1161287"/>
            <a:ext cx="15179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4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Registrador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5276088" y="1490472"/>
            <a:ext cx="14813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Anomalías · acciones · decisiones</a:t>
            </a: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9098280" y="1069848"/>
            <a:ext cx="1920240" cy="1920240"/>
          </a:xfrm>
          <a:prstGeom prst="ellipse">
            <a:avLst/>
          </a:prstGeom>
          <a:solidFill>
            <a:srgbClr val="EFF6F1"/>
          </a:solidFill>
          <a:ln cap="flat" cmpd="sng" w="17775">
            <a:solidFill>
              <a:srgbClr val="1B66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9171432" y="1234440"/>
            <a:ext cx="1773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4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Auditores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9189719" y="1563624"/>
            <a:ext cx="1737360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Examinan · documentan · sin sesgo</a:t>
            </a: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1216152" y="3730752"/>
            <a:ext cx="2048256" cy="2048256"/>
          </a:xfrm>
          <a:prstGeom prst="ellipse">
            <a:avLst/>
          </a:prstGeom>
          <a:solidFill>
            <a:srgbClr val="FAF4E2"/>
          </a:solidFill>
          <a:ln cap="flat" cmpd="sng" w="17775">
            <a:solidFill>
              <a:srgbClr val="D69E1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1289304" y="3895344"/>
            <a:ext cx="19019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4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Iniciador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1307592" y="4224528"/>
            <a:ext cx="1865376" cy="14813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Necesidad · alcance · criterios · seguimiento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8695944" y="3666744"/>
            <a:ext cx="2176272" cy="2176272"/>
          </a:xfrm>
          <a:prstGeom prst="ellipse">
            <a:avLst/>
          </a:prstGeom>
          <a:solidFill>
            <a:srgbClr val="F7F9F7"/>
          </a:solidFill>
          <a:ln cap="flat" cmpd="sng" w="17775">
            <a:solidFill>
              <a:srgbClr val="12534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8769096" y="3831335"/>
            <a:ext cx="202996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4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Organización auditada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8787384" y="4160520"/>
            <a:ext cx="1993391" cy="160934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Enlace · acceso · evidencia · correcciones</a:t>
            </a:r>
            <a:endParaRPr/>
          </a:p>
        </p:txBody>
      </p:sp>
      <p:sp>
        <p:nvSpPr>
          <p:cNvPr id="159" name="Google Shape;159;p15"/>
          <p:cNvSpPr/>
          <p:nvPr/>
        </p:nvSpPr>
        <p:spPr>
          <a:xfrm>
            <a:off x="3794760" y="5230368"/>
            <a:ext cx="4434840" cy="429768"/>
          </a:xfrm>
          <a:prstGeom prst="roundRect">
            <a:avLst>
              <a:gd fmla="val 16667" name="adj"/>
            </a:avLst>
          </a:prstGeom>
          <a:solidFill>
            <a:srgbClr val="EFF6F1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Auditor líder puede ser registrador</a:t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3794760" y="5687568"/>
            <a:ext cx="4434840" cy="429768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Iniciador ≠ auditor líder · 1 auditor es permitido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/>
        </p:nvSpPr>
        <p:spPr>
          <a:xfrm>
            <a:off x="868680" y="42062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D69E19"/>
                </a:solidFill>
                <a:latin typeface="Arial"/>
                <a:ea typeface="Arial"/>
                <a:cs typeface="Arial"/>
                <a:sym typeface="Arial"/>
              </a:rPr>
              <a:t>8.3–8.4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868680" y="640080"/>
            <a:ext cx="8549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Entradas y criterios de entrada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868680" y="1161288"/>
            <a:ext cx="914400" cy="45720"/>
          </a:xfrm>
          <a:prstGeom prst="rect">
            <a:avLst/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868680" y="633679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Fuente: IEEE Std 1028-2008 · §§8.3–8.4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10625328" y="630936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4/10</a:t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868680" y="1353312"/>
            <a:ext cx="2331720" cy="457200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Hito / sospecha / exigencia</a:t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3310128" y="1426464"/>
            <a:ext cx="457200" cy="310896"/>
          </a:xfrm>
          <a:prstGeom prst="chevron">
            <a:avLst>
              <a:gd fmla="val 50000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3858768" y="1353312"/>
            <a:ext cx="2029968" cy="457200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INICIADOR autoriza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5998464" y="1426464"/>
            <a:ext cx="457200" cy="310896"/>
          </a:xfrm>
          <a:prstGeom prst="chevron">
            <a:avLst>
              <a:gd fmla="val 50000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6565392" y="1353312"/>
            <a:ext cx="2048256" cy="457200"/>
          </a:xfrm>
          <a:prstGeom prst="roundRect">
            <a:avLst>
              <a:gd fmla="val 16667" name="adj"/>
            </a:avLst>
          </a:prstGeom>
          <a:solidFill>
            <a:srgbClr val="EFF6F1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Equipo independiente</a:t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8741664" y="1426464"/>
            <a:ext cx="457200" cy="310896"/>
          </a:xfrm>
          <a:prstGeom prst="chevron">
            <a:avLst>
              <a:gd fmla="val 50000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9308592" y="1353312"/>
            <a:ext cx="1783080" cy="457200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Plan de auditoría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868680" y="2084831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1B6637"/>
                </a:solidFill>
                <a:latin typeface="Arial"/>
                <a:ea typeface="Arial"/>
                <a:cs typeface="Arial"/>
                <a:sym typeface="Arial"/>
              </a:rPr>
              <a:t>ENTRADAS OBLIGATORIAS</a:t>
            </a: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868680" y="2432304"/>
            <a:ext cx="4754880" cy="603504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868680" y="2432304"/>
            <a:ext cx="73152" cy="603504"/>
          </a:xfrm>
          <a:prstGeom prst="rect">
            <a:avLst/>
          </a:prstGeom>
          <a:solidFill>
            <a:srgbClr val="1B66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1051560" y="2523744"/>
            <a:ext cx="44439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1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Propósito y alcance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1051560" y="2871216"/>
            <a:ext cx="4425696" cy="731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Qué se evaluará y hasta dónde.</a:t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868680" y="3099816"/>
            <a:ext cx="4754880" cy="603504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868680" y="3099816"/>
            <a:ext cx="73152" cy="603504"/>
          </a:xfrm>
          <a:prstGeom prst="rect">
            <a:avLst/>
          </a:prstGeom>
          <a:solidFill>
            <a:srgbClr val="1253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1051560" y="3191256"/>
            <a:ext cx="44439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1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Organización auditada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1051560" y="3538728"/>
            <a:ext cx="4425696" cy="731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Contexto y antecedentes.</a:t>
            </a:r>
            <a:endParaRPr/>
          </a:p>
        </p:txBody>
      </p:sp>
      <p:sp>
        <p:nvSpPr>
          <p:cNvPr id="186" name="Google Shape;186;p16"/>
          <p:cNvSpPr/>
          <p:nvPr/>
        </p:nvSpPr>
        <p:spPr>
          <a:xfrm>
            <a:off x="868680" y="3767328"/>
            <a:ext cx="4754880" cy="603504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868680" y="3767328"/>
            <a:ext cx="73152" cy="603504"/>
          </a:xfrm>
          <a:prstGeom prst="rect">
            <a:avLst/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1051560" y="3858768"/>
            <a:ext cx="44439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1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Producto o proceso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1051560" y="4206240"/>
            <a:ext cx="4425696" cy="731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Objeto concreto de la auditoría.</a:t>
            </a:r>
            <a:endParaRPr/>
          </a:p>
        </p:txBody>
      </p:sp>
      <p:sp>
        <p:nvSpPr>
          <p:cNvPr id="190" name="Google Shape;190;p16"/>
          <p:cNvSpPr/>
          <p:nvPr/>
        </p:nvSpPr>
        <p:spPr>
          <a:xfrm>
            <a:off x="868680" y="4434840"/>
            <a:ext cx="4754880" cy="603504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868680" y="4434840"/>
            <a:ext cx="73152" cy="603504"/>
          </a:xfrm>
          <a:prstGeom prst="rect">
            <a:avLst/>
          </a:prstGeom>
          <a:solidFill>
            <a:srgbClr val="1B66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1051560" y="4526279"/>
            <a:ext cx="44439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1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Criterios de evaluación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1051560" y="4873752"/>
            <a:ext cx="4425696" cy="731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Normas, contratos, planes, especificaciones.</a:t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868680" y="5102352"/>
            <a:ext cx="4754880" cy="603504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868680" y="5102352"/>
            <a:ext cx="73152" cy="603504"/>
          </a:xfrm>
          <a:prstGeom prst="rect">
            <a:avLst/>
          </a:prstGeom>
          <a:solidFill>
            <a:srgbClr val="1253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6"/>
          <p:cNvSpPr txBox="1"/>
          <p:nvPr/>
        </p:nvSpPr>
        <p:spPr>
          <a:xfrm>
            <a:off x="1051560" y="5193792"/>
            <a:ext cx="44439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1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Criterios de impacto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1051560" y="5541264"/>
            <a:ext cx="4425696" cy="731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Aceptable · mejora · inaceptable · no calificado.</a:t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>
            <a:off x="868680" y="5797296"/>
            <a:ext cx="4754880" cy="356616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Opcional: registros de auditorías similares anteriores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5989320" y="2084831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1B6637"/>
                </a:solidFill>
                <a:latin typeface="Arial"/>
                <a:ea typeface="Arial"/>
                <a:cs typeface="Arial"/>
                <a:sym typeface="Arial"/>
              </a:rPr>
              <a:t>GATE DE ENTRADA</a:t>
            </a:r>
            <a:endParaRPr/>
          </a:p>
        </p:txBody>
      </p:sp>
      <p:sp>
        <p:nvSpPr>
          <p:cNvPr id="200" name="Google Shape;200;p16"/>
          <p:cNvSpPr/>
          <p:nvPr/>
        </p:nvSpPr>
        <p:spPr>
          <a:xfrm>
            <a:off x="5989320" y="2487168"/>
            <a:ext cx="566928" cy="566928"/>
          </a:xfrm>
          <a:prstGeom prst="roundRect">
            <a:avLst>
              <a:gd fmla="val 16667" name="adj"/>
            </a:avLst>
          </a:prstGeom>
          <a:solidFill>
            <a:srgbClr val="EFF6F1"/>
          </a:solidFill>
          <a:ln cap="flat" cmpd="sng" w="10150">
            <a:solidFill>
              <a:srgbClr val="D69E1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000">
                <a:solidFill>
                  <a:srgbClr val="D69E1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6720840" y="2487168"/>
            <a:ext cx="4279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3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1. Autorizada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6720840" y="2779776"/>
            <a:ext cx="4279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Por una autoridad apropiada.</a:t>
            </a: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5989320" y="3465576"/>
            <a:ext cx="566928" cy="566928"/>
          </a:xfrm>
          <a:prstGeom prst="roundRect">
            <a:avLst>
              <a:gd fmla="val 16667" name="adj"/>
            </a:avLst>
          </a:prstGeom>
          <a:solidFill>
            <a:srgbClr val="EFF6F1"/>
          </a:solidFill>
          <a:ln cap="flat" cmpd="sng" w="10150">
            <a:solidFill>
              <a:srgbClr val="1B66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000">
                <a:solidFill>
                  <a:srgbClr val="1B663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6720840" y="3465576"/>
            <a:ext cx="4279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3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2. Objetivos definidos</a:t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6720840" y="3758184"/>
            <a:ext cx="4279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Existe una declaración clara de objetivos.</a:t>
            </a:r>
            <a:endParaRPr/>
          </a:p>
        </p:txBody>
      </p:sp>
      <p:sp>
        <p:nvSpPr>
          <p:cNvPr id="206" name="Google Shape;206;p16"/>
          <p:cNvSpPr/>
          <p:nvPr/>
        </p:nvSpPr>
        <p:spPr>
          <a:xfrm>
            <a:off x="5989320" y="4443984"/>
            <a:ext cx="566928" cy="566928"/>
          </a:xfrm>
          <a:prstGeom prst="roundRect">
            <a:avLst>
              <a:gd fmla="val 16667" name="adj"/>
            </a:avLst>
          </a:prstGeom>
          <a:solidFill>
            <a:srgbClr val="EFF6F1"/>
          </a:solidFill>
          <a:ln cap="flat" cmpd="sng" w="10150">
            <a:solidFill>
              <a:srgbClr val="12534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000">
                <a:solidFill>
                  <a:srgbClr val="12534E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6720840" y="4443984"/>
            <a:ext cx="4279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3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3. Entradas disponibles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6720840" y="4736592"/>
            <a:ext cx="4279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Todo lo requerido está accesible.</a:t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5989320" y="5468112"/>
            <a:ext cx="5074920" cy="694944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5989320" y="5468112"/>
            <a:ext cx="73152" cy="694944"/>
          </a:xfrm>
          <a:prstGeom prst="rect">
            <a:avLst/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6"/>
          <p:cNvSpPr txBox="1"/>
          <p:nvPr/>
        </p:nvSpPr>
        <p:spPr>
          <a:xfrm>
            <a:off x="6172200" y="5559552"/>
            <a:ext cx="47640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1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¿Quién puede detonar la auditoría?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6172200" y="5907024"/>
            <a:ext cx="47457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Proveedor · cliente · tercero regulador. En todos los casos, el iniciador debe autorizarla.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/>
          <p:nvPr/>
        </p:nvSpPr>
        <p:spPr>
          <a:xfrm>
            <a:off x="868680" y="42062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D69E19"/>
                </a:solidFill>
                <a:latin typeface="Arial"/>
                <a:ea typeface="Arial"/>
                <a:cs typeface="Arial"/>
                <a:sym typeface="Arial"/>
              </a:rPr>
              <a:t>8.5.1–8.5.2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868680" y="640080"/>
            <a:ext cx="8549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Preparación de gestión y plan de auditoría</a:t>
            </a:r>
            <a:endParaRPr/>
          </a:p>
        </p:txBody>
      </p:sp>
      <p:sp>
        <p:nvSpPr>
          <p:cNvPr id="219" name="Google Shape;219;p17"/>
          <p:cNvSpPr/>
          <p:nvPr/>
        </p:nvSpPr>
        <p:spPr>
          <a:xfrm>
            <a:off x="868680" y="1161288"/>
            <a:ext cx="914400" cy="45720"/>
          </a:xfrm>
          <a:prstGeom prst="rect">
            <a:avLst/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868680" y="633679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Fuente: IEEE Std 1028-2008 · §§8.5.1–8.5.2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10625328" y="630936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5/10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868680" y="1353312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1B6637"/>
                </a:solidFill>
                <a:latin typeface="Arial"/>
                <a:ea typeface="Arial"/>
                <a:cs typeface="Arial"/>
                <a:sym typeface="Arial"/>
              </a:rPr>
              <a:t>PREPARACIÓN DE GESTIÓN</a:t>
            </a:r>
            <a:endParaRPr/>
          </a:p>
        </p:txBody>
      </p:sp>
      <p:sp>
        <p:nvSpPr>
          <p:cNvPr id="223" name="Google Shape;223;p17"/>
          <p:cNvSpPr/>
          <p:nvPr/>
        </p:nvSpPr>
        <p:spPr>
          <a:xfrm>
            <a:off x="868680" y="1719072"/>
            <a:ext cx="1700784" cy="886968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868680" y="1719072"/>
            <a:ext cx="73152" cy="886968"/>
          </a:xfrm>
          <a:prstGeom prst="rect">
            <a:avLst/>
          </a:prstGeom>
          <a:solidFill>
            <a:srgbClr val="1B66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1051560" y="1810512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Tiempo + recursos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1051560" y="2157984"/>
            <a:ext cx="137160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Planificar soporte y disponibilidad.</a:t>
            </a: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2761488" y="1719072"/>
            <a:ext cx="1700784" cy="886968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2761488" y="1719072"/>
            <a:ext cx="73152" cy="886968"/>
          </a:xfrm>
          <a:prstGeom prst="rect">
            <a:avLst/>
          </a:prstGeom>
          <a:solidFill>
            <a:srgbClr val="1253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2944368" y="1810512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Fondos + instalaciones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2944368" y="2157984"/>
            <a:ext cx="137160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Habilitar ejecución y gestión.</a:t>
            </a:r>
            <a:endParaRPr/>
          </a:p>
        </p:txBody>
      </p:sp>
      <p:sp>
        <p:nvSpPr>
          <p:cNvPr id="231" name="Google Shape;231;p17"/>
          <p:cNvSpPr/>
          <p:nvPr/>
        </p:nvSpPr>
        <p:spPr>
          <a:xfrm>
            <a:off x="868680" y="2770632"/>
            <a:ext cx="1700784" cy="886968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868680" y="2770632"/>
            <a:ext cx="73152" cy="886968"/>
          </a:xfrm>
          <a:prstGeom prst="rect">
            <a:avLst/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1051560" y="2862072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Entrenamiento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1051560" y="3209544"/>
            <a:ext cx="137160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Orientar sobre procedimientos.</a:t>
            </a:r>
            <a:endParaRPr/>
          </a:p>
        </p:txBody>
      </p:sp>
      <p:sp>
        <p:nvSpPr>
          <p:cNvPr id="235" name="Google Shape;235;p17"/>
          <p:cNvSpPr/>
          <p:nvPr/>
        </p:nvSpPr>
        <p:spPr>
          <a:xfrm>
            <a:off x="2761488" y="2770632"/>
            <a:ext cx="1700784" cy="886968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2761488" y="2770632"/>
            <a:ext cx="73152" cy="886968"/>
          </a:xfrm>
          <a:prstGeom prst="rect">
            <a:avLst/>
          </a:prstGeom>
          <a:solidFill>
            <a:srgbClr val="1B66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7"/>
          <p:cNvSpPr txBox="1"/>
          <p:nvPr/>
        </p:nvSpPr>
        <p:spPr>
          <a:xfrm>
            <a:off x="2944368" y="2862072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Experticia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2944368" y="3209544"/>
            <a:ext cx="137160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Asegurar conocimiento suficiente.</a:t>
            </a:r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868680" y="3822191"/>
            <a:ext cx="1700784" cy="886968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868680" y="3822191"/>
            <a:ext cx="73152" cy="886968"/>
          </a:xfrm>
          <a:prstGeom prst="rect">
            <a:avLst/>
          </a:prstGeom>
          <a:solidFill>
            <a:srgbClr val="1253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7"/>
          <p:cNvSpPr txBox="1"/>
          <p:nvPr/>
        </p:nvSpPr>
        <p:spPr>
          <a:xfrm>
            <a:off x="1051560" y="3913631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Ejecución</a:t>
            </a:r>
            <a:endParaRPr/>
          </a:p>
        </p:txBody>
      </p:sp>
      <p:sp>
        <p:nvSpPr>
          <p:cNvPr id="242" name="Google Shape;242;p17"/>
          <p:cNvSpPr txBox="1"/>
          <p:nvPr/>
        </p:nvSpPr>
        <p:spPr>
          <a:xfrm>
            <a:off x="1051560" y="4261104"/>
            <a:ext cx="137160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Garantizar auditorías planificadas.</a:t>
            </a:r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2761488" y="3822191"/>
            <a:ext cx="1700784" cy="886968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2761488" y="3822191"/>
            <a:ext cx="73152" cy="886968"/>
          </a:xfrm>
          <a:prstGeom prst="rect">
            <a:avLst/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7"/>
          <p:cNvSpPr txBox="1"/>
          <p:nvPr/>
        </p:nvSpPr>
        <p:spPr>
          <a:xfrm>
            <a:off x="2944368" y="3913631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Acción</a:t>
            </a:r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2944368" y="4261104"/>
            <a:ext cx="137160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Responder a recomendaciones a tiempo.</a:t>
            </a:r>
            <a:endParaRPr/>
          </a:p>
        </p:txBody>
      </p:sp>
      <p:sp>
        <p:nvSpPr>
          <p:cNvPr id="247" name="Google Shape;247;p17"/>
          <p:cNvSpPr txBox="1"/>
          <p:nvPr/>
        </p:nvSpPr>
        <p:spPr>
          <a:xfrm>
            <a:off x="4873752" y="1353312"/>
            <a:ext cx="6217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1B6637"/>
                </a:solidFill>
                <a:latin typeface="Arial"/>
                <a:ea typeface="Arial"/>
                <a:cs typeface="Arial"/>
                <a:sym typeface="Arial"/>
              </a:rPr>
              <a:t>PLAN DE AUDITORÍA</a:t>
            </a:r>
            <a:endParaRPr/>
          </a:p>
        </p:txBody>
      </p:sp>
      <p:sp>
        <p:nvSpPr>
          <p:cNvPr id="248" name="Google Shape;248;p17"/>
          <p:cNvSpPr/>
          <p:nvPr/>
        </p:nvSpPr>
        <p:spPr>
          <a:xfrm>
            <a:off x="4873752" y="1719072"/>
            <a:ext cx="6217920" cy="41879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5120640" y="1920240"/>
            <a:ext cx="1124712" cy="310896"/>
          </a:xfrm>
          <a:prstGeom prst="roundRect">
            <a:avLst>
              <a:gd fmla="val 16667" name="adj"/>
            </a:avLst>
          </a:prstGeom>
          <a:solidFill>
            <a:srgbClr val="EFF6F1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6364224" y="190195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Propósito · organización · productos · criterios</a:t>
            </a:r>
            <a:endParaRPr/>
          </a:p>
        </p:txBody>
      </p:sp>
      <p:sp>
        <p:nvSpPr>
          <p:cNvPr id="251" name="Google Shape;251;p17"/>
          <p:cNvSpPr/>
          <p:nvPr/>
        </p:nvSpPr>
        <p:spPr>
          <a:xfrm>
            <a:off x="5120640" y="2569464"/>
            <a:ext cx="1124712" cy="310896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Responsables</a:t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6364224" y="2551176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Funciones del auditor + actividades de examen</a:t>
            </a:r>
            <a:endParaRPr/>
          </a:p>
        </p:txBody>
      </p:sp>
      <p:sp>
        <p:nvSpPr>
          <p:cNvPr id="253" name="Google Shape;253;p17"/>
          <p:cNvSpPr/>
          <p:nvPr/>
        </p:nvSpPr>
        <p:spPr>
          <a:xfrm>
            <a:off x="5120640" y="3218688"/>
            <a:ext cx="1124712" cy="310896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Logística</a:t>
            </a:r>
            <a:endParaRPr/>
          </a:p>
        </p:txBody>
      </p:sp>
      <p:sp>
        <p:nvSpPr>
          <p:cNvPr id="254" name="Google Shape;254;p17"/>
          <p:cNvSpPr txBox="1"/>
          <p:nvPr/>
        </p:nvSpPr>
        <p:spPr>
          <a:xfrm>
            <a:off x="6364224" y="320040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Recursos · cronograma · confidencialidad</a:t>
            </a:r>
            <a:endParaRPr/>
          </a:p>
        </p:txBody>
      </p:sp>
      <p:sp>
        <p:nvSpPr>
          <p:cNvPr id="255" name="Google Shape;255;p17"/>
          <p:cNvSpPr/>
          <p:nvPr/>
        </p:nvSpPr>
        <p:spPr>
          <a:xfrm>
            <a:off x="5120640" y="3867912"/>
            <a:ext cx="1124712" cy="310896"/>
          </a:xfrm>
          <a:prstGeom prst="roundRect">
            <a:avLst>
              <a:gd fmla="val 16667" name="adj"/>
            </a:avLst>
          </a:prstGeom>
          <a:solidFill>
            <a:srgbClr val="EFF6F1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endParaRPr/>
          </a:p>
        </p:txBody>
      </p:sp>
      <p:sp>
        <p:nvSpPr>
          <p:cNvPr id="256" name="Google Shape;256;p17"/>
          <p:cNvSpPr txBox="1"/>
          <p:nvPr/>
        </p:nvSpPr>
        <p:spPr>
          <a:xfrm>
            <a:off x="6364224" y="3849624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Checklists · formato/distribución del informe</a:t>
            </a:r>
            <a:endParaRPr/>
          </a:p>
        </p:txBody>
      </p:sp>
      <p:sp>
        <p:nvSpPr>
          <p:cNvPr id="257" name="Google Shape;257;p17"/>
          <p:cNvSpPr/>
          <p:nvPr/>
        </p:nvSpPr>
        <p:spPr>
          <a:xfrm>
            <a:off x="5120640" y="4517136"/>
            <a:ext cx="1124712" cy="310896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Continuidad</a:t>
            </a:r>
            <a:endParaRPr/>
          </a:p>
        </p:txBody>
      </p:sp>
      <p:sp>
        <p:nvSpPr>
          <p:cNvPr id="258" name="Google Shape;258;p17"/>
          <p:cNvSpPr txBox="1"/>
          <p:nvPr/>
        </p:nvSpPr>
        <p:spPr>
          <a:xfrm>
            <a:off x="6364224" y="4498848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Actividades de seguimiento requeridas</a:t>
            </a:r>
            <a:endParaRPr/>
          </a:p>
        </p:txBody>
      </p:sp>
      <p:sp>
        <p:nvSpPr>
          <p:cNvPr id="259" name="Google Shape;259;p17"/>
          <p:cNvSpPr/>
          <p:nvPr/>
        </p:nvSpPr>
        <p:spPr>
          <a:xfrm>
            <a:off x="5120640" y="5239512"/>
            <a:ext cx="2606040" cy="402336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Muestreo → método estadísticamente válido</a:t>
            </a:r>
            <a:endParaRPr/>
          </a:p>
        </p:txBody>
      </p:sp>
      <p:sp>
        <p:nvSpPr>
          <p:cNvPr id="260" name="Google Shape;260;p17"/>
          <p:cNvSpPr/>
          <p:nvPr/>
        </p:nvSpPr>
        <p:spPr>
          <a:xfrm>
            <a:off x="7845552" y="5239512"/>
            <a:ext cx="2907792" cy="402336"/>
          </a:xfrm>
          <a:prstGeom prst="roundRect">
            <a:avLst>
              <a:gd fmla="val 16667" name="adj"/>
            </a:avLst>
          </a:prstGeom>
          <a:solidFill>
            <a:srgbClr val="EFF6F1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Plan aprobado por el iniciador</a:t>
            </a:r>
            <a:endParaRPr/>
          </a:p>
        </p:txBody>
      </p:sp>
      <p:sp>
        <p:nvSpPr>
          <p:cNvPr id="261" name="Google Shape;261;p17"/>
          <p:cNvSpPr txBox="1"/>
          <p:nvPr/>
        </p:nvSpPr>
        <p:spPr>
          <a:xfrm>
            <a:off x="5120640" y="5687568"/>
            <a:ext cx="5632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Puede ajustarse con la información obtenida, pero cualquier cambio requiere aprobación.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"/>
          <p:cNvSpPr txBox="1"/>
          <p:nvPr/>
        </p:nvSpPr>
        <p:spPr>
          <a:xfrm>
            <a:off x="868680" y="42062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D69E19"/>
                </a:solidFill>
                <a:latin typeface="Arial"/>
                <a:ea typeface="Arial"/>
                <a:cs typeface="Arial"/>
                <a:sym typeface="Arial"/>
              </a:rPr>
              <a:t>8.5.3–8.5.4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868680" y="640080"/>
            <a:ext cx="8549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Reunión de apertura y preparación</a:t>
            </a:r>
            <a:endParaRPr/>
          </a:p>
        </p:txBody>
      </p:sp>
      <p:sp>
        <p:nvSpPr>
          <p:cNvPr id="268" name="Google Shape;268;p18"/>
          <p:cNvSpPr/>
          <p:nvPr/>
        </p:nvSpPr>
        <p:spPr>
          <a:xfrm>
            <a:off x="868680" y="1161288"/>
            <a:ext cx="914400" cy="45720"/>
          </a:xfrm>
          <a:prstGeom prst="rect">
            <a:avLst/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8"/>
          <p:cNvSpPr txBox="1"/>
          <p:nvPr/>
        </p:nvSpPr>
        <p:spPr>
          <a:xfrm>
            <a:off x="868680" y="633679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Fuente: IEEE Std 1028-2008 · §§8.5.3–8.5.4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10625328" y="630936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6/10</a:t>
            </a:r>
            <a:endParaRPr/>
          </a:p>
        </p:txBody>
      </p:sp>
      <p:cxnSp>
        <p:nvCxnSpPr>
          <p:cNvPr id="271" name="Google Shape;271;p18"/>
          <p:cNvCxnSpPr/>
          <p:nvPr/>
        </p:nvCxnSpPr>
        <p:spPr>
          <a:xfrm>
            <a:off x="2788920" y="2322576"/>
            <a:ext cx="868680" cy="0"/>
          </a:xfrm>
          <a:prstGeom prst="straightConnector1">
            <a:avLst/>
          </a:prstGeom>
          <a:noFill/>
          <a:ln cap="flat" cmpd="sng" w="27925">
            <a:solidFill>
              <a:srgbClr val="D69E1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2" name="Google Shape;272;p18"/>
          <p:cNvSpPr/>
          <p:nvPr/>
        </p:nvSpPr>
        <p:spPr>
          <a:xfrm>
            <a:off x="868680" y="1481328"/>
            <a:ext cx="566928" cy="438912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>
            <a:off x="868680" y="1938528"/>
            <a:ext cx="2240280" cy="1965960"/>
          </a:xfrm>
          <a:prstGeom prst="roundRect">
            <a:avLst>
              <a:gd fmla="val 16667" name="adj"/>
            </a:avLst>
          </a:prstGeom>
          <a:solidFill>
            <a:srgbClr val="EFF6F1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868680" y="1938528"/>
            <a:ext cx="73152" cy="1965960"/>
          </a:xfrm>
          <a:prstGeom prst="rect">
            <a:avLst/>
          </a:prstGeom>
          <a:solidFill>
            <a:srgbClr val="1B66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8"/>
          <p:cNvSpPr txBox="1"/>
          <p:nvPr/>
        </p:nvSpPr>
        <p:spPr>
          <a:xfrm>
            <a:off x="1051560" y="2029968"/>
            <a:ext cx="1929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Notificación escrita</a:t>
            </a:r>
            <a:endParaRPr/>
          </a:p>
        </p:txBody>
      </p:sp>
      <p:sp>
        <p:nvSpPr>
          <p:cNvPr id="276" name="Google Shape;276;p18"/>
          <p:cNvSpPr txBox="1"/>
          <p:nvPr/>
        </p:nvSpPr>
        <p:spPr>
          <a:xfrm>
            <a:off x="1051560" y="2377440"/>
            <a:ext cx="1911096" cy="143560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Propósito · alcance · objeto · auditores · cronograma</a:t>
            </a:r>
            <a:endParaRPr/>
          </a:p>
        </p:txBody>
      </p:sp>
      <p:cxnSp>
        <p:nvCxnSpPr>
          <p:cNvPr id="277" name="Google Shape;277;p18"/>
          <p:cNvCxnSpPr/>
          <p:nvPr/>
        </p:nvCxnSpPr>
        <p:spPr>
          <a:xfrm>
            <a:off x="5577840" y="2322576"/>
            <a:ext cx="868680" cy="0"/>
          </a:xfrm>
          <a:prstGeom prst="straightConnector1">
            <a:avLst/>
          </a:prstGeom>
          <a:noFill/>
          <a:ln cap="flat" cmpd="sng" w="27925">
            <a:solidFill>
              <a:srgbClr val="D69E1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8" name="Google Shape;278;p18"/>
          <p:cNvSpPr/>
          <p:nvPr/>
        </p:nvSpPr>
        <p:spPr>
          <a:xfrm>
            <a:off x="3657600" y="1481328"/>
            <a:ext cx="566928" cy="438912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79" name="Google Shape;279;p18"/>
          <p:cNvSpPr/>
          <p:nvPr/>
        </p:nvSpPr>
        <p:spPr>
          <a:xfrm>
            <a:off x="3657600" y="1938528"/>
            <a:ext cx="2240280" cy="1965960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3657600" y="1938528"/>
            <a:ext cx="73152" cy="1965960"/>
          </a:xfrm>
          <a:prstGeom prst="rect">
            <a:avLst/>
          </a:prstGeom>
          <a:solidFill>
            <a:srgbClr val="1253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8"/>
          <p:cNvSpPr txBox="1"/>
          <p:nvPr/>
        </p:nvSpPr>
        <p:spPr>
          <a:xfrm>
            <a:off x="3840480" y="2029968"/>
            <a:ext cx="1929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Reunión de apertura</a:t>
            </a:r>
            <a:endParaRPr/>
          </a:p>
        </p:txBody>
      </p:sp>
      <p:sp>
        <p:nvSpPr>
          <p:cNvPr id="282" name="Google Shape;282;p18"/>
          <p:cNvSpPr txBox="1"/>
          <p:nvPr/>
        </p:nvSpPr>
        <p:spPr>
          <a:xfrm>
            <a:off x="3840480" y="2377440"/>
            <a:ext cx="1911096" cy="143560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Procedimientos · outputs · aportes · acceso · agenda</a:t>
            </a:r>
            <a:endParaRPr/>
          </a:p>
        </p:txBody>
      </p:sp>
      <p:cxnSp>
        <p:nvCxnSpPr>
          <p:cNvPr id="283" name="Google Shape;283;p18"/>
          <p:cNvCxnSpPr/>
          <p:nvPr/>
        </p:nvCxnSpPr>
        <p:spPr>
          <a:xfrm>
            <a:off x="8366760" y="2322576"/>
            <a:ext cx="868680" cy="0"/>
          </a:xfrm>
          <a:prstGeom prst="straightConnector1">
            <a:avLst/>
          </a:prstGeom>
          <a:noFill/>
          <a:ln cap="flat" cmpd="sng" w="27925">
            <a:solidFill>
              <a:srgbClr val="D69E1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4" name="Google Shape;284;p18"/>
          <p:cNvSpPr/>
          <p:nvPr/>
        </p:nvSpPr>
        <p:spPr>
          <a:xfrm>
            <a:off x="6446520" y="1481328"/>
            <a:ext cx="566928" cy="438912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85" name="Google Shape;285;p18"/>
          <p:cNvSpPr/>
          <p:nvPr/>
        </p:nvSpPr>
        <p:spPr>
          <a:xfrm>
            <a:off x="6446520" y="1938528"/>
            <a:ext cx="2240280" cy="1965960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8"/>
          <p:cNvSpPr/>
          <p:nvPr/>
        </p:nvSpPr>
        <p:spPr>
          <a:xfrm>
            <a:off x="6446520" y="1938528"/>
            <a:ext cx="73152" cy="1965960"/>
          </a:xfrm>
          <a:prstGeom prst="rect">
            <a:avLst/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8"/>
          <p:cNvSpPr txBox="1"/>
          <p:nvPr/>
        </p:nvSpPr>
        <p:spPr>
          <a:xfrm>
            <a:off x="6629400" y="2029968"/>
            <a:ext cx="1929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Preparación del auditor</a:t>
            </a:r>
            <a:endParaRPr/>
          </a:p>
        </p:txBody>
      </p:sp>
      <p:sp>
        <p:nvSpPr>
          <p:cNvPr id="288" name="Google Shape;288;p18"/>
          <p:cNvSpPr txBox="1"/>
          <p:nvPr/>
        </p:nvSpPr>
        <p:spPr>
          <a:xfrm>
            <a:off x="6629400" y="2377440"/>
            <a:ext cx="1911096" cy="143560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Plan · organización · productos · criterios · normas</a:t>
            </a:r>
            <a:endParaRPr/>
          </a:p>
        </p:txBody>
      </p:sp>
      <p:sp>
        <p:nvSpPr>
          <p:cNvPr id="289" name="Google Shape;289;p18"/>
          <p:cNvSpPr/>
          <p:nvPr/>
        </p:nvSpPr>
        <p:spPr>
          <a:xfrm>
            <a:off x="9235440" y="1481328"/>
            <a:ext cx="566928" cy="438912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90" name="Google Shape;290;p18"/>
          <p:cNvSpPr/>
          <p:nvPr/>
        </p:nvSpPr>
        <p:spPr>
          <a:xfrm>
            <a:off x="9235440" y="1938528"/>
            <a:ext cx="2240280" cy="1965960"/>
          </a:xfrm>
          <a:prstGeom prst="roundRect">
            <a:avLst>
              <a:gd fmla="val 16667" name="adj"/>
            </a:avLst>
          </a:prstGeom>
          <a:solidFill>
            <a:srgbClr val="EFF6F1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9235440" y="1938528"/>
            <a:ext cx="73152" cy="1965960"/>
          </a:xfrm>
          <a:prstGeom prst="rect">
            <a:avLst/>
          </a:prstGeom>
          <a:solidFill>
            <a:srgbClr val="1B66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8"/>
          <p:cNvSpPr txBox="1"/>
          <p:nvPr/>
        </p:nvSpPr>
        <p:spPr>
          <a:xfrm>
            <a:off x="9418319" y="2029968"/>
            <a:ext cx="1929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Arreglos del líder</a:t>
            </a:r>
            <a:endParaRPr/>
          </a:p>
        </p:txBody>
      </p:sp>
      <p:sp>
        <p:nvSpPr>
          <p:cNvPr id="293" name="Google Shape;293;p18"/>
          <p:cNvSpPr txBox="1"/>
          <p:nvPr/>
        </p:nvSpPr>
        <p:spPr>
          <a:xfrm>
            <a:off x="9418319" y="2377440"/>
            <a:ext cx="1911096" cy="143560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Orientación · herramientas · materiales · actividades</a:t>
            </a:r>
            <a:endParaRPr/>
          </a:p>
        </p:txBody>
      </p:sp>
      <p:sp>
        <p:nvSpPr>
          <p:cNvPr id="294" name="Google Shape;294;p18"/>
          <p:cNvSpPr txBox="1"/>
          <p:nvPr/>
        </p:nvSpPr>
        <p:spPr>
          <a:xfrm>
            <a:off x="868680" y="42519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1B6637"/>
                </a:solidFill>
                <a:latin typeface="Arial"/>
                <a:ea typeface="Arial"/>
                <a:cs typeface="Arial"/>
                <a:sym typeface="Arial"/>
              </a:rPr>
              <a:t>AGENDA MÍNIMA DE APERTURA</a:t>
            </a:r>
            <a:endParaRPr/>
          </a:p>
        </p:txBody>
      </p:sp>
      <p:sp>
        <p:nvSpPr>
          <p:cNvPr id="295" name="Google Shape;295;p18"/>
          <p:cNvSpPr/>
          <p:nvPr/>
        </p:nvSpPr>
        <p:spPr>
          <a:xfrm>
            <a:off x="868680" y="4617720"/>
            <a:ext cx="3246120" cy="438912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Propósito y alcance</a:t>
            </a:r>
            <a:endParaRPr/>
          </a:p>
        </p:txBody>
      </p:sp>
      <p:sp>
        <p:nvSpPr>
          <p:cNvPr id="296" name="Google Shape;296;p18"/>
          <p:cNvSpPr/>
          <p:nvPr/>
        </p:nvSpPr>
        <p:spPr>
          <a:xfrm>
            <a:off x="4416552" y="4617720"/>
            <a:ext cx="3246120" cy="438912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Productos/procesos</a:t>
            </a:r>
            <a:endParaRPr/>
          </a:p>
        </p:txBody>
      </p:sp>
      <p:sp>
        <p:nvSpPr>
          <p:cNvPr id="297" name="Google Shape;297;p18"/>
          <p:cNvSpPr/>
          <p:nvPr/>
        </p:nvSpPr>
        <p:spPr>
          <a:xfrm>
            <a:off x="7964423" y="4617720"/>
            <a:ext cx="3246120" cy="438912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Procedimientos y salidas</a:t>
            </a:r>
            <a:endParaRPr/>
          </a:p>
        </p:txBody>
      </p:sp>
      <p:sp>
        <p:nvSpPr>
          <p:cNvPr id="298" name="Google Shape;298;p18"/>
          <p:cNvSpPr/>
          <p:nvPr/>
        </p:nvSpPr>
        <p:spPr>
          <a:xfrm>
            <a:off x="868680" y="5230368"/>
            <a:ext cx="3246120" cy="438912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Contribuciones esperadas</a:t>
            </a:r>
            <a:endParaRPr/>
          </a:p>
        </p:txBody>
      </p:sp>
      <p:sp>
        <p:nvSpPr>
          <p:cNvPr id="299" name="Google Shape;299;p18"/>
          <p:cNvSpPr/>
          <p:nvPr/>
        </p:nvSpPr>
        <p:spPr>
          <a:xfrm>
            <a:off x="4416552" y="5230368"/>
            <a:ext cx="3246120" cy="438912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Cronograma</a:t>
            </a:r>
            <a:endParaRPr/>
          </a:p>
        </p:txBody>
      </p:sp>
      <p:sp>
        <p:nvSpPr>
          <p:cNvPr id="300" name="Google Shape;300;p18"/>
          <p:cNvSpPr/>
          <p:nvPr/>
        </p:nvSpPr>
        <p:spPr>
          <a:xfrm>
            <a:off x="7964423" y="5230368"/>
            <a:ext cx="3246120" cy="438912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Acceso a instalaciones e información</a:t>
            </a:r>
            <a:endParaRPr/>
          </a:p>
        </p:txBody>
      </p:sp>
      <p:sp>
        <p:nvSpPr>
          <p:cNvPr id="301" name="Google Shape;301;p18"/>
          <p:cNvSpPr/>
          <p:nvPr/>
        </p:nvSpPr>
        <p:spPr>
          <a:xfrm>
            <a:off x="868680" y="5916168"/>
            <a:ext cx="10607040" cy="292608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Excepción: auditorías no anunciadas pueden omitir la notificación previa.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9"/>
          <p:cNvSpPr txBox="1"/>
          <p:nvPr/>
        </p:nvSpPr>
        <p:spPr>
          <a:xfrm>
            <a:off x="868680" y="42062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D69E19"/>
                </a:solidFill>
                <a:latin typeface="Arial"/>
                <a:ea typeface="Arial"/>
                <a:cs typeface="Arial"/>
                <a:sym typeface="Arial"/>
              </a:rPr>
              <a:t>8.5.5</a:t>
            </a:r>
            <a:endParaRPr/>
          </a:p>
        </p:txBody>
      </p:sp>
      <p:sp>
        <p:nvSpPr>
          <p:cNvPr id="307" name="Google Shape;307;p19"/>
          <p:cNvSpPr txBox="1"/>
          <p:nvPr/>
        </p:nvSpPr>
        <p:spPr>
          <a:xfrm>
            <a:off x="868680" y="640080"/>
            <a:ext cx="8549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Examen y recolección de evidencia</a:t>
            </a:r>
            <a:endParaRPr/>
          </a:p>
        </p:txBody>
      </p:sp>
      <p:sp>
        <p:nvSpPr>
          <p:cNvPr id="308" name="Google Shape;308;p19"/>
          <p:cNvSpPr/>
          <p:nvPr/>
        </p:nvSpPr>
        <p:spPr>
          <a:xfrm>
            <a:off x="868680" y="1161288"/>
            <a:ext cx="914400" cy="45720"/>
          </a:xfrm>
          <a:prstGeom prst="rect">
            <a:avLst/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9"/>
          <p:cNvSpPr txBox="1"/>
          <p:nvPr/>
        </p:nvSpPr>
        <p:spPr>
          <a:xfrm>
            <a:off x="868680" y="633679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Fuente: IEEE Std 1028-2008 · §8.5.5</a:t>
            </a:r>
            <a:endParaRPr/>
          </a:p>
        </p:txBody>
      </p:sp>
      <p:sp>
        <p:nvSpPr>
          <p:cNvPr id="310" name="Google Shape;310;p19"/>
          <p:cNvSpPr txBox="1"/>
          <p:nvPr/>
        </p:nvSpPr>
        <p:spPr>
          <a:xfrm>
            <a:off x="10625328" y="630936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7/10</a:t>
            </a:r>
            <a:endParaRPr/>
          </a:p>
        </p:txBody>
      </p:sp>
      <p:pic>
        <p:nvPicPr>
          <p:cNvPr descr="wide_clean_flat_vector_infographic_scene_on_a_whit_batch_2.png" id="311" name="Google Shape;31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1371600"/>
            <a:ext cx="635508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9"/>
          <p:cNvSpPr/>
          <p:nvPr/>
        </p:nvSpPr>
        <p:spPr>
          <a:xfrm>
            <a:off x="4709160" y="1371600"/>
            <a:ext cx="6355080" cy="2926080"/>
          </a:xfrm>
          <a:prstGeom prst="rect">
            <a:avLst/>
          </a:prstGeom>
          <a:noFill/>
          <a:ln cap="flat" cmpd="sng" w="1270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868680" y="1371600"/>
            <a:ext cx="3520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1B6637"/>
                </a:solidFill>
                <a:latin typeface="Arial"/>
                <a:ea typeface="Arial"/>
                <a:cs typeface="Arial"/>
                <a:sym typeface="Arial"/>
              </a:rPr>
              <a:t>TRES FUENTES DE EVIDENCIA</a:t>
            </a:r>
            <a:endParaRPr/>
          </a:p>
        </p:txBody>
      </p:sp>
      <p:sp>
        <p:nvSpPr>
          <p:cNvPr id="314" name="Google Shape;314;p19"/>
          <p:cNvSpPr/>
          <p:nvPr/>
        </p:nvSpPr>
        <p:spPr>
          <a:xfrm>
            <a:off x="868680" y="1783080"/>
            <a:ext cx="3520440" cy="749808"/>
          </a:xfrm>
          <a:prstGeom prst="roundRect">
            <a:avLst>
              <a:gd fmla="val 16667" name="adj"/>
            </a:avLst>
          </a:prstGeom>
          <a:solidFill>
            <a:srgbClr val="EFF6F1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868680" y="1783080"/>
            <a:ext cx="73152" cy="749808"/>
          </a:xfrm>
          <a:prstGeom prst="rect">
            <a:avLst/>
          </a:prstGeom>
          <a:solidFill>
            <a:srgbClr val="1B66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9"/>
          <p:cNvSpPr txBox="1"/>
          <p:nvPr/>
        </p:nvSpPr>
        <p:spPr>
          <a:xfrm>
            <a:off x="1033271" y="1892807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700">
                <a:solidFill>
                  <a:srgbClr val="1B663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1399031" y="1874519"/>
            <a:ext cx="2862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1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Entrevistar</a:t>
            </a:r>
            <a:endParaRPr/>
          </a:p>
        </p:txBody>
      </p:sp>
      <p:sp>
        <p:nvSpPr>
          <p:cNvPr id="318" name="Google Shape;318;p19"/>
          <p:cNvSpPr txBox="1"/>
          <p:nvPr/>
        </p:nvSpPr>
        <p:spPr>
          <a:xfrm>
            <a:off x="1051560" y="2221991"/>
            <a:ext cx="31912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Personal de la organización auditada.</a:t>
            </a:r>
            <a:endParaRPr/>
          </a:p>
        </p:txBody>
      </p:sp>
      <p:sp>
        <p:nvSpPr>
          <p:cNvPr id="319" name="Google Shape;319;p19"/>
          <p:cNvSpPr/>
          <p:nvPr/>
        </p:nvSpPr>
        <p:spPr>
          <a:xfrm>
            <a:off x="868680" y="2651760"/>
            <a:ext cx="3520440" cy="749808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868680" y="2651760"/>
            <a:ext cx="73152" cy="749808"/>
          </a:xfrm>
          <a:prstGeom prst="rect">
            <a:avLst/>
          </a:prstGeom>
          <a:solidFill>
            <a:srgbClr val="1253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9"/>
          <p:cNvSpPr txBox="1"/>
          <p:nvPr/>
        </p:nvSpPr>
        <p:spPr>
          <a:xfrm>
            <a:off x="1033271" y="276148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700">
                <a:solidFill>
                  <a:srgbClr val="12534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22" name="Google Shape;322;p19"/>
          <p:cNvSpPr txBox="1"/>
          <p:nvPr/>
        </p:nvSpPr>
        <p:spPr>
          <a:xfrm>
            <a:off x="1399031" y="2743200"/>
            <a:ext cx="2862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1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Examinar</a:t>
            </a:r>
            <a:endParaRPr/>
          </a:p>
        </p:txBody>
      </p:sp>
      <p:sp>
        <p:nvSpPr>
          <p:cNvPr id="323" name="Google Shape;323;p19"/>
          <p:cNvSpPr txBox="1"/>
          <p:nvPr/>
        </p:nvSpPr>
        <p:spPr>
          <a:xfrm>
            <a:off x="1051560" y="3090672"/>
            <a:ext cx="31912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Documentos, registros y artefactos.</a:t>
            </a:r>
            <a:endParaRPr/>
          </a:p>
        </p:txBody>
      </p:sp>
      <p:sp>
        <p:nvSpPr>
          <p:cNvPr id="324" name="Google Shape;324;p19"/>
          <p:cNvSpPr/>
          <p:nvPr/>
        </p:nvSpPr>
        <p:spPr>
          <a:xfrm>
            <a:off x="868680" y="3520440"/>
            <a:ext cx="3520440" cy="749808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868680" y="3520440"/>
            <a:ext cx="73152" cy="749808"/>
          </a:xfrm>
          <a:prstGeom prst="rect">
            <a:avLst/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9"/>
          <p:cNvSpPr txBox="1"/>
          <p:nvPr/>
        </p:nvSpPr>
        <p:spPr>
          <a:xfrm>
            <a:off x="1033271" y="363016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700">
                <a:solidFill>
                  <a:srgbClr val="D69E1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27" name="Google Shape;327;p19"/>
          <p:cNvSpPr txBox="1"/>
          <p:nvPr/>
        </p:nvSpPr>
        <p:spPr>
          <a:xfrm>
            <a:off x="1399031" y="3611880"/>
            <a:ext cx="2862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1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Observar</a:t>
            </a:r>
            <a:endParaRPr/>
          </a:p>
        </p:txBody>
      </p:sp>
      <p:sp>
        <p:nvSpPr>
          <p:cNvPr id="328" name="Google Shape;328;p19"/>
          <p:cNvSpPr txBox="1"/>
          <p:nvPr/>
        </p:nvSpPr>
        <p:spPr>
          <a:xfrm>
            <a:off x="1051560" y="3959352"/>
            <a:ext cx="31912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Procesos, pruebas y ejecución real.</a:t>
            </a:r>
            <a:endParaRPr/>
          </a:p>
        </p:txBody>
      </p:sp>
      <p:sp>
        <p:nvSpPr>
          <p:cNvPr id="329" name="Google Shape;329;p19"/>
          <p:cNvSpPr txBox="1"/>
          <p:nvPr/>
        </p:nvSpPr>
        <p:spPr>
          <a:xfrm>
            <a:off x="868680" y="4553712"/>
            <a:ext cx="6492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4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Observación = </a:t>
            </a:r>
            <a:r>
              <a:rPr b="0" lang="es-CO" sz="14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hecho sustentado por </a:t>
            </a:r>
            <a:r>
              <a:rPr b="1" lang="es-CO" sz="1400">
                <a:solidFill>
                  <a:srgbClr val="D69E19"/>
                </a:solidFill>
                <a:latin typeface="Arial"/>
                <a:ea typeface="Arial"/>
                <a:cs typeface="Arial"/>
                <a:sym typeface="Arial"/>
              </a:rPr>
              <a:t>evidencia objetiva</a:t>
            </a:r>
            <a:r>
              <a:rPr b="0" lang="es-CO" sz="14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. También se documenta conformidad ejemplar.</a:t>
            </a:r>
            <a:endParaRPr/>
          </a:p>
        </p:txBody>
      </p:sp>
      <p:sp>
        <p:nvSpPr>
          <p:cNvPr id="330" name="Google Shape;330;p19"/>
          <p:cNvSpPr/>
          <p:nvPr/>
        </p:nvSpPr>
        <p:spPr>
          <a:xfrm>
            <a:off x="7571231" y="4526280"/>
            <a:ext cx="1673352" cy="1024128"/>
          </a:xfrm>
          <a:prstGeom prst="roundRect">
            <a:avLst>
              <a:gd fmla="val 16667" name="adj"/>
            </a:avLst>
          </a:prstGeom>
          <a:solidFill>
            <a:srgbClr val="FAEEEB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7571231" y="4526280"/>
            <a:ext cx="73152" cy="1024128"/>
          </a:xfrm>
          <a:prstGeom prst="rect">
            <a:avLst/>
          </a:prstGeom>
          <a:solidFill>
            <a:srgbClr val="A643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9"/>
          <p:cNvSpPr txBox="1"/>
          <p:nvPr/>
        </p:nvSpPr>
        <p:spPr>
          <a:xfrm>
            <a:off x="7754111" y="4617720"/>
            <a:ext cx="13624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1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MAYOR</a:t>
            </a:r>
            <a:endParaRPr/>
          </a:p>
        </p:txBody>
      </p:sp>
      <p:sp>
        <p:nvSpPr>
          <p:cNvPr id="333" name="Google Shape;333;p19"/>
          <p:cNvSpPr txBox="1"/>
          <p:nvPr/>
        </p:nvSpPr>
        <p:spPr>
          <a:xfrm>
            <a:off x="7754111" y="4965192"/>
            <a:ext cx="134416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Impacto significativo en calidad, costo o cronograma. = finding</a:t>
            </a:r>
            <a:endParaRPr/>
          </a:p>
        </p:txBody>
      </p:sp>
      <p:sp>
        <p:nvSpPr>
          <p:cNvPr id="334" name="Google Shape;334;p19"/>
          <p:cNvSpPr/>
          <p:nvPr/>
        </p:nvSpPr>
        <p:spPr>
          <a:xfrm>
            <a:off x="9400032" y="4526280"/>
            <a:ext cx="1664208" cy="1024128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9400032" y="4526280"/>
            <a:ext cx="73152" cy="1024128"/>
          </a:xfrm>
          <a:prstGeom prst="rect">
            <a:avLst/>
          </a:prstGeom>
          <a:solidFill>
            <a:srgbClr val="1253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9"/>
          <p:cNvSpPr txBox="1"/>
          <p:nvPr/>
        </p:nvSpPr>
        <p:spPr>
          <a:xfrm>
            <a:off x="9582911" y="4617720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1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MENOR</a:t>
            </a:r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9582911" y="4965192"/>
            <a:ext cx="1335024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Impacto limitado.</a:t>
            </a:r>
            <a:endParaRPr/>
          </a:p>
        </p:txBody>
      </p:sp>
      <p:sp>
        <p:nvSpPr>
          <p:cNvPr id="338" name="Google Shape;338;p19"/>
          <p:cNvSpPr/>
          <p:nvPr/>
        </p:nvSpPr>
        <p:spPr>
          <a:xfrm>
            <a:off x="868680" y="5641848"/>
            <a:ext cx="10195560" cy="438912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 cap="flat" cmpd="sng" w="10150">
            <a:solidFill>
              <a:srgbClr val="D69E1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Toda observación debe verificarse con la organización auditada antes de la reunión de cierre.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"/>
          <p:cNvSpPr txBox="1"/>
          <p:nvPr/>
        </p:nvSpPr>
        <p:spPr>
          <a:xfrm>
            <a:off x="868680" y="42062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D69E19"/>
                </a:solidFill>
                <a:latin typeface="Arial"/>
                <a:ea typeface="Arial"/>
                <a:cs typeface="Arial"/>
                <a:sym typeface="Arial"/>
              </a:rPr>
              <a:t>8.5.5.2–8.5.6</a:t>
            </a:r>
            <a:endParaRPr/>
          </a:p>
        </p:txBody>
      </p:sp>
      <p:sp>
        <p:nvSpPr>
          <p:cNvPr id="344" name="Google Shape;344;p20"/>
          <p:cNvSpPr txBox="1"/>
          <p:nvPr/>
        </p:nvSpPr>
        <p:spPr>
          <a:xfrm>
            <a:off x="868680" y="640080"/>
            <a:ext cx="8549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Cierre, reporte y seguimiento</a:t>
            </a:r>
            <a:endParaRPr/>
          </a:p>
        </p:txBody>
      </p:sp>
      <p:sp>
        <p:nvSpPr>
          <p:cNvPr id="345" name="Google Shape;345;p20"/>
          <p:cNvSpPr/>
          <p:nvPr/>
        </p:nvSpPr>
        <p:spPr>
          <a:xfrm>
            <a:off x="868680" y="1161288"/>
            <a:ext cx="914400" cy="45720"/>
          </a:xfrm>
          <a:prstGeom prst="rect">
            <a:avLst/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0"/>
          <p:cNvSpPr txBox="1"/>
          <p:nvPr/>
        </p:nvSpPr>
        <p:spPr>
          <a:xfrm>
            <a:off x="868680" y="633679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Fuente: IEEE Std 1028-2008 · §§8.5.5.2–8.5.6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10625328" y="630936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8/10</a:t>
            </a:r>
            <a:endParaRPr/>
          </a:p>
        </p:txBody>
      </p:sp>
      <p:sp>
        <p:nvSpPr>
          <p:cNvPr id="348" name="Google Shape;348;p20"/>
          <p:cNvSpPr/>
          <p:nvPr/>
        </p:nvSpPr>
        <p:spPr>
          <a:xfrm>
            <a:off x="3703320" y="2834640"/>
            <a:ext cx="420624" cy="457200"/>
          </a:xfrm>
          <a:prstGeom prst="chevron">
            <a:avLst>
              <a:gd fmla="val 50000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1947672" y="1426464"/>
            <a:ext cx="512064" cy="420624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50" name="Google Shape;350;p20"/>
          <p:cNvSpPr/>
          <p:nvPr/>
        </p:nvSpPr>
        <p:spPr>
          <a:xfrm>
            <a:off x="868680" y="1901952"/>
            <a:ext cx="2852928" cy="2761488"/>
          </a:xfrm>
          <a:prstGeom prst="roundRect">
            <a:avLst>
              <a:gd fmla="val 16667" name="adj"/>
            </a:avLst>
          </a:prstGeom>
          <a:solidFill>
            <a:srgbClr val="EFF6F1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868680" y="1901952"/>
            <a:ext cx="73152" cy="2761488"/>
          </a:xfrm>
          <a:prstGeom prst="rect">
            <a:avLst/>
          </a:prstGeom>
          <a:solidFill>
            <a:srgbClr val="1B66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0"/>
          <p:cNvSpPr txBox="1"/>
          <p:nvPr/>
        </p:nvSpPr>
        <p:spPr>
          <a:xfrm>
            <a:off x="1051560" y="1993392"/>
            <a:ext cx="2542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REUNIÓN DE CIERRE</a:t>
            </a:r>
            <a:endParaRPr/>
          </a:p>
        </p:txBody>
      </p:sp>
      <p:sp>
        <p:nvSpPr>
          <p:cNvPr id="353" name="Google Shape;353;p20"/>
          <p:cNvSpPr txBox="1"/>
          <p:nvPr/>
        </p:nvSpPr>
        <p:spPr>
          <a:xfrm>
            <a:off x="1051560" y="2340864"/>
            <a:ext cx="2523744" cy="22311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Implementación real del plan · problemas · observaciones · conclusiones/recomendaciones preliminares · evaluación global</a:t>
            </a:r>
            <a:endParaRPr/>
          </a:p>
        </p:txBody>
      </p:sp>
      <p:sp>
        <p:nvSpPr>
          <p:cNvPr id="354" name="Google Shape;354;p20"/>
          <p:cNvSpPr/>
          <p:nvPr/>
        </p:nvSpPr>
        <p:spPr>
          <a:xfrm>
            <a:off x="1033271" y="4187952"/>
            <a:ext cx="2523744" cy="3108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Se resuelven comentarios e inconsistencias.</a:t>
            </a:r>
            <a:endParaRPr/>
          </a:p>
        </p:txBody>
      </p:sp>
      <p:sp>
        <p:nvSpPr>
          <p:cNvPr id="355" name="Google Shape;355;p20"/>
          <p:cNvSpPr/>
          <p:nvPr/>
        </p:nvSpPr>
        <p:spPr>
          <a:xfrm>
            <a:off x="6976872" y="2834640"/>
            <a:ext cx="420624" cy="457200"/>
          </a:xfrm>
          <a:prstGeom prst="chevron">
            <a:avLst>
              <a:gd fmla="val 50000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5221224" y="1426464"/>
            <a:ext cx="512064" cy="420624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4142232" y="1901952"/>
            <a:ext cx="2852928" cy="2761488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4142232" y="1901952"/>
            <a:ext cx="73152" cy="2761488"/>
          </a:xfrm>
          <a:prstGeom prst="rect">
            <a:avLst/>
          </a:prstGeom>
          <a:solidFill>
            <a:srgbClr val="1253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0"/>
          <p:cNvSpPr txBox="1"/>
          <p:nvPr/>
        </p:nvSpPr>
        <p:spPr>
          <a:xfrm>
            <a:off x="4325112" y="1993392"/>
            <a:ext cx="2542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INFORME</a:t>
            </a:r>
            <a:endParaRPr/>
          </a:p>
        </p:txBody>
      </p:sp>
      <p:sp>
        <p:nvSpPr>
          <p:cNvPr id="360" name="Google Shape;360;p20"/>
          <p:cNvSpPr txBox="1"/>
          <p:nvPr/>
        </p:nvSpPr>
        <p:spPr>
          <a:xfrm>
            <a:off x="4325112" y="2340864"/>
            <a:ext cx="2523744" cy="22311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El auditor líder lo prepara pronto y lo envía al iniciador + organización auditada.</a:t>
            </a:r>
            <a:endParaRPr/>
          </a:p>
        </p:txBody>
      </p:sp>
      <p:sp>
        <p:nvSpPr>
          <p:cNvPr id="361" name="Google Shape;361;p20"/>
          <p:cNvSpPr/>
          <p:nvPr/>
        </p:nvSpPr>
        <p:spPr>
          <a:xfrm>
            <a:off x="4306824" y="4187952"/>
            <a:ext cx="2523744" cy="3108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Toda comunicación posterior pasa por el líder.</a:t>
            </a:r>
            <a:endParaRPr/>
          </a:p>
        </p:txBody>
      </p:sp>
      <p:sp>
        <p:nvSpPr>
          <p:cNvPr id="362" name="Google Shape;362;p20"/>
          <p:cNvSpPr/>
          <p:nvPr/>
        </p:nvSpPr>
        <p:spPr>
          <a:xfrm>
            <a:off x="8494776" y="1426464"/>
            <a:ext cx="512064" cy="420624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63" name="Google Shape;363;p20"/>
          <p:cNvSpPr/>
          <p:nvPr/>
        </p:nvSpPr>
        <p:spPr>
          <a:xfrm>
            <a:off x="7415783" y="1901952"/>
            <a:ext cx="2852928" cy="2761488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7415783" y="1901952"/>
            <a:ext cx="73152" cy="2761488"/>
          </a:xfrm>
          <a:prstGeom prst="rect">
            <a:avLst/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7598663" y="1993392"/>
            <a:ext cx="2542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SEGUIMIENTO</a:t>
            </a:r>
            <a:endParaRPr/>
          </a:p>
        </p:txBody>
      </p:sp>
      <p:sp>
        <p:nvSpPr>
          <p:cNvPr id="366" name="Google Shape;366;p20"/>
          <p:cNvSpPr txBox="1"/>
          <p:nvPr/>
        </p:nvSpPr>
        <p:spPr>
          <a:xfrm>
            <a:off x="7598663" y="2340864"/>
            <a:ext cx="2523744" cy="22311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Iniciador y organización auditada definen e inician acciones correctivas.</a:t>
            </a:r>
            <a:endParaRPr/>
          </a:p>
        </p:txBody>
      </p:sp>
      <p:sp>
        <p:nvSpPr>
          <p:cNvPr id="367" name="Google Shape;367;p20"/>
          <p:cNvSpPr/>
          <p:nvPr/>
        </p:nvSpPr>
        <p:spPr>
          <a:xfrm>
            <a:off x="7580375" y="4187952"/>
            <a:ext cx="2523744" cy="3108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Rework = responsabilidad de ellos, no del auditor.</a:t>
            </a:r>
            <a:endParaRPr/>
          </a:p>
        </p:txBody>
      </p:sp>
      <p:sp>
        <p:nvSpPr>
          <p:cNvPr id="368" name="Google Shape;368;p20"/>
          <p:cNvSpPr txBox="1"/>
          <p:nvPr/>
        </p:nvSpPr>
        <p:spPr>
          <a:xfrm>
            <a:off x="868680" y="502920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1B6637"/>
                </a:solidFill>
                <a:latin typeface="Arial"/>
                <a:ea typeface="Arial"/>
                <a:cs typeface="Arial"/>
                <a:sym typeface="Arial"/>
              </a:rPr>
              <a:t>LÓGICA DE CIERRE</a:t>
            </a:r>
            <a:endParaRPr/>
          </a:p>
        </p:txBody>
      </p:sp>
      <p:sp>
        <p:nvSpPr>
          <p:cNvPr id="369" name="Google Shape;369;p20"/>
          <p:cNvSpPr/>
          <p:nvPr/>
        </p:nvSpPr>
        <p:spPr>
          <a:xfrm>
            <a:off x="868680" y="5422392"/>
            <a:ext cx="2468880" cy="438912"/>
          </a:xfrm>
          <a:prstGeom prst="roundRect">
            <a:avLst>
              <a:gd fmla="val 16667" name="adj"/>
            </a:avLst>
          </a:prstGeom>
          <a:solidFill>
            <a:srgbClr val="EFF6F1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Evidencia consolidada</a:t>
            </a:r>
            <a:endParaRPr/>
          </a:p>
        </p:txBody>
      </p:sp>
      <p:sp>
        <p:nvSpPr>
          <p:cNvPr id="370" name="Google Shape;370;p20"/>
          <p:cNvSpPr/>
          <p:nvPr/>
        </p:nvSpPr>
        <p:spPr>
          <a:xfrm>
            <a:off x="3474720" y="5486400"/>
            <a:ext cx="475488" cy="310896"/>
          </a:xfrm>
          <a:prstGeom prst="chevron">
            <a:avLst>
              <a:gd fmla="val 50000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4069080" y="5422392"/>
            <a:ext cx="2468880" cy="438912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Hallazgos acordados</a:t>
            </a:r>
            <a:endParaRPr/>
          </a:p>
        </p:txBody>
      </p:sp>
      <p:sp>
        <p:nvSpPr>
          <p:cNvPr id="372" name="Google Shape;372;p20"/>
          <p:cNvSpPr/>
          <p:nvPr/>
        </p:nvSpPr>
        <p:spPr>
          <a:xfrm>
            <a:off x="6675120" y="5486400"/>
            <a:ext cx="475488" cy="310896"/>
          </a:xfrm>
          <a:prstGeom prst="chevron">
            <a:avLst>
              <a:gd fmla="val 50000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7269480" y="5422392"/>
            <a:ext cx="3794760" cy="438912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Acción correctiva + seguimiento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1"/>
          <p:cNvSpPr txBox="1"/>
          <p:nvPr/>
        </p:nvSpPr>
        <p:spPr>
          <a:xfrm>
            <a:off x="868680" y="42062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D69E19"/>
                </a:solidFill>
                <a:latin typeface="Arial"/>
                <a:ea typeface="Arial"/>
                <a:cs typeface="Arial"/>
                <a:sym typeface="Arial"/>
              </a:rPr>
              <a:t>8.6–8.7</a:t>
            </a:r>
            <a:endParaRPr/>
          </a:p>
        </p:txBody>
      </p:sp>
      <p:sp>
        <p:nvSpPr>
          <p:cNvPr id="379" name="Google Shape;379;p21"/>
          <p:cNvSpPr txBox="1"/>
          <p:nvPr/>
        </p:nvSpPr>
        <p:spPr>
          <a:xfrm>
            <a:off x="868680" y="640080"/>
            <a:ext cx="8549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Criterio de salida e informe de auditoría</a:t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868680" y="1161288"/>
            <a:ext cx="914400" cy="45720"/>
          </a:xfrm>
          <a:prstGeom prst="rect">
            <a:avLst/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868680" y="633679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Fuente: IEEE Std 1028-2008 · §§8.6–8.7</a:t>
            </a:r>
            <a:endParaRPr/>
          </a:p>
        </p:txBody>
      </p:sp>
      <p:sp>
        <p:nvSpPr>
          <p:cNvPr id="382" name="Google Shape;382;p21"/>
          <p:cNvSpPr txBox="1"/>
          <p:nvPr/>
        </p:nvSpPr>
        <p:spPr>
          <a:xfrm>
            <a:off x="10625328" y="630936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9/10</a:t>
            </a:r>
            <a:endParaRPr/>
          </a:p>
        </p:txBody>
      </p:sp>
      <p:sp>
        <p:nvSpPr>
          <p:cNvPr id="383" name="Google Shape;383;p21"/>
          <p:cNvSpPr txBox="1"/>
          <p:nvPr/>
        </p:nvSpPr>
        <p:spPr>
          <a:xfrm>
            <a:off x="868680" y="13533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1B6637"/>
                </a:solidFill>
                <a:latin typeface="Arial"/>
                <a:ea typeface="Arial"/>
                <a:cs typeface="Arial"/>
                <a:sym typeface="Arial"/>
              </a:rPr>
              <a:t>¿CUÁNDO SE CONSIDERA COMPLETA?</a:t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868680" y="1773936"/>
            <a:ext cx="3794760" cy="1152144"/>
          </a:xfrm>
          <a:prstGeom prst="roundRect">
            <a:avLst>
              <a:gd fmla="val 16667" name="adj"/>
            </a:avLst>
          </a:prstGeom>
          <a:solidFill>
            <a:srgbClr val="EFF6F1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868680" y="1773936"/>
            <a:ext cx="73152" cy="1152144"/>
          </a:xfrm>
          <a:prstGeom prst="rect">
            <a:avLst/>
          </a:prstGeom>
          <a:solidFill>
            <a:srgbClr val="1B66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1051560" y="1865376"/>
            <a:ext cx="3483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3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✓ Informe entregado</a:t>
            </a:r>
            <a:endParaRPr/>
          </a:p>
        </p:txBody>
      </p:sp>
      <p:sp>
        <p:nvSpPr>
          <p:cNvPr id="387" name="Google Shape;387;p21"/>
          <p:cNvSpPr txBox="1"/>
          <p:nvPr/>
        </p:nvSpPr>
        <p:spPr>
          <a:xfrm>
            <a:off x="1051560" y="2212848"/>
            <a:ext cx="34655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1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El reporte fue sometido al iniciador.</a:t>
            </a:r>
            <a:endParaRPr/>
          </a:p>
        </p:txBody>
      </p:sp>
      <p:sp>
        <p:nvSpPr>
          <p:cNvPr id="388" name="Google Shape;388;p21"/>
          <p:cNvSpPr/>
          <p:nvPr/>
        </p:nvSpPr>
        <p:spPr>
          <a:xfrm>
            <a:off x="868680" y="3072384"/>
            <a:ext cx="3794760" cy="1298448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868680" y="3072384"/>
            <a:ext cx="73152" cy="1298448"/>
          </a:xfrm>
          <a:prstGeom prst="rect">
            <a:avLst/>
          </a:prstGeom>
          <a:solidFill>
            <a:srgbClr val="1253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1051560" y="3163824"/>
            <a:ext cx="3483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3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✓ Hallazgos controlados</a:t>
            </a:r>
            <a:endParaRPr/>
          </a:p>
        </p:txBody>
      </p:sp>
      <p:sp>
        <p:nvSpPr>
          <p:cNvPr id="391" name="Google Shape;391;p21"/>
          <p:cNvSpPr txBox="1"/>
          <p:nvPr/>
        </p:nvSpPr>
        <p:spPr>
          <a:xfrm>
            <a:off x="1051560" y="3511296"/>
            <a:ext cx="3465576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Todos los hallazgos dentro del alcance están abiertos formalmente o resueltos y aprobados como cerrados.</a:t>
            </a:r>
            <a:endParaRPr/>
          </a:p>
        </p:txBody>
      </p:sp>
      <p:sp>
        <p:nvSpPr>
          <p:cNvPr id="392" name="Google Shape;392;p21"/>
          <p:cNvSpPr/>
          <p:nvPr/>
        </p:nvSpPr>
        <p:spPr>
          <a:xfrm>
            <a:off x="868680" y="4553712"/>
            <a:ext cx="3794760" cy="475488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 cap="flat" cmpd="sng" w="10150">
            <a:solidFill>
              <a:srgbClr val="D69E1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OUTPUT = INFORME FORMAL DE AUDITORÍA</a:t>
            </a:r>
            <a:endParaRPr/>
          </a:p>
        </p:txBody>
      </p:sp>
      <p:sp>
        <p:nvSpPr>
          <p:cNvPr id="393" name="Google Shape;393;p21"/>
          <p:cNvSpPr txBox="1"/>
          <p:nvPr/>
        </p:nvSpPr>
        <p:spPr>
          <a:xfrm>
            <a:off x="4965192" y="1353312"/>
            <a:ext cx="6144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1B6637"/>
                </a:solidFill>
                <a:latin typeface="Arial"/>
                <a:ea typeface="Arial"/>
                <a:cs typeface="Arial"/>
                <a:sym typeface="Arial"/>
              </a:rPr>
              <a:t>CONTENIDO MÍNIMO DEL INFORME</a:t>
            </a:r>
            <a:endParaRPr/>
          </a:p>
        </p:txBody>
      </p:sp>
      <p:sp>
        <p:nvSpPr>
          <p:cNvPr id="394" name="Google Shape;394;p21"/>
          <p:cNvSpPr/>
          <p:nvPr/>
        </p:nvSpPr>
        <p:spPr>
          <a:xfrm>
            <a:off x="4965192" y="1773936"/>
            <a:ext cx="384048" cy="347472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95" name="Google Shape;395;p21"/>
          <p:cNvSpPr txBox="1"/>
          <p:nvPr/>
        </p:nvSpPr>
        <p:spPr>
          <a:xfrm>
            <a:off x="5440679" y="1764792"/>
            <a:ext cx="25054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3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Propósito + alcance</a:t>
            </a:r>
            <a:endParaRPr/>
          </a:p>
        </p:txBody>
      </p:sp>
      <p:sp>
        <p:nvSpPr>
          <p:cNvPr id="396" name="Google Shape;396;p21"/>
          <p:cNvSpPr/>
          <p:nvPr/>
        </p:nvSpPr>
        <p:spPr>
          <a:xfrm>
            <a:off x="4965192" y="2404872"/>
            <a:ext cx="384048" cy="347472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97" name="Google Shape;397;p21"/>
          <p:cNvSpPr txBox="1"/>
          <p:nvPr/>
        </p:nvSpPr>
        <p:spPr>
          <a:xfrm>
            <a:off x="5440679" y="2395728"/>
            <a:ext cx="25054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3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Organización auditada</a:t>
            </a:r>
            <a:endParaRPr/>
          </a:p>
        </p:txBody>
      </p:sp>
      <p:sp>
        <p:nvSpPr>
          <p:cNvPr id="398" name="Google Shape;398;p21"/>
          <p:cNvSpPr/>
          <p:nvPr/>
        </p:nvSpPr>
        <p:spPr>
          <a:xfrm>
            <a:off x="4965192" y="3035808"/>
            <a:ext cx="384048" cy="347472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99" name="Google Shape;399;p21"/>
          <p:cNvSpPr txBox="1"/>
          <p:nvPr/>
        </p:nvSpPr>
        <p:spPr>
          <a:xfrm>
            <a:off x="5440679" y="3026664"/>
            <a:ext cx="25054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3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Producto/proceso auditado</a:t>
            </a:r>
            <a:endParaRPr/>
          </a:p>
        </p:txBody>
      </p:sp>
      <p:sp>
        <p:nvSpPr>
          <p:cNvPr id="400" name="Google Shape;400;p21"/>
          <p:cNvSpPr/>
          <p:nvPr/>
        </p:nvSpPr>
        <p:spPr>
          <a:xfrm>
            <a:off x="4965192" y="3666744"/>
            <a:ext cx="384048" cy="347472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401" name="Google Shape;401;p21"/>
          <p:cNvSpPr txBox="1"/>
          <p:nvPr/>
        </p:nvSpPr>
        <p:spPr>
          <a:xfrm>
            <a:off x="5440679" y="3657600"/>
            <a:ext cx="25054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3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Normas / criterios aplicados</a:t>
            </a:r>
            <a:endParaRPr/>
          </a:p>
        </p:txBody>
      </p:sp>
      <p:sp>
        <p:nvSpPr>
          <p:cNvPr id="402" name="Google Shape;402;p21"/>
          <p:cNvSpPr/>
          <p:nvPr/>
        </p:nvSpPr>
        <p:spPr>
          <a:xfrm>
            <a:off x="4965192" y="4297679"/>
            <a:ext cx="384048" cy="347472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403" name="Google Shape;403;p21"/>
          <p:cNvSpPr txBox="1"/>
          <p:nvPr/>
        </p:nvSpPr>
        <p:spPr>
          <a:xfrm>
            <a:off x="5440679" y="4288536"/>
            <a:ext cx="25054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3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Criterios de evaluación</a:t>
            </a:r>
            <a:endParaRPr/>
          </a:p>
        </p:txBody>
      </p:sp>
      <p:sp>
        <p:nvSpPr>
          <p:cNvPr id="404" name="Google Shape;404;p21"/>
          <p:cNvSpPr/>
          <p:nvPr/>
        </p:nvSpPr>
        <p:spPr>
          <a:xfrm>
            <a:off x="4965192" y="4928616"/>
            <a:ext cx="384048" cy="347472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405" name="Google Shape;405;p21"/>
          <p:cNvSpPr txBox="1"/>
          <p:nvPr/>
        </p:nvSpPr>
        <p:spPr>
          <a:xfrm>
            <a:off x="5440679" y="4919472"/>
            <a:ext cx="25054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3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Resumen del equipo auditor</a:t>
            </a:r>
            <a:endParaRPr/>
          </a:p>
        </p:txBody>
      </p:sp>
      <p:sp>
        <p:nvSpPr>
          <p:cNvPr id="406" name="Google Shape;406;p21"/>
          <p:cNvSpPr/>
          <p:nvPr/>
        </p:nvSpPr>
        <p:spPr>
          <a:xfrm>
            <a:off x="8074152" y="1773936"/>
            <a:ext cx="384048" cy="347472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407" name="Google Shape;407;p21"/>
          <p:cNvSpPr txBox="1"/>
          <p:nvPr/>
        </p:nvSpPr>
        <p:spPr>
          <a:xfrm>
            <a:off x="8549640" y="1764792"/>
            <a:ext cx="25054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3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Actividades realizadas</a:t>
            </a:r>
            <a:endParaRPr/>
          </a:p>
        </p:txBody>
      </p:sp>
      <p:sp>
        <p:nvSpPr>
          <p:cNvPr id="408" name="Google Shape;408;p21"/>
          <p:cNvSpPr/>
          <p:nvPr/>
        </p:nvSpPr>
        <p:spPr>
          <a:xfrm>
            <a:off x="8074152" y="2404872"/>
            <a:ext cx="384048" cy="347472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409" name="Google Shape;409;p21"/>
          <p:cNvSpPr txBox="1"/>
          <p:nvPr/>
        </p:nvSpPr>
        <p:spPr>
          <a:xfrm>
            <a:off x="8549640" y="2395728"/>
            <a:ext cx="25054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3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Actividades previstas no realizadas</a:t>
            </a:r>
            <a:endParaRPr/>
          </a:p>
        </p:txBody>
      </p:sp>
      <p:sp>
        <p:nvSpPr>
          <p:cNvPr id="410" name="Google Shape;410;p21"/>
          <p:cNvSpPr/>
          <p:nvPr/>
        </p:nvSpPr>
        <p:spPr>
          <a:xfrm>
            <a:off x="8074152" y="3035808"/>
            <a:ext cx="384048" cy="347472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411" name="Google Shape;411;p21"/>
          <p:cNvSpPr txBox="1"/>
          <p:nvPr/>
        </p:nvSpPr>
        <p:spPr>
          <a:xfrm>
            <a:off x="8549640" y="3026664"/>
            <a:ext cx="25054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3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Observaciones mayor/menor</a:t>
            </a:r>
            <a:endParaRPr/>
          </a:p>
        </p:txBody>
      </p:sp>
      <p:sp>
        <p:nvSpPr>
          <p:cNvPr id="412" name="Google Shape;412;p21"/>
          <p:cNvSpPr/>
          <p:nvPr/>
        </p:nvSpPr>
        <p:spPr>
          <a:xfrm>
            <a:off x="8074152" y="3666744"/>
            <a:ext cx="384048" cy="347472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413" name="Google Shape;413;p21"/>
          <p:cNvSpPr txBox="1"/>
          <p:nvPr/>
        </p:nvSpPr>
        <p:spPr>
          <a:xfrm>
            <a:off x="8549640" y="3657600"/>
            <a:ext cx="25054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3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Interpretación de hallazgos</a:t>
            </a:r>
            <a:endParaRPr/>
          </a:p>
        </p:txBody>
      </p:sp>
      <p:sp>
        <p:nvSpPr>
          <p:cNvPr id="414" name="Google Shape;414;p21"/>
          <p:cNvSpPr/>
          <p:nvPr/>
        </p:nvSpPr>
        <p:spPr>
          <a:xfrm>
            <a:off x="8074152" y="4297679"/>
            <a:ext cx="384048" cy="347472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415" name="Google Shape;415;p21"/>
          <p:cNvSpPr txBox="1"/>
          <p:nvPr/>
        </p:nvSpPr>
        <p:spPr>
          <a:xfrm>
            <a:off x="8549640" y="4288536"/>
            <a:ext cx="25054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93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Seguimiento: tipo + tiempo</a:t>
            </a:r>
            <a:endParaRPr/>
          </a:p>
        </p:txBody>
      </p:sp>
      <p:sp>
        <p:nvSpPr>
          <p:cNvPr id="416" name="Google Shape;416;p21"/>
          <p:cNvSpPr/>
          <p:nvPr/>
        </p:nvSpPr>
        <p:spPr>
          <a:xfrm>
            <a:off x="4965192" y="5641848"/>
            <a:ext cx="6144768" cy="438912"/>
          </a:xfrm>
          <a:prstGeom prst="roundRect">
            <a:avLst>
              <a:gd fmla="val 16667" name="adj"/>
            </a:avLst>
          </a:prstGeom>
          <a:solidFill>
            <a:srgbClr val="FAF4E2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Recomendaciones: solo si el plan las exige; pueden reportarse por separado.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2"/>
          <p:cNvSpPr txBox="1"/>
          <p:nvPr/>
        </p:nvSpPr>
        <p:spPr>
          <a:xfrm>
            <a:off x="868680" y="42062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000">
                <a:solidFill>
                  <a:srgbClr val="D69E19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/>
          </a:p>
        </p:txBody>
      </p:sp>
      <p:sp>
        <p:nvSpPr>
          <p:cNvPr id="422" name="Google Shape;422;p22"/>
          <p:cNvSpPr txBox="1"/>
          <p:nvPr/>
        </p:nvSpPr>
        <p:spPr>
          <a:xfrm>
            <a:off x="868680" y="640080"/>
            <a:ext cx="8549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Idea clave y referencias</a:t>
            </a:r>
            <a:endParaRPr/>
          </a:p>
        </p:txBody>
      </p:sp>
      <p:sp>
        <p:nvSpPr>
          <p:cNvPr id="423" name="Google Shape;423;p22"/>
          <p:cNvSpPr/>
          <p:nvPr/>
        </p:nvSpPr>
        <p:spPr>
          <a:xfrm>
            <a:off x="868680" y="1161288"/>
            <a:ext cx="914400" cy="45720"/>
          </a:xfrm>
          <a:prstGeom prst="rect">
            <a:avLst/>
          </a:prstGeom>
          <a:solidFill>
            <a:srgbClr val="D69E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2"/>
          <p:cNvSpPr txBox="1"/>
          <p:nvPr/>
        </p:nvSpPr>
        <p:spPr>
          <a:xfrm>
            <a:off x="868680" y="6336792"/>
            <a:ext cx="5669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Fuentes principales: IEEE Std 1028-2008 · Cláusula 8 y Anexos A–B</a:t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10625328" y="630936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10/10</a:t>
            </a:r>
            <a:endParaRPr/>
          </a:p>
        </p:txBody>
      </p:sp>
      <p:sp>
        <p:nvSpPr>
          <p:cNvPr id="426" name="Google Shape;426;p22"/>
          <p:cNvSpPr txBox="1"/>
          <p:nvPr/>
        </p:nvSpPr>
        <p:spPr>
          <a:xfrm>
            <a:off x="868680" y="1353312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100">
                <a:solidFill>
                  <a:srgbClr val="0F4C2F"/>
                </a:solidFill>
                <a:latin typeface="Arial"/>
                <a:ea typeface="Arial"/>
                <a:cs typeface="Arial"/>
                <a:sym typeface="Arial"/>
              </a:rPr>
              <a:t>Una auditoría confiable combina cuatro pilares</a:t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>
            <a:off x="868680" y="2029968"/>
            <a:ext cx="2331720" cy="475488"/>
          </a:xfrm>
          <a:prstGeom prst="roundRect">
            <a:avLst>
              <a:gd fmla="val 16667" name="adj"/>
            </a:avLst>
          </a:prstGeom>
          <a:solidFill>
            <a:srgbClr val="EFF6F1"/>
          </a:solidFill>
          <a:ln cap="flat" cmpd="sng" w="10150">
            <a:solidFill>
              <a:srgbClr val="1B66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100">
                <a:solidFill>
                  <a:srgbClr val="1B6637"/>
                </a:solidFill>
                <a:latin typeface="Arial"/>
                <a:ea typeface="Arial"/>
                <a:cs typeface="Arial"/>
                <a:sym typeface="Arial"/>
              </a:rPr>
              <a:t>INDEPENDENCIA</a:t>
            </a:r>
            <a:endParaRPr/>
          </a:p>
        </p:txBody>
      </p:sp>
      <p:sp>
        <p:nvSpPr>
          <p:cNvPr id="428" name="Google Shape;428;p22"/>
          <p:cNvSpPr txBox="1"/>
          <p:nvPr/>
        </p:nvSpPr>
        <p:spPr>
          <a:xfrm>
            <a:off x="868680" y="2578608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sin sesgo ni influencia</a:t>
            </a:r>
            <a:endParaRPr/>
          </a:p>
        </p:txBody>
      </p:sp>
      <p:sp>
        <p:nvSpPr>
          <p:cNvPr id="429" name="Google Shape;429;p22"/>
          <p:cNvSpPr/>
          <p:nvPr/>
        </p:nvSpPr>
        <p:spPr>
          <a:xfrm>
            <a:off x="3502152" y="2029968"/>
            <a:ext cx="2331720" cy="475488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12534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100">
                <a:solidFill>
                  <a:srgbClr val="12534E"/>
                </a:solidFill>
                <a:latin typeface="Arial"/>
                <a:ea typeface="Arial"/>
                <a:cs typeface="Arial"/>
                <a:sym typeface="Arial"/>
              </a:rPr>
              <a:t>EVIDENCIA</a:t>
            </a:r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3502152" y="2578608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hechos verificables</a:t>
            </a:r>
            <a:endParaRPr/>
          </a:p>
        </p:txBody>
      </p:sp>
      <p:sp>
        <p:nvSpPr>
          <p:cNvPr id="431" name="Google Shape;431;p22"/>
          <p:cNvSpPr/>
          <p:nvPr/>
        </p:nvSpPr>
        <p:spPr>
          <a:xfrm>
            <a:off x="6135624" y="2029968"/>
            <a:ext cx="2331720" cy="475488"/>
          </a:xfrm>
          <a:prstGeom prst="roundRect">
            <a:avLst>
              <a:gd fmla="val 16667" name="adj"/>
            </a:avLst>
          </a:prstGeom>
          <a:solidFill>
            <a:srgbClr val="EFF6F1"/>
          </a:solidFill>
          <a:ln cap="flat" cmpd="sng" w="10150">
            <a:solidFill>
              <a:srgbClr val="D69E1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100">
                <a:solidFill>
                  <a:srgbClr val="D69E19"/>
                </a:solidFill>
                <a:latin typeface="Arial"/>
                <a:ea typeface="Arial"/>
                <a:cs typeface="Arial"/>
                <a:sym typeface="Arial"/>
              </a:rPr>
              <a:t>TRAZABILIDAD</a:t>
            </a:r>
            <a:endParaRPr/>
          </a:p>
        </p:txBody>
      </p:sp>
      <p:sp>
        <p:nvSpPr>
          <p:cNvPr id="432" name="Google Shape;432;p22"/>
          <p:cNvSpPr txBox="1"/>
          <p:nvPr/>
        </p:nvSpPr>
        <p:spPr>
          <a:xfrm>
            <a:off x="6135624" y="2578608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plan → observación → informe</a:t>
            </a:r>
            <a:endParaRPr/>
          </a:p>
        </p:txBody>
      </p:sp>
      <p:sp>
        <p:nvSpPr>
          <p:cNvPr id="433" name="Google Shape;433;p22"/>
          <p:cNvSpPr/>
          <p:nvPr/>
        </p:nvSpPr>
        <p:spPr>
          <a:xfrm>
            <a:off x="8769096" y="2029968"/>
            <a:ext cx="2331720" cy="475488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1B66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100">
                <a:solidFill>
                  <a:srgbClr val="1B6637"/>
                </a:solidFill>
                <a:latin typeface="Arial"/>
                <a:ea typeface="Arial"/>
                <a:cs typeface="Arial"/>
                <a:sym typeface="Arial"/>
              </a:rPr>
              <a:t>SEGUIMIENTO</a:t>
            </a:r>
            <a:endParaRPr/>
          </a:p>
        </p:txBody>
      </p:sp>
      <p:sp>
        <p:nvSpPr>
          <p:cNvPr id="434" name="Google Shape;434;p22"/>
          <p:cNvSpPr txBox="1"/>
          <p:nvPr/>
        </p:nvSpPr>
        <p:spPr>
          <a:xfrm>
            <a:off x="8769096" y="2578608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acciones correctivas</a:t>
            </a:r>
            <a:endParaRPr/>
          </a:p>
        </p:txBody>
      </p:sp>
      <p:sp>
        <p:nvSpPr>
          <p:cNvPr id="435" name="Google Shape;435;p22"/>
          <p:cNvSpPr txBox="1"/>
          <p:nvPr/>
        </p:nvSpPr>
        <p:spPr>
          <a:xfrm>
            <a:off x="868680" y="3383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200">
                <a:solidFill>
                  <a:srgbClr val="1B6637"/>
                </a:solidFill>
                <a:latin typeface="Arial"/>
                <a:ea typeface="Arial"/>
                <a:cs typeface="Arial"/>
                <a:sym typeface="Arial"/>
              </a:rPr>
              <a:t>REFERENCIAS</a:t>
            </a:r>
            <a:endParaRPr/>
          </a:p>
        </p:txBody>
      </p:sp>
      <p:sp>
        <p:nvSpPr>
          <p:cNvPr id="436" name="Google Shape;436;p22"/>
          <p:cNvSpPr/>
          <p:nvPr/>
        </p:nvSpPr>
        <p:spPr>
          <a:xfrm>
            <a:off x="868680" y="3767328"/>
            <a:ext cx="384048" cy="347472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37" name="Google Shape;437;p22"/>
          <p:cNvSpPr txBox="1"/>
          <p:nvPr/>
        </p:nvSpPr>
        <p:spPr>
          <a:xfrm>
            <a:off x="1371600" y="3749040"/>
            <a:ext cx="9692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IEEE Std 1028-2008. IEEE Standard for Software Reviews and Audits. Cláusula 8: Audits.</a:t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868680" y="4297680"/>
            <a:ext cx="384048" cy="347472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39" name="Google Shape;439;p22"/>
          <p:cNvSpPr txBox="1"/>
          <p:nvPr/>
        </p:nvSpPr>
        <p:spPr>
          <a:xfrm>
            <a:off x="1371600" y="4279392"/>
            <a:ext cx="9692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IEEE Std 12207-2008. Systems and software engineering — Software life cycle processes.</a:t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868680" y="4828032"/>
            <a:ext cx="384048" cy="347472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41" name="Google Shape;441;p22"/>
          <p:cNvSpPr txBox="1"/>
          <p:nvPr/>
        </p:nvSpPr>
        <p:spPr>
          <a:xfrm>
            <a:off x="1371600" y="4809744"/>
            <a:ext cx="9692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IEEE Std 1044-1993. IEEE Standard Classification for Software Anomalies.</a:t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868680" y="5358384"/>
            <a:ext cx="384048" cy="347472"/>
          </a:xfrm>
          <a:prstGeom prst="roundRect">
            <a:avLst>
              <a:gd fmla="val 16667" name="adj"/>
            </a:avLst>
          </a:prstGeom>
          <a:solidFill>
            <a:srgbClr val="D69E1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443" name="Google Shape;443;p22"/>
          <p:cNvSpPr txBox="1"/>
          <p:nvPr/>
        </p:nvSpPr>
        <p:spPr>
          <a:xfrm>
            <a:off x="1371600" y="5340096"/>
            <a:ext cx="9692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1000">
                <a:solidFill>
                  <a:srgbClr val="27312D"/>
                </a:solidFill>
                <a:latin typeface="Arial"/>
                <a:ea typeface="Arial"/>
                <a:cs typeface="Arial"/>
                <a:sym typeface="Arial"/>
              </a:rPr>
              <a:t>ISO 19011:2002. Guidelines for quality and/or environmental management systems auditing.</a:t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868680" y="5907024"/>
            <a:ext cx="10195560" cy="320040"/>
          </a:xfrm>
          <a:prstGeom prst="roundRect">
            <a:avLst>
              <a:gd fmla="val 16667" name="adj"/>
            </a:avLst>
          </a:prstGeom>
          <a:solidFill>
            <a:srgbClr val="F7F9F7"/>
          </a:solidFill>
          <a:ln cap="flat" cmpd="sng" w="10150">
            <a:solidFill>
              <a:srgbClr val="D0DAD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CO" sz="800">
                <a:solidFill>
                  <a:srgbClr val="5D6B63"/>
                </a:solidFill>
                <a:latin typeface="Arial"/>
                <a:ea typeface="Arial"/>
                <a:cs typeface="Arial"/>
                <a:sym typeface="Arial"/>
              </a:rPr>
              <a:t>Visuales de apoyo generados para esta presentación · Diseño basado en la plantilla UCO suministrada.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